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6" r:id="rId29"/>
    <p:sldId id="283" r:id="rId30"/>
    <p:sldId id="284" r:id="rId31"/>
    <p:sldId id="285" r:id="rId32"/>
  </p:sldIdLst>
  <p:sldSz cx="9144000" cy="5143500" type="screen16x9"/>
  <p:notesSz cx="6858000" cy="9144000"/>
  <p:embeddedFontLst>
    <p:embeddedFont>
      <p:font typeface="Roboto" panose="02000000000000000000"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82"/>
    <p:restoredTop sz="94694"/>
  </p:normalViewPr>
  <p:slideViewPr>
    <p:cSldViewPr snapToGrid="0">
      <p:cViewPr varScale="1">
        <p:scale>
          <a:sx n="136" d="100"/>
          <a:sy n="136" d="100"/>
        </p:scale>
        <p:origin x="192" y="60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As part of OSmosis, we worked on the CellulOS implementation on top of seL4. As a microkernel, seL4 provides very little, so we had the fun job of implementing a lot of core OS functionality.</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2f684ad75f6_0_2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2f684ad75f6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won’t go into much detail on the greater OSmosis project, as you are likely familiar with it from Sid’s previous presentations.</a:t>
            </a:r>
            <a:endParaRPr/>
          </a:p>
          <a:p>
            <a:pPr marL="0" lvl="0" indent="0" algn="l" rtl="0">
              <a:spcBef>
                <a:spcPts val="0"/>
              </a:spcBef>
              <a:spcAft>
                <a:spcPts val="0"/>
              </a:spcAft>
              <a:buNone/>
            </a:pPr>
            <a:r>
              <a:rPr lang="en"/>
              <a:t>Here we have some of the main goals of OSmosis. </a:t>
            </a:r>
            <a:endParaRPr/>
          </a:p>
          <a:p>
            <a:pPr marL="0" lvl="0" indent="0" algn="l" rtl="0">
              <a:spcBef>
                <a:spcPts val="0"/>
              </a:spcBef>
              <a:spcAft>
                <a:spcPts val="0"/>
              </a:spcAft>
              <a:buNone/>
            </a:pPr>
            <a:endParaRPr/>
          </a:p>
          <a:p>
            <a:pPr marL="0" lvl="0" indent="0" algn="l" rtl="0">
              <a:spcBef>
                <a:spcPts val="0"/>
              </a:spcBef>
              <a:spcAft>
                <a:spcPts val="0"/>
              </a:spcAft>
              <a:buNone/>
            </a:pPr>
            <a:r>
              <a:rPr lang="en"/>
              <a:t>The first two go hand in hand: we want to generate a model state from an isolation mechanism, and then compare mechanisms. You might say, this could be done by hand. But in practice we want to be able to evaluate real programs, on a real operating system, in different configurations. That’s going to require an implementation.</a:t>
            </a:r>
            <a:endParaRPr/>
          </a:p>
          <a:p>
            <a:pPr marL="0" lvl="0" indent="0" algn="l" rtl="0">
              <a:spcBef>
                <a:spcPts val="0"/>
              </a:spcBef>
              <a:spcAft>
                <a:spcPts val="0"/>
              </a:spcAft>
              <a:buNone/>
            </a:pPr>
            <a:endParaRPr/>
          </a:p>
          <a:p>
            <a:pPr marL="0" lvl="0" indent="0" algn="l" rtl="0">
              <a:spcBef>
                <a:spcPts val="0"/>
              </a:spcBef>
              <a:spcAft>
                <a:spcPts val="0"/>
              </a:spcAft>
              <a:buNone/>
            </a:pPr>
            <a:r>
              <a:rPr lang="en"/>
              <a:t>The third step pushes it even further: we want to enumerate the design space of isolation mechanisms. At this point, we definitely need an implementation.</a:t>
            </a:r>
            <a:endParaRPr/>
          </a:p>
          <a:p>
            <a:pPr marL="0" lvl="0" indent="0" algn="l" rtl="0">
              <a:spcBef>
                <a:spcPts val="0"/>
              </a:spcBef>
              <a:spcAft>
                <a:spcPts val="0"/>
              </a:spcAft>
              <a:buNone/>
            </a:pPr>
            <a:endParaRPr/>
          </a:p>
          <a:p>
            <a:pPr marL="0" lvl="0" indent="0" algn="l" rtl="0">
              <a:spcBef>
                <a:spcPts val="0"/>
              </a:spcBef>
              <a:spcAft>
                <a:spcPts val="0"/>
              </a:spcAft>
              <a:buNone/>
            </a:pPr>
            <a:r>
              <a:rPr lang="en"/>
              <a:t>So, what does an implementation mean for us?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f5b1fb32da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2f5b1fb32da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Quantify isolation:</a:t>
            </a:r>
            <a:endParaRPr/>
          </a:p>
          <a:p>
            <a:pPr marL="457200" lvl="0" indent="-285750" algn="l" rtl="0">
              <a:lnSpc>
                <a:spcPct val="115000"/>
              </a:lnSpc>
              <a:spcBef>
                <a:spcPts val="0"/>
              </a:spcBef>
              <a:spcAft>
                <a:spcPts val="0"/>
              </a:spcAft>
              <a:buSzPts val="900"/>
              <a:buChar char="-"/>
            </a:pPr>
            <a:r>
              <a:rPr lang="en" sz="1200">
                <a:solidFill>
                  <a:srgbClr val="595959"/>
                </a:solidFill>
              </a:rPr>
              <a:t>No more “I think these two processes won’t interfere with one another, but I don’t have any concrete proof”. We want to say with certainty that two processes may never share a type of resource or never request resources from the same resource server.</a:t>
            </a:r>
            <a:endParaRPr sz="9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2f684ad75f6_0_2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2f684ad75f6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f5b1fb32da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f5b1fb32d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f5b1fb32da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2f5b1fb32da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lnSpc>
                <a:spcPct val="115000"/>
              </a:lnSpc>
              <a:spcBef>
                <a:spcPts val="0"/>
              </a:spcBef>
              <a:spcAft>
                <a:spcPts val="120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f5b1fb32da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f5b1fb32da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(2) Linux already has pre-defined and pre-implemented abstractions for processes and threads. What if we wanted a slightly modified process that’s not exactly the one which you can create in Linux? E.g. one that shares the heap</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2f6e818563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2f6e818563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order to do anything useful, our OS needs the ability to spawn programs - most commonly done by creating processes and threads. </a:t>
            </a:r>
            <a:endParaRPr/>
          </a:p>
          <a:p>
            <a:pPr marL="0" lvl="0" indent="0" algn="l" rtl="0">
              <a:spcBef>
                <a:spcPts val="0"/>
              </a:spcBef>
              <a:spcAft>
                <a:spcPts val="0"/>
              </a:spcAft>
              <a:buNone/>
            </a:pPr>
            <a:r>
              <a:rPr lang="en"/>
              <a:t>However, CellulOS is special in that a user can create any type of entity (not necessarily just processes and threads) that runs some task, with a set of resources and connections to other entities, without needing to do much additional workarounds for any special configurations.</a:t>
            </a:r>
            <a:endParaRPr/>
          </a:p>
          <a:p>
            <a:pPr marL="0" lvl="0" indent="0" algn="l" rtl="0">
              <a:spcBef>
                <a:spcPts val="0"/>
              </a:spcBef>
              <a:spcAft>
                <a:spcPts val="0"/>
              </a:spcAft>
              <a:buNone/>
            </a:pPr>
            <a:endParaRPr/>
          </a:p>
          <a:p>
            <a:pPr marL="0" lvl="0" indent="0" algn="l" rtl="0">
              <a:spcBef>
                <a:spcPts val="0"/>
              </a:spcBef>
              <a:spcAft>
                <a:spcPts val="0"/>
              </a:spcAft>
              <a:buNone/>
            </a:pPr>
            <a:r>
              <a:rPr lang="en"/>
              <a:t>We use the terms thread, processes, PDs interchangeably, but these are all just PDs in our system</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f6e8185638_2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2f6e8185638_2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seL4 luckily provides us with these “primitive” components, so that we may use them however we like. E.g. A PD can have multiple address spaces, and the execution context simply needs to be changed to point to the one that the PD wants to use at a certain time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28383613a12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28383613a12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Processes and threads are common enough abstractions, so I won’t really go over how CellulOS creates them.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Suppose we’re running an app, and we’re using some Key-Value store library. The key-value store heavily uses the heap for various metadata, and we don’t want it to be able to access any of our app’s data that may be on the heap. However, we’re ok with all other memory in our address space to be shared.</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To do this on Linux, we would need to allocate some virtual memory region for the library’s separate heap, then configure whatever malloc implementation we’re using to swap between the two heaps when the library’s code is invoked. Even then, the library code will still be able to access the app’s heap, since we’re still sharing the same address space.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f6e8185638_2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f6e8185638_2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Because of the way seL4 works, we can create PDs with multiple ADSes, and swap between them</a:t>
            </a:r>
            <a:endParaRPr/>
          </a:p>
          <a:p>
            <a:pPr marL="0" lvl="0" indent="0" algn="l" rtl="0">
              <a:spcBef>
                <a:spcPts val="0"/>
              </a:spcBef>
              <a:spcAft>
                <a:spcPts val="0"/>
              </a:spcAft>
              <a:buNone/>
            </a:pPr>
            <a:endParaRPr/>
          </a:p>
          <a:p>
            <a:pPr marL="0" lvl="0" indent="0" algn="l" rtl="0">
              <a:spcBef>
                <a:spcPts val="0"/>
              </a:spcBef>
              <a:spcAft>
                <a:spcPts val="0"/>
              </a:spcAft>
              <a:buNone/>
            </a:pPr>
            <a:r>
              <a:rPr lang="en"/>
              <a:t>Most focus on VMR configuration, since other resource configs are relatively straightforward (e.g. to share a file, or to not share a file)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8383613a12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28383613a12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Because of the way seL4 works, we can create PDs with multiple ADSes, and swap between them</a:t>
            </a:r>
            <a:endParaRPr/>
          </a:p>
          <a:p>
            <a:pPr marL="0" lvl="0" indent="0" algn="l" rtl="0">
              <a:spcBef>
                <a:spcPts val="0"/>
              </a:spcBef>
              <a:spcAft>
                <a:spcPts val="0"/>
              </a:spcAft>
              <a:buNone/>
            </a:pPr>
            <a:endParaRPr/>
          </a:p>
          <a:p>
            <a:pPr marL="0" lvl="0" indent="0" algn="l" rtl="0">
              <a:spcBef>
                <a:spcPts val="0"/>
              </a:spcBef>
              <a:spcAft>
                <a:spcPts val="0"/>
              </a:spcAft>
              <a:buNone/>
            </a:pPr>
            <a:r>
              <a:rPr lang="en"/>
              <a:t>Most focus on VMR configuration, since other resource configs are relatively straightforward (e.g. to share a file, or to not share a file)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2f6e8185638_2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2f6e8185638_2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PD generator will read this configuration and try to determine how to setup the new PD’s resources such that it can actually run (provided that an invalid configuration hasn’t been given)</a:t>
            </a:r>
            <a:endParaRPr/>
          </a:p>
          <a:p>
            <a:pPr marL="0" lvl="0" indent="0" algn="l" rtl="0">
              <a:spcBef>
                <a:spcPts val="0"/>
              </a:spcBef>
              <a:spcAft>
                <a:spcPts val="0"/>
              </a:spcAft>
              <a:buNone/>
            </a:pPr>
            <a:endParaRPr/>
          </a:p>
          <a:p>
            <a:pPr marL="0" lvl="0" indent="0" algn="l" rtl="0">
              <a:spcBef>
                <a:spcPts val="0"/>
              </a:spcBef>
              <a:spcAft>
                <a:spcPts val="0"/>
              </a:spcAft>
              <a:buNone/>
            </a:pPr>
            <a:r>
              <a:rPr lang="en"/>
              <a:t>Dynamically linked libraries can be supported by marking it with a separate virtual memory region type, and handling that separately when setting up the PD</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2852280430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2852280430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PD generator will read this configuration and try to determine how to setup the new PD’s resources such that it can actually run (provided that an invalid configuration hasn’t been given)</a:t>
            </a:r>
            <a:endParaRPr/>
          </a:p>
          <a:p>
            <a:pPr marL="0" lvl="0" indent="0" algn="l" rtl="0">
              <a:spcBef>
                <a:spcPts val="0"/>
              </a:spcBef>
              <a:spcAft>
                <a:spcPts val="0"/>
              </a:spcAft>
              <a:buNone/>
            </a:pPr>
            <a:endParaRPr/>
          </a:p>
          <a:p>
            <a:pPr marL="0" lvl="0" indent="0" algn="l" rtl="0">
              <a:spcBef>
                <a:spcPts val="0"/>
              </a:spcBef>
              <a:spcAft>
                <a:spcPts val="0"/>
              </a:spcAft>
              <a:buNone/>
            </a:pPr>
            <a:r>
              <a:rPr lang="en"/>
              <a:t>Dynamically linked libraries can be supported by marking it with a separate virtual memory region type, and handling that separately when setting up the PD</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2f747f22025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2f747f22025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2f653dffcf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2f653dffcf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great! But we were preparing a submission to SOSP, so we needed to show that our OS actually can actually do something, like running programs. Because that’s what an operating system is supposed to do. </a:t>
            </a:r>
            <a:endParaRPr/>
          </a:p>
          <a:p>
            <a:pPr marL="0" lvl="0" indent="0" algn="l" rtl="0">
              <a:spcBef>
                <a:spcPts val="0"/>
              </a:spcBef>
              <a:spcAft>
                <a:spcPts val="0"/>
              </a:spcAft>
              <a:buNone/>
            </a:pPr>
            <a:endParaRPr/>
          </a:p>
          <a:p>
            <a:pPr marL="0" lvl="0" indent="0" algn="l" rtl="0">
              <a:spcBef>
                <a:spcPts val="0"/>
              </a:spcBef>
              <a:spcAft>
                <a:spcPts val="0"/>
              </a:spcAft>
              <a:buNone/>
            </a:pPr>
            <a:r>
              <a:rPr lang="en"/>
              <a:t>We decided to start with SQLite, which is a small database library that stores its data in the local file system. </a:t>
            </a:r>
            <a:endParaRPr/>
          </a:p>
          <a:p>
            <a:pPr marL="0" lvl="0" indent="0" algn="l" rtl="0">
              <a:spcBef>
                <a:spcPts val="0"/>
              </a:spcBef>
              <a:spcAft>
                <a:spcPts val="0"/>
              </a:spcAft>
              <a:buNone/>
            </a:pPr>
            <a:endParaRPr/>
          </a:p>
          <a:p>
            <a:pPr marL="0" lvl="0" indent="0" algn="l" rtl="0">
              <a:spcBef>
                <a:spcPts val="0"/>
              </a:spcBef>
              <a:spcAft>
                <a:spcPts val="0"/>
              </a:spcAft>
              <a:buNone/>
            </a:pPr>
            <a:r>
              <a:rPr lang="en"/>
              <a:t>An application will execute a SQL statement using SQLite, which uses system calls to manage its database files. </a:t>
            </a:r>
            <a:r>
              <a:rPr lang="en">
                <a:solidFill>
                  <a:schemeClr val="dk1"/>
                </a:solidFill>
              </a:rPr>
              <a:t>In a traditional, monolithic operating system, t</a:t>
            </a:r>
            <a:r>
              <a:rPr lang="en"/>
              <a:t>he system calls cross the barrier from user space to kernel space, where the file system in turn makes calls to the disk driver to read / write blocks.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2f684ad75f6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2f684ad75f6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But in the seL4 kernel we don’t have even have a file system or a disk driver, let alone ones that deal in OSmosis-tracked resources. We needed to add these, and it also served as an opportunity to research what it takes to integrate OSmosis with a real system.</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2f684ad75f6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2f684ad75f6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first step was to add a file server. I converted this from the file system used in the xv6 operating system, which is a teaching operating system. It runs in its own PD, and applications call it to obtain or perform operations on file resources (represented by the green key). Calls may include other resources such as a memory object containing data to write (the black key). On the user side, the file client is installed to intercept system calls and reroute them to the file server.</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2f684ad75f6_0_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2f684ad75f6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file system needs somewhere to store the files, so I added another PD to be the block server. To get things off the ground, I used some ram as a simulated disk, rather than porting a disk driver. Modelling drivers is likely going to be part of future work. Like the file server, clients of the block server interact with it using block resources.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2f684ad75f6_0_1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2f684ad75f6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Of course, SQLite does make use of a subset of libc, so we had to support a number of other calls.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2f684ad75f6_0_1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2f684ad75f6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Root task is similar to the linux init task, provides core OS functionality.</a:t>
            </a:r>
            <a:endParaRPr/>
          </a:p>
          <a:p>
            <a:pPr marL="0" lvl="0" indent="0" algn="l" rtl="0">
              <a:spcBef>
                <a:spcPts val="0"/>
              </a:spcBef>
              <a:spcAft>
                <a:spcPts val="0"/>
              </a:spcAft>
              <a:buNone/>
            </a:pPr>
            <a:endParaRPr/>
          </a:p>
          <a:p>
            <a:pPr marL="0" lvl="0" indent="0" algn="l" rtl="0">
              <a:spcBef>
                <a:spcPts val="0"/>
              </a:spcBef>
              <a:spcAft>
                <a:spcPts val="0"/>
              </a:spcAft>
              <a:buNone/>
            </a:pPr>
            <a:r>
              <a:rPr lang="en"/>
              <a:t>And the beautiful thing about CellulOS is, once this was all in place, we could view the system's resources graphically.</a:t>
            </a:r>
            <a:endParaRPr/>
          </a:p>
          <a:p>
            <a:pPr marL="0" lvl="0" indent="0" algn="l" rtl="0">
              <a:spcBef>
                <a:spcPts val="0"/>
              </a:spcBef>
              <a:spcAft>
                <a:spcPts val="0"/>
              </a:spcAft>
              <a:buNone/>
            </a:pPr>
            <a:r>
              <a:rPr lang="en"/>
              <a:t>This is a SIMPLIFIED version of the model state for a simple app running SQLite (missing CPU resources, resource spaces, and the rest of the blocks). It is missing a few key parts of the model for readibility.</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2f684ad75f6_0_2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2f684ad75f6_0_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Files: 2 databases, that has to do with the isolation mechanisms but I’m not going to go into that now.</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2f684ad75f6_0_3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2f684ad75f6_0_3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also see some interesting details like a page, shared by both the file server and block server, that is used as a buffer for block operations</a:t>
            </a:r>
            <a:endParaRPr/>
          </a:p>
          <a:p>
            <a:pPr marL="0" lvl="0" indent="0" algn="l" rtl="0">
              <a:spcBef>
                <a:spcPts val="0"/>
              </a:spcBef>
              <a:spcAft>
                <a:spcPts val="0"/>
              </a:spcAft>
              <a:buNone/>
            </a:pPr>
            <a:endParaRPr/>
          </a:p>
          <a:p>
            <a:pPr marL="0" lvl="0" indent="0" algn="l" rtl="0">
              <a:spcBef>
                <a:spcPts val="0"/>
              </a:spcBef>
              <a:spcAft>
                <a:spcPts val="0"/>
              </a:spcAft>
              <a:buNone/>
            </a:pPr>
            <a:r>
              <a:rPr lang="en"/>
              <a:t>Mention we also extracted a graph for linux from proc</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2f684ad75f6_0_3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2f684ad75f6_0_3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don’t have time to go into much more of the implementation, but I thought I’d wrap up with an interesting challenge we came across.</a:t>
            </a:r>
            <a:endParaRPr/>
          </a:p>
          <a:p>
            <a:pPr marL="0" lvl="0" indent="0" algn="l" rtl="0">
              <a:spcBef>
                <a:spcPts val="0"/>
              </a:spcBef>
              <a:spcAft>
                <a:spcPts val="0"/>
              </a:spcAft>
              <a:buNone/>
            </a:pPr>
            <a:r>
              <a:rPr lang="en"/>
              <a:t>The model state tracking is distributed across the system: for example the root task is a process that tracks most state, but the file server tracks files and how they map to blocks. </a:t>
            </a:r>
            <a:endParaRPr/>
          </a:p>
          <a:p>
            <a:pPr marL="0" lvl="0" indent="0" algn="l" rtl="0">
              <a:spcBef>
                <a:spcPts val="0"/>
              </a:spcBef>
              <a:spcAft>
                <a:spcPts val="0"/>
              </a:spcAft>
              <a:buNone/>
            </a:pPr>
            <a:r>
              <a:rPr lang="en"/>
              <a:t>The root task may need to send messages to the file system: for example, to fetch information about the model state.</a:t>
            </a:r>
            <a:endParaRPr/>
          </a:p>
          <a:p>
            <a:pPr marL="0" lvl="0" indent="0" algn="l" rtl="0">
              <a:spcBef>
                <a:spcPts val="0"/>
              </a:spcBef>
              <a:spcAft>
                <a:spcPts val="0"/>
              </a:spcAft>
              <a:buNone/>
            </a:pPr>
            <a:r>
              <a:rPr lang="en"/>
              <a:t>The file system may need to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2f684ad75f6_0_3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2f684ad75f6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If they ask about multithreaded: not a permanent solution, if one thread is blocked, others may get blocked with other tasks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2f684ad75f6_0_4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5" name="Google Shape;595;g2f684ad75f6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2837ad0c169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2837ad0c16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2837ad0c169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2837ad0c16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45717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28383613a12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28383613a12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2837ad0c169_1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3" name="Google Shape;663;g2837ad0c169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Implementing root task includes: tracking OSmosis model state, designing the system in which core resources are managed and allocated</a:t>
            </a:r>
            <a:endParaRPr/>
          </a:p>
          <a:p>
            <a:pPr marL="0" lvl="0" indent="0" algn="l" rtl="0">
              <a:spcBef>
                <a:spcPts val="0"/>
              </a:spcBef>
              <a:spcAft>
                <a:spcPts val="0"/>
              </a:spcAft>
              <a:buNone/>
            </a:pPr>
            <a:endParaRPr/>
          </a:p>
          <a:p>
            <a:pPr marL="0" lvl="0" indent="0" algn="l" rtl="0">
              <a:spcBef>
                <a:spcPts val="0"/>
              </a:spcBef>
              <a:spcAft>
                <a:spcPts val="0"/>
              </a:spcAft>
              <a:buNone/>
            </a:pPr>
            <a:r>
              <a:rPr lang="en"/>
              <a:t>Why did you implement for a microkernel?</a:t>
            </a:r>
            <a:endParaRPr/>
          </a:p>
          <a:p>
            <a:pPr marL="0" lvl="0" indent="0" algn="l" rtl="0">
              <a:spcBef>
                <a:spcPts val="0"/>
              </a:spcBef>
              <a:spcAft>
                <a:spcPts val="0"/>
              </a:spcAft>
              <a:buNone/>
            </a:pPr>
            <a:r>
              <a:rPr lang="en"/>
              <a:t>The purpose was to have a clean slate, something without the builtin concept of process/thread/etc. in the kernel. It’s also much easier to understand the sel4 kernel than, say, the linux kernel.</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2f684ad75f6_0_3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6" name="Google Shape;676;g2f684ad75f6_0_3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atin typeface="Roboto"/>
                <a:ea typeface="Roboto"/>
                <a:cs typeface="Roboto"/>
                <a:sym typeface="Robo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112300" cy="4623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solidFill>
                  <a:schemeClr val="dk1"/>
                </a:solidFill>
                <a:latin typeface="Roboto"/>
                <a:ea typeface="Roboto"/>
                <a:cs typeface="Roboto"/>
                <a:sym typeface="Roboto"/>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sid-agrawal.ca/agrawal_osmosis_2024.pdf" TargetMode="External"/><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jpg"/><Relationship Id="rId4" Type="http://schemas.openxmlformats.org/officeDocument/2006/relationships/image" Target="../media/image16.jp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20.jp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5.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21.jp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8" Type="http://schemas.openxmlformats.org/officeDocument/2006/relationships/image" Target="../media/image25.jpg"/><Relationship Id="rId3" Type="http://schemas.openxmlformats.org/officeDocument/2006/relationships/image" Target="../media/image14.png"/><Relationship Id="rId7" Type="http://schemas.openxmlformats.org/officeDocument/2006/relationships/image" Target="../media/image24.jp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jpg"/><Relationship Id="rId4" Type="http://schemas.openxmlformats.org/officeDocument/2006/relationships/image" Target="../media/image16.jp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7.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7.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8.png"/><Relationship Id="rId7"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31.png"/><Relationship Id="rId5" Type="http://schemas.openxmlformats.org/officeDocument/2006/relationships/image" Target="../media/image27.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8.png"/><Relationship Id="rId7"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31.png"/><Relationship Id="rId5" Type="http://schemas.openxmlformats.org/officeDocument/2006/relationships/image" Target="../media/image27.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hyperlink" Target="https://cellulosdocs.readthedocs.io/en/cellulo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817075" y="894975"/>
            <a:ext cx="4989600" cy="16215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4500">
                <a:latin typeface="Roboto"/>
                <a:ea typeface="Roboto"/>
                <a:cs typeface="Roboto"/>
                <a:sym typeface="Roboto"/>
              </a:rPr>
              <a:t>CellulOS: Building an OS on seL4</a:t>
            </a:r>
            <a:endParaRPr sz="4500">
              <a:latin typeface="Roboto"/>
              <a:ea typeface="Roboto"/>
              <a:cs typeface="Roboto"/>
              <a:sym typeface="Roboto"/>
            </a:endParaRPr>
          </a:p>
        </p:txBody>
      </p:sp>
      <p:sp>
        <p:nvSpPr>
          <p:cNvPr id="55" name="Google Shape;55;p13"/>
          <p:cNvSpPr txBox="1">
            <a:spLocks noGrp="1"/>
          </p:cNvSpPr>
          <p:nvPr>
            <p:ph type="subTitle" idx="1"/>
          </p:nvPr>
        </p:nvSpPr>
        <p:spPr>
          <a:xfrm>
            <a:off x="855700" y="2941500"/>
            <a:ext cx="4989600" cy="656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600">
                <a:latin typeface="Roboto"/>
                <a:ea typeface="Roboto"/>
                <a:cs typeface="Roboto"/>
                <a:sym typeface="Roboto"/>
              </a:rPr>
              <a:t>Arya Stevinson, Linh Pham</a:t>
            </a:r>
            <a:endParaRPr sz="2600">
              <a:latin typeface="Roboto"/>
              <a:ea typeface="Roboto"/>
              <a:cs typeface="Roboto"/>
              <a:sym typeface="Roboto"/>
            </a:endParaRPr>
          </a:p>
        </p:txBody>
      </p:sp>
      <p:sp>
        <p:nvSpPr>
          <p:cNvPr id="56" name="Google Shape;56;p13"/>
          <p:cNvSpPr txBox="1"/>
          <p:nvPr/>
        </p:nvSpPr>
        <p:spPr>
          <a:xfrm>
            <a:off x="1338725" y="4302900"/>
            <a:ext cx="6540000" cy="71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Roboto"/>
                <a:ea typeface="Roboto"/>
                <a:cs typeface="Roboto"/>
                <a:sym typeface="Roboto"/>
              </a:rPr>
              <a:t>Advised by: Margo Seltzer, Reto Achermann, Aastha Mehta </a:t>
            </a: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Grads: Sid Agrawal, Shaurya Patel</a:t>
            </a:r>
            <a:endParaRPr sz="1800">
              <a:solidFill>
                <a:schemeClr val="dk2"/>
              </a:solidFill>
              <a:latin typeface="Roboto"/>
              <a:ea typeface="Roboto"/>
              <a:cs typeface="Roboto"/>
              <a:sym typeface="Roboto"/>
            </a:endParaRPr>
          </a:p>
        </p:txBody>
      </p:sp>
      <p:pic>
        <p:nvPicPr>
          <p:cNvPr id="57" name="Google Shape;57;p13"/>
          <p:cNvPicPr preferRelativeResize="0"/>
          <p:nvPr/>
        </p:nvPicPr>
        <p:blipFill>
          <a:blip r:embed="rId3">
            <a:alphaModFix/>
          </a:blip>
          <a:stretch>
            <a:fillRect/>
          </a:stretch>
        </p:blipFill>
        <p:spPr>
          <a:xfrm>
            <a:off x="6090800" y="2143150"/>
            <a:ext cx="1846851" cy="1846851"/>
          </a:xfrm>
          <a:prstGeom prst="rect">
            <a:avLst/>
          </a:prstGeom>
          <a:noFill/>
          <a:ln>
            <a:noFill/>
          </a:ln>
        </p:spPr>
      </p:pic>
      <p:pic>
        <p:nvPicPr>
          <p:cNvPr id="58" name="Google Shape;58;p13" descr="CellulOS 0.1 documentation - Home"/>
          <p:cNvPicPr preferRelativeResize="0"/>
          <p:nvPr/>
        </p:nvPicPr>
        <p:blipFill>
          <a:blip r:embed="rId4">
            <a:alphaModFix/>
          </a:blip>
          <a:stretch>
            <a:fillRect/>
          </a:stretch>
        </p:blipFill>
        <p:spPr>
          <a:xfrm>
            <a:off x="6304850" y="1213225"/>
            <a:ext cx="1418750" cy="1418750"/>
          </a:xfrm>
          <a:prstGeom prst="rect">
            <a:avLst/>
          </a:prstGeom>
          <a:noFill/>
          <a:ln>
            <a:noFill/>
          </a:ln>
        </p:spPr>
      </p:pic>
      <p:sp>
        <p:nvSpPr>
          <p:cNvPr id="59" name="Google Shape;59;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 Big Picture</a:t>
            </a:r>
            <a:endParaRPr/>
          </a:p>
        </p:txBody>
      </p:sp>
      <p:pic>
        <p:nvPicPr>
          <p:cNvPr id="65" name="Google Shape;65;p14"/>
          <p:cNvPicPr preferRelativeResize="0"/>
          <p:nvPr/>
        </p:nvPicPr>
        <p:blipFill>
          <a:blip r:embed="rId3">
            <a:alphaModFix/>
          </a:blip>
          <a:stretch>
            <a:fillRect/>
          </a:stretch>
        </p:blipFill>
        <p:spPr>
          <a:xfrm>
            <a:off x="583100" y="1517662"/>
            <a:ext cx="4437521" cy="1415975"/>
          </a:xfrm>
          <a:prstGeom prst="rect">
            <a:avLst/>
          </a:prstGeom>
          <a:noFill/>
          <a:ln>
            <a:noFill/>
          </a:ln>
        </p:spPr>
      </p:pic>
      <p:pic>
        <p:nvPicPr>
          <p:cNvPr id="66" name="Google Shape;66;p14"/>
          <p:cNvPicPr preferRelativeResize="0"/>
          <p:nvPr/>
        </p:nvPicPr>
        <p:blipFill>
          <a:blip r:embed="rId4">
            <a:alphaModFix/>
          </a:blip>
          <a:stretch>
            <a:fillRect/>
          </a:stretch>
        </p:blipFill>
        <p:spPr>
          <a:xfrm>
            <a:off x="583100" y="3581400"/>
            <a:ext cx="4437526" cy="1415961"/>
          </a:xfrm>
          <a:prstGeom prst="rect">
            <a:avLst/>
          </a:prstGeom>
          <a:noFill/>
          <a:ln>
            <a:noFill/>
          </a:ln>
        </p:spPr>
      </p:pic>
      <p:pic>
        <p:nvPicPr>
          <p:cNvPr id="67" name="Google Shape;67;p14"/>
          <p:cNvPicPr preferRelativeResize="0"/>
          <p:nvPr/>
        </p:nvPicPr>
        <p:blipFill>
          <a:blip r:embed="rId5">
            <a:alphaModFix/>
          </a:blip>
          <a:stretch>
            <a:fillRect/>
          </a:stretch>
        </p:blipFill>
        <p:spPr>
          <a:xfrm>
            <a:off x="5525573" y="2270973"/>
            <a:ext cx="3048576" cy="1708549"/>
          </a:xfrm>
          <a:prstGeom prst="rect">
            <a:avLst/>
          </a:prstGeom>
          <a:noFill/>
          <a:ln>
            <a:noFill/>
          </a:ln>
        </p:spPr>
      </p:pic>
      <p:sp>
        <p:nvSpPr>
          <p:cNvPr id="68" name="Google Shape;68;p14"/>
          <p:cNvSpPr txBox="1"/>
          <p:nvPr/>
        </p:nvSpPr>
        <p:spPr>
          <a:xfrm>
            <a:off x="583100" y="1017725"/>
            <a:ext cx="4437600" cy="44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latin typeface="Roboto"/>
                <a:ea typeface="Roboto"/>
                <a:cs typeface="Roboto"/>
                <a:sym typeface="Roboto"/>
              </a:rPr>
              <a:t>1. Modelling</a:t>
            </a:r>
            <a:endParaRPr sz="1800">
              <a:solidFill>
                <a:schemeClr val="dk2"/>
              </a:solidFill>
              <a:latin typeface="Roboto"/>
              <a:ea typeface="Roboto"/>
              <a:cs typeface="Roboto"/>
              <a:sym typeface="Roboto"/>
            </a:endParaRPr>
          </a:p>
        </p:txBody>
      </p:sp>
      <p:sp>
        <p:nvSpPr>
          <p:cNvPr id="69" name="Google Shape;69;p14"/>
          <p:cNvSpPr txBox="1"/>
          <p:nvPr/>
        </p:nvSpPr>
        <p:spPr>
          <a:xfrm>
            <a:off x="583100" y="3079925"/>
            <a:ext cx="4437600" cy="44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latin typeface="Roboto"/>
                <a:ea typeface="Roboto"/>
                <a:cs typeface="Roboto"/>
                <a:sym typeface="Roboto"/>
              </a:rPr>
              <a:t>2. Comparing</a:t>
            </a:r>
            <a:endParaRPr sz="1800">
              <a:solidFill>
                <a:schemeClr val="dk2"/>
              </a:solidFill>
              <a:latin typeface="Roboto"/>
              <a:ea typeface="Roboto"/>
              <a:cs typeface="Roboto"/>
              <a:sym typeface="Roboto"/>
            </a:endParaRPr>
          </a:p>
        </p:txBody>
      </p:sp>
      <p:sp>
        <p:nvSpPr>
          <p:cNvPr id="70" name="Google Shape;70;p14"/>
          <p:cNvSpPr txBox="1"/>
          <p:nvPr/>
        </p:nvSpPr>
        <p:spPr>
          <a:xfrm>
            <a:off x="5592500" y="1593450"/>
            <a:ext cx="2981700" cy="44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latin typeface="Roboto"/>
                <a:ea typeface="Roboto"/>
                <a:cs typeface="Roboto"/>
                <a:sym typeface="Roboto"/>
              </a:rPr>
              <a:t>3. Enumerating &amp; Exploring</a:t>
            </a:r>
            <a:endParaRPr sz="1800">
              <a:solidFill>
                <a:schemeClr val="dk2"/>
              </a:solidFill>
              <a:latin typeface="Roboto"/>
              <a:ea typeface="Roboto"/>
              <a:cs typeface="Roboto"/>
              <a:sym typeface="Roboto"/>
            </a:endParaRPr>
          </a:p>
        </p:txBody>
      </p:sp>
      <p:sp>
        <p:nvSpPr>
          <p:cNvPr id="71" name="Google Shape;71;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Shape 75"/>
        <p:cNvGrpSpPr/>
        <p:nvPr/>
      </p:nvGrpSpPr>
      <p:grpSpPr>
        <a:xfrm>
          <a:off x="0" y="0"/>
          <a:ext cx="0" cy="0"/>
          <a:chOff x="0" y="0"/>
          <a:chExt cx="0" cy="0"/>
        </a:xfrm>
      </p:grpSpPr>
      <p:sp>
        <p:nvSpPr>
          <p:cNvPr id="76" name="Google Shape;76;p15"/>
          <p:cNvSpPr/>
          <p:nvPr/>
        </p:nvSpPr>
        <p:spPr>
          <a:xfrm>
            <a:off x="242125" y="2745575"/>
            <a:ext cx="6729300" cy="966600"/>
          </a:xfrm>
          <a:prstGeom prst="bracePair">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 name="Google Shape;7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OSmosis?</a:t>
            </a:r>
            <a:endParaRPr/>
          </a:p>
        </p:txBody>
      </p:sp>
      <p:sp>
        <p:nvSpPr>
          <p:cNvPr id="78" name="Google Shape;78;p15"/>
          <p:cNvSpPr txBox="1">
            <a:spLocks noGrp="1"/>
          </p:cNvSpPr>
          <p:nvPr>
            <p:ph type="body" idx="1"/>
          </p:nvPr>
        </p:nvSpPr>
        <p:spPr>
          <a:xfrm>
            <a:off x="311700" y="1152475"/>
            <a:ext cx="8112300" cy="462300"/>
          </a:xfrm>
          <a:prstGeom prst="rect">
            <a:avLst/>
          </a:prstGeom>
        </p:spPr>
        <p:txBody>
          <a:bodyPr spcFirstLastPara="1" wrap="square" lIns="91425" tIns="91425" rIns="91425" bIns="91425" anchor="t" anchorCtr="0">
            <a:normAutofit fontScale="40000" lnSpcReduction="20000"/>
          </a:bodyPr>
          <a:lstStyle/>
          <a:p>
            <a:pPr marL="0" lvl="0" indent="0" algn="l" rtl="0">
              <a:spcBef>
                <a:spcPts val="0"/>
              </a:spcBef>
              <a:spcAft>
                <a:spcPts val="1200"/>
              </a:spcAft>
              <a:buNone/>
            </a:pPr>
            <a:r>
              <a:rPr lang="en"/>
              <a:t>We want the ability to…</a:t>
            </a:r>
            <a:endParaRPr/>
          </a:p>
        </p:txBody>
      </p:sp>
      <p:sp>
        <p:nvSpPr>
          <p:cNvPr id="79" name="Google Shape;79;p15"/>
          <p:cNvSpPr txBox="1"/>
          <p:nvPr/>
        </p:nvSpPr>
        <p:spPr>
          <a:xfrm>
            <a:off x="311700" y="1656050"/>
            <a:ext cx="6557700" cy="9666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0"/>
              </a:spcBef>
              <a:spcAft>
                <a:spcPts val="0"/>
              </a:spcAft>
              <a:buClr>
                <a:schemeClr val="dk1"/>
              </a:buClr>
              <a:buSzPts val="1800"/>
              <a:buChar char="●"/>
            </a:pPr>
            <a:r>
              <a:rPr lang="en" sz="1800">
                <a:solidFill>
                  <a:schemeClr val="dk1"/>
                </a:solidFill>
                <a:latin typeface="Roboto"/>
                <a:ea typeface="Roboto"/>
                <a:cs typeface="Roboto"/>
                <a:sym typeface="Roboto"/>
              </a:rPr>
              <a:t>quantify the degree of isolation between PDs in a system</a:t>
            </a:r>
            <a:endParaRPr sz="1800">
              <a:solidFill>
                <a:schemeClr val="dk1"/>
              </a:solidFill>
              <a:latin typeface="Roboto"/>
              <a:ea typeface="Roboto"/>
              <a:cs typeface="Roboto"/>
              <a:sym typeface="Roboto"/>
            </a:endParaRPr>
          </a:p>
          <a:p>
            <a:pPr marL="914400" lvl="1" indent="-317500" algn="l" rtl="0">
              <a:lnSpc>
                <a:spcPct val="115000"/>
              </a:lnSpc>
              <a:spcBef>
                <a:spcPts val="0"/>
              </a:spcBef>
              <a:spcAft>
                <a:spcPts val="0"/>
              </a:spcAft>
              <a:buClr>
                <a:schemeClr val="dk2"/>
              </a:buClr>
              <a:buSzPts val="1400"/>
              <a:buChar char="○"/>
            </a:pPr>
            <a:r>
              <a:rPr lang="en">
                <a:solidFill>
                  <a:schemeClr val="dk1"/>
                </a:solidFill>
              </a:rPr>
              <a:t>described in detail at: </a:t>
            </a:r>
            <a:r>
              <a:rPr lang="en" u="sng">
                <a:solidFill>
                  <a:schemeClr val="accent5"/>
                </a:solidFill>
                <a:hlinkClick r:id="rId3">
                  <a:extLst>
                    <a:ext uri="{A12FA001-AC4F-418D-AE19-62706E023703}">
                      <ahyp:hlinkClr xmlns:ahyp="http://schemas.microsoft.com/office/drawing/2018/hyperlinkcolor" val="tx"/>
                    </a:ext>
                  </a:extLst>
                </a:hlinkClick>
              </a:rPr>
              <a:t>https://sid-agrawal.ca/agrawal_osmosis_2024.pdf</a:t>
            </a:r>
            <a:endParaRPr sz="1800">
              <a:solidFill>
                <a:schemeClr val="dk2"/>
              </a:solidFill>
            </a:endParaRPr>
          </a:p>
        </p:txBody>
      </p:sp>
      <p:grpSp>
        <p:nvGrpSpPr>
          <p:cNvPr id="80" name="Google Shape;80;p15"/>
          <p:cNvGrpSpPr/>
          <p:nvPr/>
        </p:nvGrpSpPr>
        <p:grpSpPr>
          <a:xfrm>
            <a:off x="600322" y="4002210"/>
            <a:ext cx="1206107" cy="936138"/>
            <a:chOff x="6971300" y="1521600"/>
            <a:chExt cx="1591800" cy="1235500"/>
          </a:xfrm>
        </p:grpSpPr>
        <p:pic>
          <p:nvPicPr>
            <p:cNvPr id="81" name="Google Shape;81;p15"/>
            <p:cNvPicPr preferRelativeResize="0"/>
            <p:nvPr/>
          </p:nvPicPr>
          <p:blipFill>
            <a:blip r:embed="rId4">
              <a:alphaModFix/>
            </a:blip>
            <a:stretch>
              <a:fillRect/>
            </a:stretch>
          </p:blipFill>
          <p:spPr>
            <a:xfrm>
              <a:off x="6971300" y="1521600"/>
              <a:ext cx="1235500" cy="1235500"/>
            </a:xfrm>
            <a:prstGeom prst="rect">
              <a:avLst/>
            </a:prstGeom>
            <a:noFill/>
            <a:ln>
              <a:noFill/>
            </a:ln>
          </p:spPr>
        </p:pic>
        <p:pic>
          <p:nvPicPr>
            <p:cNvPr id="82" name="Google Shape;82;p15"/>
            <p:cNvPicPr preferRelativeResize="0"/>
            <p:nvPr/>
          </p:nvPicPr>
          <p:blipFill>
            <a:blip r:embed="rId5">
              <a:alphaModFix/>
            </a:blip>
            <a:stretch>
              <a:fillRect/>
            </a:stretch>
          </p:blipFill>
          <p:spPr>
            <a:xfrm>
              <a:off x="7868950" y="1969625"/>
              <a:ext cx="694150" cy="694150"/>
            </a:xfrm>
            <a:prstGeom prst="rect">
              <a:avLst/>
            </a:prstGeom>
            <a:noFill/>
            <a:ln>
              <a:noFill/>
            </a:ln>
          </p:spPr>
        </p:pic>
      </p:grpSp>
      <p:sp>
        <p:nvSpPr>
          <p:cNvPr id="83" name="Google Shape;83;p15"/>
          <p:cNvSpPr txBox="1"/>
          <p:nvPr/>
        </p:nvSpPr>
        <p:spPr>
          <a:xfrm>
            <a:off x="337400" y="2587725"/>
            <a:ext cx="6557700" cy="4617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0"/>
              </a:spcBef>
              <a:spcAft>
                <a:spcPts val="0"/>
              </a:spcAft>
              <a:buClr>
                <a:schemeClr val="dk1"/>
              </a:buClr>
              <a:buSzPts val="1800"/>
              <a:buChar char="●"/>
            </a:pPr>
            <a:r>
              <a:rPr lang="en" sz="1800">
                <a:solidFill>
                  <a:schemeClr val="dk1"/>
                </a:solidFill>
              </a:rPr>
              <a:t>build isolation abstractions in a unified way</a:t>
            </a:r>
            <a:endParaRPr sz="1800">
              <a:solidFill>
                <a:schemeClr val="dk1"/>
              </a:solidFill>
            </a:endParaRPr>
          </a:p>
        </p:txBody>
      </p:sp>
      <p:pic>
        <p:nvPicPr>
          <p:cNvPr id="84" name="Google Shape;84;p15"/>
          <p:cNvPicPr preferRelativeResize="0"/>
          <p:nvPr/>
        </p:nvPicPr>
        <p:blipFill>
          <a:blip r:embed="rId6">
            <a:alphaModFix/>
          </a:blip>
          <a:stretch>
            <a:fillRect/>
          </a:stretch>
        </p:blipFill>
        <p:spPr>
          <a:xfrm>
            <a:off x="3200400" y="4080125"/>
            <a:ext cx="780300" cy="780300"/>
          </a:xfrm>
          <a:prstGeom prst="rect">
            <a:avLst/>
          </a:prstGeom>
          <a:noFill/>
          <a:ln>
            <a:noFill/>
          </a:ln>
        </p:spPr>
      </p:pic>
      <p:sp>
        <p:nvSpPr>
          <p:cNvPr id="85" name="Google Shape;85;p15"/>
          <p:cNvSpPr txBox="1"/>
          <p:nvPr/>
        </p:nvSpPr>
        <p:spPr>
          <a:xfrm>
            <a:off x="337400" y="3296000"/>
            <a:ext cx="6557700" cy="4617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0"/>
              </a:spcBef>
              <a:spcAft>
                <a:spcPts val="0"/>
              </a:spcAft>
              <a:buClr>
                <a:schemeClr val="dk1"/>
              </a:buClr>
              <a:buSzPts val="1800"/>
              <a:buChar char="●"/>
            </a:pPr>
            <a:r>
              <a:rPr lang="en" sz="1800">
                <a:solidFill>
                  <a:schemeClr val="dk1"/>
                </a:solidFill>
              </a:rPr>
              <a:t>flexibly define system cleanup policies</a:t>
            </a:r>
            <a:endParaRPr sz="1800">
              <a:solidFill>
                <a:schemeClr val="dk1"/>
              </a:solidFill>
            </a:endParaRPr>
          </a:p>
        </p:txBody>
      </p:sp>
      <p:pic>
        <p:nvPicPr>
          <p:cNvPr id="86" name="Google Shape;86;p15"/>
          <p:cNvPicPr preferRelativeResize="0"/>
          <p:nvPr/>
        </p:nvPicPr>
        <p:blipFill>
          <a:blip r:embed="rId7">
            <a:alphaModFix/>
          </a:blip>
          <a:stretch>
            <a:fillRect/>
          </a:stretch>
        </p:blipFill>
        <p:spPr>
          <a:xfrm>
            <a:off x="5374675" y="3969388"/>
            <a:ext cx="936150" cy="936150"/>
          </a:xfrm>
          <a:prstGeom prst="rect">
            <a:avLst/>
          </a:prstGeom>
          <a:noFill/>
          <a:ln>
            <a:noFill/>
          </a:ln>
        </p:spPr>
      </p:pic>
      <p:sp>
        <p:nvSpPr>
          <p:cNvPr id="87" name="Google Shape;87;p15"/>
          <p:cNvSpPr txBox="1"/>
          <p:nvPr/>
        </p:nvSpPr>
        <p:spPr>
          <a:xfrm>
            <a:off x="4963525" y="806075"/>
            <a:ext cx="3515400" cy="461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What we have been working on!</a:t>
            </a:r>
            <a:endParaRPr sz="1800">
              <a:solidFill>
                <a:schemeClr val="dk2"/>
              </a:solidFill>
            </a:endParaRPr>
          </a:p>
        </p:txBody>
      </p:sp>
      <p:cxnSp>
        <p:nvCxnSpPr>
          <p:cNvPr id="88" name="Google Shape;88;p15"/>
          <p:cNvCxnSpPr>
            <a:stCxn id="76" idx="3"/>
            <a:endCxn id="87" idx="3"/>
          </p:cNvCxnSpPr>
          <p:nvPr/>
        </p:nvCxnSpPr>
        <p:spPr>
          <a:xfrm rot="10800000" flipH="1">
            <a:off x="6971425" y="1037075"/>
            <a:ext cx="1507500" cy="2191800"/>
          </a:xfrm>
          <a:prstGeom prst="bentConnector3">
            <a:avLst>
              <a:gd name="adj1" fmla="val 115796"/>
            </a:avLst>
          </a:prstGeom>
          <a:noFill/>
          <a:ln w="19050" cap="flat" cmpd="sng">
            <a:solidFill>
              <a:srgbClr val="FF0000"/>
            </a:solidFill>
            <a:prstDash val="solid"/>
            <a:round/>
            <a:headEnd type="none" w="med" len="med"/>
            <a:tailEnd type="triangle" w="med" len="med"/>
          </a:ln>
        </p:spPr>
      </p:cxnSp>
      <p:sp>
        <p:nvSpPr>
          <p:cNvPr id="89" name="Google Shape;89;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93"/>
        <p:cNvGrpSpPr/>
        <p:nvPr/>
      </p:nvGrpSpPr>
      <p:grpSpPr>
        <a:xfrm>
          <a:off x="0" y="0"/>
          <a:ext cx="0" cy="0"/>
          <a:chOff x="0" y="0"/>
          <a:chExt cx="0" cy="0"/>
        </a:xfrm>
      </p:grpSpPr>
      <p:sp>
        <p:nvSpPr>
          <p:cNvPr id="94" name="Google Shape;94;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What do we need from a custom OS?</a:t>
            </a:r>
            <a:endParaRPr/>
          </a:p>
        </p:txBody>
      </p:sp>
      <p:sp>
        <p:nvSpPr>
          <p:cNvPr id="95" name="Google Shape;95;p16"/>
          <p:cNvSpPr txBox="1">
            <a:spLocks noGrp="1"/>
          </p:cNvSpPr>
          <p:nvPr>
            <p:ph type="body" idx="1"/>
          </p:nvPr>
        </p:nvSpPr>
        <p:spPr>
          <a:xfrm>
            <a:off x="311700" y="1152475"/>
            <a:ext cx="8112300" cy="34935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AutoNum type="arabicPeriod"/>
            </a:pPr>
            <a:r>
              <a:rPr lang="en"/>
              <a:t>Ability to extract the </a:t>
            </a:r>
            <a:r>
              <a:rPr lang="en" b="1"/>
              <a:t>model state </a:t>
            </a:r>
            <a:endParaRPr b="1"/>
          </a:p>
          <a:p>
            <a:pPr marL="457200" lvl="0" indent="-342900" algn="l" rtl="0">
              <a:spcBef>
                <a:spcPts val="0"/>
              </a:spcBef>
              <a:spcAft>
                <a:spcPts val="0"/>
              </a:spcAft>
              <a:buSzPts val="1800"/>
              <a:buAutoNum type="arabicPeriod"/>
            </a:pPr>
            <a:r>
              <a:rPr lang="en"/>
              <a:t>Ability to build isolation abstractions in a unified way</a:t>
            </a:r>
            <a:endParaRPr/>
          </a:p>
          <a:p>
            <a:pPr marL="0" lvl="0" indent="0" algn="l" rtl="0">
              <a:spcBef>
                <a:spcPts val="1200"/>
              </a:spcBef>
              <a:spcAft>
                <a:spcPts val="0"/>
              </a:spcAft>
              <a:buClr>
                <a:schemeClr val="dk1"/>
              </a:buClr>
              <a:buSzPts val="1100"/>
              <a:buFont typeface="Arial"/>
              <a:buNone/>
            </a:pPr>
            <a:endParaRPr/>
          </a:p>
          <a:p>
            <a:pPr marL="0" lvl="0" indent="0" algn="l" rtl="0">
              <a:spcBef>
                <a:spcPts val="1200"/>
              </a:spcBef>
              <a:spcAft>
                <a:spcPts val="1200"/>
              </a:spcAft>
              <a:buNone/>
            </a:pPr>
            <a:endParaRPr/>
          </a:p>
        </p:txBody>
      </p:sp>
      <p:sp>
        <p:nvSpPr>
          <p:cNvPr id="96" name="Google Shape;96;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do we need from a custom OS?</a:t>
            </a:r>
            <a:endParaRPr/>
          </a:p>
        </p:txBody>
      </p:sp>
      <p:sp>
        <p:nvSpPr>
          <p:cNvPr id="102" name="Google Shape;102;p17"/>
          <p:cNvSpPr txBox="1">
            <a:spLocks noGrp="1"/>
          </p:cNvSpPr>
          <p:nvPr>
            <p:ph type="body" idx="1"/>
          </p:nvPr>
        </p:nvSpPr>
        <p:spPr>
          <a:xfrm>
            <a:off x="311700" y="1152475"/>
            <a:ext cx="8520600" cy="26466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rgbClr val="000000"/>
              </a:buClr>
              <a:buSzPts val="1800"/>
              <a:buAutoNum type="arabicPeriod"/>
            </a:pPr>
            <a:r>
              <a:rPr lang="en">
                <a:solidFill>
                  <a:srgbClr val="000000"/>
                </a:solidFill>
              </a:rPr>
              <a:t>Ability to extract the </a:t>
            </a:r>
            <a:r>
              <a:rPr lang="en" b="1">
                <a:solidFill>
                  <a:srgbClr val="000000"/>
                </a:solidFill>
              </a:rPr>
              <a:t>model state </a:t>
            </a:r>
            <a:endParaRPr b="1">
              <a:solidFill>
                <a:srgbClr val="000000"/>
              </a:solidFill>
            </a:endParaRPr>
          </a:p>
        </p:txBody>
      </p:sp>
      <p:grpSp>
        <p:nvGrpSpPr>
          <p:cNvPr id="103" name="Google Shape;103;p17"/>
          <p:cNvGrpSpPr/>
          <p:nvPr/>
        </p:nvGrpSpPr>
        <p:grpSpPr>
          <a:xfrm>
            <a:off x="765700" y="1872225"/>
            <a:ext cx="7612600" cy="1399050"/>
            <a:chOff x="445175" y="3457225"/>
            <a:chExt cx="7612600" cy="1399050"/>
          </a:xfrm>
        </p:grpSpPr>
        <p:pic>
          <p:nvPicPr>
            <p:cNvPr id="104" name="Google Shape;104;p17"/>
            <p:cNvPicPr preferRelativeResize="0"/>
            <p:nvPr/>
          </p:nvPicPr>
          <p:blipFill>
            <a:blip r:embed="rId3">
              <a:alphaModFix/>
            </a:blip>
            <a:stretch>
              <a:fillRect/>
            </a:stretch>
          </p:blipFill>
          <p:spPr>
            <a:xfrm>
              <a:off x="445175" y="3970400"/>
              <a:ext cx="808349" cy="808349"/>
            </a:xfrm>
            <a:prstGeom prst="rect">
              <a:avLst/>
            </a:prstGeom>
            <a:noFill/>
            <a:ln>
              <a:noFill/>
            </a:ln>
          </p:spPr>
        </p:pic>
        <p:pic>
          <p:nvPicPr>
            <p:cNvPr id="105" name="Google Shape;105;p17"/>
            <p:cNvPicPr preferRelativeResize="0"/>
            <p:nvPr/>
          </p:nvPicPr>
          <p:blipFill>
            <a:blip r:embed="rId4">
              <a:alphaModFix/>
            </a:blip>
            <a:stretch>
              <a:fillRect/>
            </a:stretch>
          </p:blipFill>
          <p:spPr>
            <a:xfrm rot="5400000">
              <a:off x="7094350" y="3892850"/>
              <a:ext cx="963425" cy="963425"/>
            </a:xfrm>
            <a:prstGeom prst="rect">
              <a:avLst/>
            </a:prstGeom>
            <a:noFill/>
            <a:ln>
              <a:noFill/>
            </a:ln>
          </p:spPr>
        </p:pic>
        <p:grpSp>
          <p:nvGrpSpPr>
            <p:cNvPr id="106" name="Google Shape;106;p17"/>
            <p:cNvGrpSpPr/>
            <p:nvPr/>
          </p:nvGrpSpPr>
          <p:grpSpPr>
            <a:xfrm>
              <a:off x="1253525" y="4088250"/>
              <a:ext cx="1301100" cy="384900"/>
              <a:chOff x="1253525" y="4088250"/>
              <a:chExt cx="1301100" cy="384900"/>
            </a:xfrm>
          </p:grpSpPr>
          <p:cxnSp>
            <p:nvCxnSpPr>
              <p:cNvPr id="107" name="Google Shape;107;p17"/>
              <p:cNvCxnSpPr>
                <a:stCxn id="104" idx="3"/>
                <a:endCxn id="108" idx="1"/>
              </p:cNvCxnSpPr>
              <p:nvPr/>
            </p:nvCxnSpPr>
            <p:spPr>
              <a:xfrm>
                <a:off x="1253525" y="4374575"/>
                <a:ext cx="1301100" cy="0"/>
              </a:xfrm>
              <a:prstGeom prst="straightConnector1">
                <a:avLst/>
              </a:prstGeom>
              <a:noFill/>
              <a:ln w="9525" cap="flat" cmpd="sng">
                <a:solidFill>
                  <a:schemeClr val="dk2"/>
                </a:solidFill>
                <a:prstDash val="solid"/>
                <a:round/>
                <a:headEnd type="none" w="med" len="med"/>
                <a:tailEnd type="triangle" w="med" len="med"/>
              </a:ln>
            </p:spPr>
          </p:cxnSp>
          <p:sp>
            <p:nvSpPr>
              <p:cNvPr id="109" name="Google Shape;109;p17"/>
              <p:cNvSpPr txBox="1"/>
              <p:nvPr/>
            </p:nvSpPr>
            <p:spPr>
              <a:xfrm>
                <a:off x="1564600" y="4088250"/>
                <a:ext cx="5325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hold</a:t>
                </a:r>
                <a:endParaRPr sz="1300">
                  <a:solidFill>
                    <a:schemeClr val="dk2"/>
                  </a:solidFill>
                </a:endParaRPr>
              </a:p>
            </p:txBody>
          </p:sp>
        </p:grpSp>
        <p:pic>
          <p:nvPicPr>
            <p:cNvPr id="110" name="Google Shape;110;p17"/>
            <p:cNvPicPr preferRelativeResize="0"/>
            <p:nvPr/>
          </p:nvPicPr>
          <p:blipFill>
            <a:blip r:embed="rId3">
              <a:alphaModFix/>
            </a:blip>
            <a:stretch>
              <a:fillRect/>
            </a:stretch>
          </p:blipFill>
          <p:spPr>
            <a:xfrm>
              <a:off x="4783313" y="3970400"/>
              <a:ext cx="808349" cy="808349"/>
            </a:xfrm>
            <a:prstGeom prst="rect">
              <a:avLst/>
            </a:prstGeom>
            <a:noFill/>
            <a:ln>
              <a:noFill/>
            </a:ln>
          </p:spPr>
        </p:pic>
        <p:pic>
          <p:nvPicPr>
            <p:cNvPr id="108" name="Google Shape;108;p17"/>
            <p:cNvPicPr preferRelativeResize="0"/>
            <p:nvPr/>
          </p:nvPicPr>
          <p:blipFill>
            <a:blip r:embed="rId5">
              <a:alphaModFix/>
            </a:blip>
            <a:stretch>
              <a:fillRect/>
            </a:stretch>
          </p:blipFill>
          <p:spPr>
            <a:xfrm>
              <a:off x="2554625" y="3970400"/>
              <a:ext cx="808349" cy="808349"/>
            </a:xfrm>
            <a:prstGeom prst="rect">
              <a:avLst/>
            </a:prstGeom>
            <a:noFill/>
            <a:ln>
              <a:noFill/>
            </a:ln>
          </p:spPr>
        </p:pic>
        <p:grpSp>
          <p:nvGrpSpPr>
            <p:cNvPr id="111" name="Google Shape;111;p17"/>
            <p:cNvGrpSpPr/>
            <p:nvPr/>
          </p:nvGrpSpPr>
          <p:grpSpPr>
            <a:xfrm>
              <a:off x="849350" y="3457225"/>
              <a:ext cx="4338000" cy="513775"/>
              <a:chOff x="849350" y="3457225"/>
              <a:chExt cx="4338000" cy="513775"/>
            </a:xfrm>
          </p:grpSpPr>
          <p:cxnSp>
            <p:nvCxnSpPr>
              <p:cNvPr id="112" name="Google Shape;112;p17"/>
              <p:cNvCxnSpPr>
                <a:stCxn id="104" idx="0"/>
                <a:endCxn id="110" idx="0"/>
              </p:cNvCxnSpPr>
              <p:nvPr/>
            </p:nvCxnSpPr>
            <p:spPr>
              <a:xfrm rot="-5400000" flipH="1">
                <a:off x="3018050" y="1801700"/>
                <a:ext cx="600" cy="4338000"/>
              </a:xfrm>
              <a:prstGeom prst="curvedConnector3">
                <a:avLst>
                  <a:gd name="adj1" fmla="val -39687500"/>
                </a:avLst>
              </a:prstGeom>
              <a:noFill/>
              <a:ln w="9525" cap="flat" cmpd="sng">
                <a:solidFill>
                  <a:schemeClr val="dk2"/>
                </a:solidFill>
                <a:prstDash val="solid"/>
                <a:round/>
                <a:headEnd type="none" w="med" len="med"/>
                <a:tailEnd type="triangle" w="med" len="med"/>
              </a:ln>
            </p:spPr>
          </p:cxnSp>
          <p:sp>
            <p:nvSpPr>
              <p:cNvPr id="113" name="Google Shape;113;p17"/>
              <p:cNvSpPr txBox="1"/>
              <p:nvPr/>
            </p:nvSpPr>
            <p:spPr>
              <a:xfrm>
                <a:off x="2719075" y="3457225"/>
                <a:ext cx="13011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request</a:t>
                </a:r>
                <a:endParaRPr sz="1000">
                  <a:solidFill>
                    <a:schemeClr val="dk2"/>
                  </a:solidFill>
                </a:endParaRPr>
              </a:p>
            </p:txBody>
          </p:sp>
        </p:grpSp>
        <p:grpSp>
          <p:nvGrpSpPr>
            <p:cNvPr id="114" name="Google Shape;114;p17"/>
            <p:cNvGrpSpPr/>
            <p:nvPr/>
          </p:nvGrpSpPr>
          <p:grpSpPr>
            <a:xfrm>
              <a:off x="5591662" y="4021350"/>
              <a:ext cx="1502700" cy="384900"/>
              <a:chOff x="5591662" y="4021350"/>
              <a:chExt cx="1502700" cy="384900"/>
            </a:xfrm>
          </p:grpSpPr>
          <p:cxnSp>
            <p:nvCxnSpPr>
              <p:cNvPr id="115" name="Google Shape;115;p17"/>
              <p:cNvCxnSpPr>
                <a:stCxn id="110" idx="3"/>
                <a:endCxn id="105" idx="2"/>
              </p:cNvCxnSpPr>
              <p:nvPr/>
            </p:nvCxnSpPr>
            <p:spPr>
              <a:xfrm>
                <a:off x="5591662" y="4374575"/>
                <a:ext cx="1502700" cy="0"/>
              </a:xfrm>
              <a:prstGeom prst="straightConnector1">
                <a:avLst/>
              </a:prstGeom>
              <a:noFill/>
              <a:ln w="9525" cap="flat" cmpd="sng">
                <a:solidFill>
                  <a:schemeClr val="dk2"/>
                </a:solidFill>
                <a:prstDash val="solid"/>
                <a:round/>
                <a:headEnd type="none" w="med" len="med"/>
                <a:tailEnd type="triangle" w="med" len="med"/>
              </a:ln>
            </p:spPr>
          </p:cxnSp>
          <p:sp>
            <p:nvSpPr>
              <p:cNvPr id="116" name="Google Shape;116;p17"/>
              <p:cNvSpPr txBox="1"/>
              <p:nvPr/>
            </p:nvSpPr>
            <p:spPr>
              <a:xfrm>
                <a:off x="6068350" y="4021350"/>
                <a:ext cx="5325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hold</a:t>
                </a:r>
                <a:endParaRPr sz="1300">
                  <a:solidFill>
                    <a:schemeClr val="dk2"/>
                  </a:solidFill>
                </a:endParaRPr>
              </a:p>
            </p:txBody>
          </p:sp>
        </p:grpSp>
        <p:grpSp>
          <p:nvGrpSpPr>
            <p:cNvPr id="117" name="Google Shape;117;p17"/>
            <p:cNvGrpSpPr/>
            <p:nvPr/>
          </p:nvGrpSpPr>
          <p:grpSpPr>
            <a:xfrm>
              <a:off x="3363113" y="4088250"/>
              <a:ext cx="1420200" cy="384900"/>
              <a:chOff x="3363113" y="4088250"/>
              <a:chExt cx="1420200" cy="384900"/>
            </a:xfrm>
          </p:grpSpPr>
          <p:cxnSp>
            <p:nvCxnSpPr>
              <p:cNvPr id="118" name="Google Shape;118;p17"/>
              <p:cNvCxnSpPr>
                <a:stCxn id="110" idx="1"/>
                <a:endCxn id="108" idx="3"/>
              </p:cNvCxnSpPr>
              <p:nvPr/>
            </p:nvCxnSpPr>
            <p:spPr>
              <a:xfrm rot="10800000">
                <a:off x="3363113" y="4374575"/>
                <a:ext cx="1420200" cy="0"/>
              </a:xfrm>
              <a:prstGeom prst="straightConnector1">
                <a:avLst/>
              </a:prstGeom>
              <a:noFill/>
              <a:ln w="9525" cap="flat" cmpd="sng">
                <a:solidFill>
                  <a:schemeClr val="dk2"/>
                </a:solidFill>
                <a:prstDash val="solid"/>
                <a:round/>
                <a:headEnd type="none" w="med" len="med"/>
                <a:tailEnd type="triangle" w="med" len="med"/>
              </a:ln>
            </p:spPr>
          </p:cxnSp>
          <p:sp>
            <p:nvSpPr>
              <p:cNvPr id="119" name="Google Shape;119;p17"/>
              <p:cNvSpPr txBox="1"/>
              <p:nvPr/>
            </p:nvSpPr>
            <p:spPr>
              <a:xfrm>
                <a:off x="3806900" y="4088250"/>
                <a:ext cx="5325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hold</a:t>
                </a:r>
                <a:endParaRPr sz="1300">
                  <a:solidFill>
                    <a:schemeClr val="dk2"/>
                  </a:solidFill>
                </a:endParaRPr>
              </a:p>
            </p:txBody>
          </p:sp>
        </p:grpSp>
      </p:grpSp>
      <p:sp>
        <p:nvSpPr>
          <p:cNvPr id="120" name="Google Shape;120;p17"/>
          <p:cNvSpPr txBox="1"/>
          <p:nvPr/>
        </p:nvSpPr>
        <p:spPr>
          <a:xfrm>
            <a:off x="502725" y="3447425"/>
            <a:ext cx="8329500" cy="1252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a:solidFill>
                  <a:schemeClr val="dk1"/>
                </a:solidFill>
                <a:latin typeface="Roboto"/>
                <a:ea typeface="Roboto"/>
                <a:cs typeface="Roboto"/>
                <a:sym typeface="Roboto"/>
              </a:rPr>
              <a:t>Track and/or extract:</a:t>
            </a:r>
            <a:endParaRPr sz="1800">
              <a:solidFill>
                <a:schemeClr val="dk1"/>
              </a:solidFill>
              <a:latin typeface="Roboto"/>
              <a:ea typeface="Roboto"/>
              <a:cs typeface="Roboto"/>
              <a:sym typeface="Roboto"/>
            </a:endParaRPr>
          </a:p>
          <a:p>
            <a:pPr marL="457200" lvl="0" indent="-342900" algn="l" rtl="0">
              <a:lnSpc>
                <a:spcPct val="115000"/>
              </a:lnSpc>
              <a:spcBef>
                <a:spcPts val="1200"/>
              </a:spcBef>
              <a:spcAft>
                <a:spcPts val="0"/>
              </a:spcAft>
              <a:buClr>
                <a:schemeClr val="dk1"/>
              </a:buClr>
              <a:buSzPts val="1800"/>
              <a:buFont typeface="Roboto"/>
              <a:buChar char="●"/>
            </a:pPr>
            <a:r>
              <a:rPr lang="en" sz="1800">
                <a:solidFill>
                  <a:schemeClr val="dk1"/>
                </a:solidFill>
                <a:latin typeface="Roboto"/>
                <a:ea typeface="Roboto"/>
                <a:cs typeface="Roboto"/>
                <a:sym typeface="Roboto"/>
              </a:rPr>
              <a:t>resources and their dependencies</a:t>
            </a:r>
            <a:endParaRPr sz="1800">
              <a:solidFill>
                <a:schemeClr val="dk1"/>
              </a:solidFill>
              <a:latin typeface="Roboto"/>
              <a:ea typeface="Roboto"/>
              <a:cs typeface="Roboto"/>
              <a:sym typeface="Roboto"/>
            </a:endParaRPr>
          </a:p>
          <a:p>
            <a:pPr marL="457200" lvl="0" indent="-342900" algn="l" rtl="0">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active entities (protection domains), their resources, and their dependencies</a:t>
            </a:r>
            <a:endParaRPr sz="1800">
              <a:solidFill>
                <a:schemeClr val="dk1"/>
              </a:solidFill>
              <a:latin typeface="Roboto"/>
              <a:ea typeface="Roboto"/>
              <a:cs typeface="Roboto"/>
              <a:sym typeface="Roboto"/>
            </a:endParaRPr>
          </a:p>
        </p:txBody>
      </p:sp>
      <p:sp>
        <p:nvSpPr>
          <p:cNvPr id="121" name="Google Shape;121;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125"/>
        <p:cNvGrpSpPr/>
        <p:nvPr/>
      </p:nvGrpSpPr>
      <p:grpSpPr>
        <a:xfrm>
          <a:off x="0" y="0"/>
          <a:ext cx="0" cy="0"/>
          <a:chOff x="0" y="0"/>
          <a:chExt cx="0" cy="0"/>
        </a:xfrm>
      </p:grpSpPr>
      <p:sp>
        <p:nvSpPr>
          <p:cNvPr id="126" name="Google Shape;126;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is OSmosis?</a:t>
            </a:r>
            <a:endParaRPr/>
          </a:p>
        </p:txBody>
      </p:sp>
      <p:sp>
        <p:nvSpPr>
          <p:cNvPr id="127" name="Google Shape;127;p18"/>
          <p:cNvSpPr txBox="1">
            <a:spLocks noGrp="1"/>
          </p:cNvSpPr>
          <p:nvPr>
            <p:ph type="body" idx="1"/>
          </p:nvPr>
        </p:nvSpPr>
        <p:spPr>
          <a:xfrm>
            <a:off x="376375" y="1017725"/>
            <a:ext cx="8520600" cy="46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model of a system that describes… </a:t>
            </a:r>
            <a:endParaRPr/>
          </a:p>
          <a:p>
            <a:pPr marL="0" lvl="0" indent="0" algn="l" rtl="0">
              <a:spcBef>
                <a:spcPts val="1200"/>
              </a:spcBef>
              <a:spcAft>
                <a:spcPts val="1200"/>
              </a:spcAft>
              <a:buNone/>
            </a:pPr>
            <a:endParaRPr/>
          </a:p>
        </p:txBody>
      </p:sp>
      <p:pic>
        <p:nvPicPr>
          <p:cNvPr id="128" name="Google Shape;128;p18"/>
          <p:cNvPicPr preferRelativeResize="0"/>
          <p:nvPr/>
        </p:nvPicPr>
        <p:blipFill>
          <a:blip r:embed="rId3">
            <a:alphaModFix/>
          </a:blip>
          <a:stretch>
            <a:fillRect/>
          </a:stretch>
        </p:blipFill>
        <p:spPr>
          <a:xfrm>
            <a:off x="445175" y="3970400"/>
            <a:ext cx="808349" cy="808349"/>
          </a:xfrm>
          <a:prstGeom prst="rect">
            <a:avLst/>
          </a:prstGeom>
          <a:noFill/>
          <a:ln>
            <a:noFill/>
          </a:ln>
        </p:spPr>
      </p:pic>
      <p:sp>
        <p:nvSpPr>
          <p:cNvPr id="129" name="Google Shape;129;p18"/>
          <p:cNvSpPr txBox="1"/>
          <p:nvPr/>
        </p:nvSpPr>
        <p:spPr>
          <a:xfrm>
            <a:off x="376375" y="1544925"/>
            <a:ext cx="7914600" cy="4617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any active entities (protection domains) in the system</a:t>
            </a:r>
            <a:endParaRPr sz="1800">
              <a:solidFill>
                <a:schemeClr val="dk1"/>
              </a:solidFill>
            </a:endParaRPr>
          </a:p>
        </p:txBody>
      </p:sp>
      <p:sp>
        <p:nvSpPr>
          <p:cNvPr id="130" name="Google Shape;130;p18"/>
          <p:cNvSpPr txBox="1"/>
          <p:nvPr/>
        </p:nvSpPr>
        <p:spPr>
          <a:xfrm>
            <a:off x="368975" y="2006625"/>
            <a:ext cx="7914600" cy="4617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the resources which they have access to, can allocate</a:t>
            </a:r>
            <a:endParaRPr sz="1800">
              <a:solidFill>
                <a:schemeClr val="dk1"/>
              </a:solidFill>
            </a:endParaRPr>
          </a:p>
        </p:txBody>
      </p:sp>
      <p:pic>
        <p:nvPicPr>
          <p:cNvPr id="131" name="Google Shape;131;p18"/>
          <p:cNvPicPr preferRelativeResize="0"/>
          <p:nvPr/>
        </p:nvPicPr>
        <p:blipFill>
          <a:blip r:embed="rId4">
            <a:alphaModFix/>
          </a:blip>
          <a:stretch>
            <a:fillRect/>
          </a:stretch>
        </p:blipFill>
        <p:spPr>
          <a:xfrm rot="5400000">
            <a:off x="7094350" y="3892850"/>
            <a:ext cx="963425" cy="963425"/>
          </a:xfrm>
          <a:prstGeom prst="rect">
            <a:avLst/>
          </a:prstGeom>
          <a:noFill/>
          <a:ln>
            <a:noFill/>
          </a:ln>
        </p:spPr>
      </p:pic>
      <p:sp>
        <p:nvSpPr>
          <p:cNvPr id="132" name="Google Shape;132;p18"/>
          <p:cNvSpPr txBox="1"/>
          <p:nvPr/>
        </p:nvSpPr>
        <p:spPr>
          <a:xfrm>
            <a:off x="368975" y="2468150"/>
            <a:ext cx="7914600" cy="4617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how protection domains interact with one another</a:t>
            </a:r>
            <a:endParaRPr sz="1800">
              <a:solidFill>
                <a:schemeClr val="dk1"/>
              </a:solidFill>
            </a:endParaRPr>
          </a:p>
        </p:txBody>
      </p:sp>
      <p:grpSp>
        <p:nvGrpSpPr>
          <p:cNvPr id="133" name="Google Shape;133;p18"/>
          <p:cNvGrpSpPr/>
          <p:nvPr/>
        </p:nvGrpSpPr>
        <p:grpSpPr>
          <a:xfrm>
            <a:off x="1253525" y="4088250"/>
            <a:ext cx="1301100" cy="384900"/>
            <a:chOff x="1253525" y="4088250"/>
            <a:chExt cx="1301100" cy="384900"/>
          </a:xfrm>
        </p:grpSpPr>
        <p:cxnSp>
          <p:nvCxnSpPr>
            <p:cNvPr id="134" name="Google Shape;134;p18"/>
            <p:cNvCxnSpPr>
              <a:stCxn id="128" idx="3"/>
              <a:endCxn id="135" idx="1"/>
            </p:cNvCxnSpPr>
            <p:nvPr/>
          </p:nvCxnSpPr>
          <p:spPr>
            <a:xfrm>
              <a:off x="1253525" y="4374575"/>
              <a:ext cx="1301100" cy="0"/>
            </a:xfrm>
            <a:prstGeom prst="straightConnector1">
              <a:avLst/>
            </a:prstGeom>
            <a:noFill/>
            <a:ln w="9525" cap="flat" cmpd="sng">
              <a:solidFill>
                <a:schemeClr val="dk2"/>
              </a:solidFill>
              <a:prstDash val="solid"/>
              <a:round/>
              <a:headEnd type="none" w="med" len="med"/>
              <a:tailEnd type="triangle" w="med" len="med"/>
            </a:ln>
          </p:spPr>
        </p:cxnSp>
        <p:sp>
          <p:nvSpPr>
            <p:cNvPr id="136" name="Google Shape;136;p18"/>
            <p:cNvSpPr txBox="1"/>
            <p:nvPr/>
          </p:nvSpPr>
          <p:spPr>
            <a:xfrm>
              <a:off x="1564600" y="4088250"/>
              <a:ext cx="5325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hold</a:t>
              </a:r>
              <a:endParaRPr sz="1300">
                <a:solidFill>
                  <a:schemeClr val="dk2"/>
                </a:solidFill>
              </a:endParaRPr>
            </a:p>
          </p:txBody>
        </p:sp>
      </p:grpSp>
      <p:pic>
        <p:nvPicPr>
          <p:cNvPr id="137" name="Google Shape;137;p18"/>
          <p:cNvPicPr preferRelativeResize="0"/>
          <p:nvPr/>
        </p:nvPicPr>
        <p:blipFill>
          <a:blip r:embed="rId3">
            <a:alphaModFix/>
          </a:blip>
          <a:stretch>
            <a:fillRect/>
          </a:stretch>
        </p:blipFill>
        <p:spPr>
          <a:xfrm>
            <a:off x="4783313" y="3970400"/>
            <a:ext cx="808349" cy="808349"/>
          </a:xfrm>
          <a:prstGeom prst="rect">
            <a:avLst/>
          </a:prstGeom>
          <a:noFill/>
          <a:ln>
            <a:noFill/>
          </a:ln>
        </p:spPr>
      </p:pic>
      <p:pic>
        <p:nvPicPr>
          <p:cNvPr id="135" name="Google Shape;135;p18"/>
          <p:cNvPicPr preferRelativeResize="0"/>
          <p:nvPr/>
        </p:nvPicPr>
        <p:blipFill>
          <a:blip r:embed="rId5">
            <a:alphaModFix/>
          </a:blip>
          <a:stretch>
            <a:fillRect/>
          </a:stretch>
        </p:blipFill>
        <p:spPr>
          <a:xfrm>
            <a:off x="2554625" y="3970400"/>
            <a:ext cx="808349" cy="808349"/>
          </a:xfrm>
          <a:prstGeom prst="rect">
            <a:avLst/>
          </a:prstGeom>
          <a:noFill/>
          <a:ln>
            <a:noFill/>
          </a:ln>
        </p:spPr>
      </p:pic>
      <p:grpSp>
        <p:nvGrpSpPr>
          <p:cNvPr id="138" name="Google Shape;138;p18"/>
          <p:cNvGrpSpPr/>
          <p:nvPr/>
        </p:nvGrpSpPr>
        <p:grpSpPr>
          <a:xfrm>
            <a:off x="849350" y="3457225"/>
            <a:ext cx="4338000" cy="513775"/>
            <a:chOff x="849350" y="3457225"/>
            <a:chExt cx="4338000" cy="513775"/>
          </a:xfrm>
        </p:grpSpPr>
        <p:cxnSp>
          <p:nvCxnSpPr>
            <p:cNvPr id="139" name="Google Shape;139;p18"/>
            <p:cNvCxnSpPr>
              <a:stCxn id="128" idx="0"/>
              <a:endCxn id="137" idx="0"/>
            </p:cNvCxnSpPr>
            <p:nvPr/>
          </p:nvCxnSpPr>
          <p:spPr>
            <a:xfrm rot="-5400000" flipH="1">
              <a:off x="3018050" y="1801700"/>
              <a:ext cx="600" cy="4338000"/>
            </a:xfrm>
            <a:prstGeom prst="curvedConnector3">
              <a:avLst>
                <a:gd name="adj1" fmla="val -39687500"/>
              </a:avLst>
            </a:prstGeom>
            <a:noFill/>
            <a:ln w="9525" cap="flat" cmpd="sng">
              <a:solidFill>
                <a:schemeClr val="dk2"/>
              </a:solidFill>
              <a:prstDash val="solid"/>
              <a:round/>
              <a:headEnd type="none" w="med" len="med"/>
              <a:tailEnd type="triangle" w="med" len="med"/>
            </a:ln>
          </p:spPr>
        </p:cxnSp>
        <p:sp>
          <p:nvSpPr>
            <p:cNvPr id="140" name="Google Shape;140;p18"/>
            <p:cNvSpPr txBox="1"/>
            <p:nvPr/>
          </p:nvSpPr>
          <p:spPr>
            <a:xfrm>
              <a:off x="2719075" y="3457225"/>
              <a:ext cx="13011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request</a:t>
              </a:r>
              <a:endParaRPr sz="1000">
                <a:solidFill>
                  <a:schemeClr val="dk2"/>
                </a:solidFill>
              </a:endParaRPr>
            </a:p>
          </p:txBody>
        </p:sp>
      </p:grpSp>
      <p:grpSp>
        <p:nvGrpSpPr>
          <p:cNvPr id="141" name="Google Shape;141;p18"/>
          <p:cNvGrpSpPr/>
          <p:nvPr/>
        </p:nvGrpSpPr>
        <p:grpSpPr>
          <a:xfrm>
            <a:off x="5591662" y="4021350"/>
            <a:ext cx="1502700" cy="384900"/>
            <a:chOff x="5591662" y="4021350"/>
            <a:chExt cx="1502700" cy="384900"/>
          </a:xfrm>
        </p:grpSpPr>
        <p:cxnSp>
          <p:nvCxnSpPr>
            <p:cNvPr id="142" name="Google Shape;142;p18"/>
            <p:cNvCxnSpPr>
              <a:stCxn id="137" idx="3"/>
              <a:endCxn id="131" idx="2"/>
            </p:cNvCxnSpPr>
            <p:nvPr/>
          </p:nvCxnSpPr>
          <p:spPr>
            <a:xfrm>
              <a:off x="5591662" y="4374575"/>
              <a:ext cx="1502700" cy="0"/>
            </a:xfrm>
            <a:prstGeom prst="straightConnector1">
              <a:avLst/>
            </a:prstGeom>
            <a:noFill/>
            <a:ln w="9525" cap="flat" cmpd="sng">
              <a:solidFill>
                <a:schemeClr val="dk2"/>
              </a:solidFill>
              <a:prstDash val="solid"/>
              <a:round/>
              <a:headEnd type="none" w="med" len="med"/>
              <a:tailEnd type="triangle" w="med" len="med"/>
            </a:ln>
          </p:spPr>
        </p:cxnSp>
        <p:sp>
          <p:nvSpPr>
            <p:cNvPr id="143" name="Google Shape;143;p18"/>
            <p:cNvSpPr txBox="1"/>
            <p:nvPr/>
          </p:nvSpPr>
          <p:spPr>
            <a:xfrm>
              <a:off x="6068350" y="4021350"/>
              <a:ext cx="5325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hold</a:t>
              </a:r>
              <a:endParaRPr sz="1300">
                <a:solidFill>
                  <a:schemeClr val="dk2"/>
                </a:solidFill>
              </a:endParaRPr>
            </a:p>
          </p:txBody>
        </p:sp>
      </p:grpSp>
      <p:sp>
        <p:nvSpPr>
          <p:cNvPr id="144" name="Google Shape;144;p18"/>
          <p:cNvSpPr txBox="1"/>
          <p:nvPr/>
        </p:nvSpPr>
        <p:spPr>
          <a:xfrm>
            <a:off x="368975" y="2886488"/>
            <a:ext cx="7914600" cy="4617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0"/>
              </a:spcBef>
              <a:spcAft>
                <a:spcPts val="0"/>
              </a:spcAft>
              <a:buClr>
                <a:schemeClr val="dk1"/>
              </a:buClr>
              <a:buSzPts val="1800"/>
              <a:buChar char="●"/>
            </a:pPr>
            <a:r>
              <a:rPr lang="en" sz="1800">
                <a:solidFill>
                  <a:schemeClr val="dk1"/>
                </a:solidFill>
                <a:latin typeface="Roboto"/>
                <a:ea typeface="Roboto"/>
                <a:cs typeface="Roboto"/>
                <a:sym typeface="Roboto"/>
              </a:rPr>
              <a:t>how protection domains may share resources</a:t>
            </a:r>
            <a:endParaRPr sz="1800">
              <a:solidFill>
                <a:schemeClr val="dk1"/>
              </a:solidFill>
              <a:latin typeface="Roboto"/>
              <a:ea typeface="Roboto"/>
              <a:cs typeface="Roboto"/>
              <a:sym typeface="Roboto"/>
            </a:endParaRPr>
          </a:p>
        </p:txBody>
      </p:sp>
      <p:grpSp>
        <p:nvGrpSpPr>
          <p:cNvPr id="145" name="Google Shape;145;p18"/>
          <p:cNvGrpSpPr/>
          <p:nvPr/>
        </p:nvGrpSpPr>
        <p:grpSpPr>
          <a:xfrm>
            <a:off x="3363113" y="4088250"/>
            <a:ext cx="1420200" cy="384900"/>
            <a:chOff x="3363113" y="4088250"/>
            <a:chExt cx="1420200" cy="384900"/>
          </a:xfrm>
        </p:grpSpPr>
        <p:cxnSp>
          <p:nvCxnSpPr>
            <p:cNvPr id="146" name="Google Shape;146;p18"/>
            <p:cNvCxnSpPr>
              <a:stCxn id="137" idx="1"/>
              <a:endCxn id="135" idx="3"/>
            </p:cNvCxnSpPr>
            <p:nvPr/>
          </p:nvCxnSpPr>
          <p:spPr>
            <a:xfrm rot="10800000">
              <a:off x="3363113" y="4374575"/>
              <a:ext cx="1420200" cy="0"/>
            </a:xfrm>
            <a:prstGeom prst="straightConnector1">
              <a:avLst/>
            </a:prstGeom>
            <a:noFill/>
            <a:ln w="9525" cap="flat" cmpd="sng">
              <a:solidFill>
                <a:schemeClr val="dk2"/>
              </a:solidFill>
              <a:prstDash val="solid"/>
              <a:round/>
              <a:headEnd type="none" w="med" len="med"/>
              <a:tailEnd type="triangle" w="med" len="med"/>
            </a:ln>
          </p:spPr>
        </p:cxnSp>
        <p:sp>
          <p:nvSpPr>
            <p:cNvPr id="147" name="Google Shape;147;p18"/>
            <p:cNvSpPr txBox="1"/>
            <p:nvPr/>
          </p:nvSpPr>
          <p:spPr>
            <a:xfrm>
              <a:off x="3806900" y="4088250"/>
              <a:ext cx="5325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hold</a:t>
              </a:r>
              <a:endParaRPr sz="1300">
                <a:solidFill>
                  <a:schemeClr val="dk2"/>
                </a:solidFill>
              </a:endParaRPr>
            </a:p>
          </p:txBody>
        </p:sp>
      </p:grpSp>
      <p:sp>
        <p:nvSpPr>
          <p:cNvPr id="148" name="Google Shape;148;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152"/>
        <p:cNvGrpSpPr/>
        <p:nvPr/>
      </p:nvGrpSpPr>
      <p:grpSpPr>
        <a:xfrm>
          <a:off x="0" y="0"/>
          <a:ext cx="0" cy="0"/>
          <a:chOff x="0" y="0"/>
          <a:chExt cx="0" cy="0"/>
        </a:xfrm>
      </p:grpSpPr>
      <p:sp>
        <p:nvSpPr>
          <p:cNvPr id="153" name="Google Shape;153;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do we need a custom OS?</a:t>
            </a:r>
            <a:endParaRPr/>
          </a:p>
        </p:txBody>
      </p:sp>
      <p:sp>
        <p:nvSpPr>
          <p:cNvPr id="154" name="Google Shape;154;p19"/>
          <p:cNvSpPr txBox="1">
            <a:spLocks noGrp="1"/>
          </p:cNvSpPr>
          <p:nvPr>
            <p:ph type="body" idx="1"/>
          </p:nvPr>
        </p:nvSpPr>
        <p:spPr>
          <a:xfrm>
            <a:off x="311700" y="1152475"/>
            <a:ext cx="8520600" cy="2189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rgbClr val="000000"/>
              </a:buClr>
              <a:buSzPts val="1800"/>
              <a:buAutoNum type="arabicPeriod"/>
            </a:pPr>
            <a:r>
              <a:rPr lang="en">
                <a:solidFill>
                  <a:srgbClr val="000000"/>
                </a:solidFill>
              </a:rPr>
              <a:t>We need a system from which we can extract an OSmosis model state</a:t>
            </a:r>
            <a:endParaRPr>
              <a:solidFill>
                <a:srgbClr val="000000"/>
              </a:solidFill>
            </a:endParaRPr>
          </a:p>
          <a:p>
            <a:pPr marL="457200" lvl="0" indent="-342900" algn="l" rtl="0">
              <a:spcBef>
                <a:spcPts val="0"/>
              </a:spcBef>
              <a:spcAft>
                <a:spcPts val="0"/>
              </a:spcAft>
              <a:buClr>
                <a:srgbClr val="000000"/>
              </a:buClr>
              <a:buSzPts val="1800"/>
              <a:buAutoNum type="arabicPeriod"/>
            </a:pPr>
            <a:r>
              <a:rPr lang="en">
                <a:solidFill>
                  <a:srgbClr val="000000"/>
                </a:solidFill>
              </a:rPr>
              <a:t>We want to demonstrate that we can build various isolation abstractions (e.g. processes, threads, virtual machines) in an abstract and unified way </a:t>
            </a:r>
            <a:endParaRPr>
              <a:solidFill>
                <a:srgbClr val="000000"/>
              </a:solidFill>
            </a:endParaRPr>
          </a:p>
        </p:txBody>
      </p:sp>
      <p:sp>
        <p:nvSpPr>
          <p:cNvPr id="155" name="Google Shape;155;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65131"/>
              <a:buFont typeface="Arial"/>
              <a:buNone/>
            </a:pPr>
            <a:r>
              <a:rPr lang="en"/>
              <a:t>What do we need from a custom OS?</a:t>
            </a:r>
            <a:endParaRPr sz="1688"/>
          </a:p>
        </p:txBody>
      </p:sp>
      <p:cxnSp>
        <p:nvCxnSpPr>
          <p:cNvPr id="161" name="Google Shape;161;p20"/>
          <p:cNvCxnSpPr/>
          <p:nvPr/>
        </p:nvCxnSpPr>
        <p:spPr>
          <a:xfrm>
            <a:off x="1573125" y="3015238"/>
            <a:ext cx="1731300" cy="0"/>
          </a:xfrm>
          <a:prstGeom prst="straightConnector1">
            <a:avLst/>
          </a:prstGeom>
          <a:noFill/>
          <a:ln w="19050" cap="flat" cmpd="sng">
            <a:solidFill>
              <a:schemeClr val="dk2"/>
            </a:solidFill>
            <a:prstDash val="solid"/>
            <a:round/>
            <a:headEnd type="none" w="med" len="med"/>
            <a:tailEnd type="triangle" w="med" len="med"/>
          </a:ln>
        </p:spPr>
      </p:cxnSp>
      <p:sp>
        <p:nvSpPr>
          <p:cNvPr id="162" name="Google Shape;162;p20"/>
          <p:cNvSpPr txBox="1"/>
          <p:nvPr/>
        </p:nvSpPr>
        <p:spPr>
          <a:xfrm>
            <a:off x="2028538" y="4077288"/>
            <a:ext cx="827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config</a:t>
            </a:r>
            <a:endParaRPr sz="1800">
              <a:solidFill>
                <a:schemeClr val="dk2"/>
              </a:solidFill>
            </a:endParaRPr>
          </a:p>
        </p:txBody>
      </p:sp>
      <p:pic>
        <p:nvPicPr>
          <p:cNvPr id="163" name="Google Shape;163;p20"/>
          <p:cNvPicPr preferRelativeResize="0"/>
          <p:nvPr/>
        </p:nvPicPr>
        <p:blipFill>
          <a:blip r:embed="rId3">
            <a:alphaModFix/>
          </a:blip>
          <a:stretch>
            <a:fillRect/>
          </a:stretch>
        </p:blipFill>
        <p:spPr>
          <a:xfrm>
            <a:off x="2030425" y="3189918"/>
            <a:ext cx="976026" cy="975991"/>
          </a:xfrm>
          <a:prstGeom prst="rect">
            <a:avLst/>
          </a:prstGeom>
          <a:noFill/>
          <a:ln>
            <a:noFill/>
          </a:ln>
        </p:spPr>
      </p:pic>
      <p:cxnSp>
        <p:nvCxnSpPr>
          <p:cNvPr id="164" name="Google Shape;164;p20"/>
          <p:cNvCxnSpPr/>
          <p:nvPr/>
        </p:nvCxnSpPr>
        <p:spPr>
          <a:xfrm>
            <a:off x="5462238" y="3015238"/>
            <a:ext cx="1731300" cy="0"/>
          </a:xfrm>
          <a:prstGeom prst="straightConnector1">
            <a:avLst/>
          </a:prstGeom>
          <a:noFill/>
          <a:ln w="19050" cap="flat" cmpd="sng">
            <a:solidFill>
              <a:schemeClr val="dk2"/>
            </a:solidFill>
            <a:prstDash val="solid"/>
            <a:round/>
            <a:headEnd type="none" w="med" len="med"/>
            <a:tailEnd type="triangle" w="med" len="med"/>
          </a:ln>
        </p:spPr>
      </p:cxnSp>
      <p:pic>
        <p:nvPicPr>
          <p:cNvPr id="165" name="Google Shape;165;p20"/>
          <p:cNvPicPr preferRelativeResize="0"/>
          <p:nvPr/>
        </p:nvPicPr>
        <p:blipFill>
          <a:blip r:embed="rId4">
            <a:alphaModFix/>
          </a:blip>
          <a:stretch>
            <a:fillRect/>
          </a:stretch>
        </p:blipFill>
        <p:spPr>
          <a:xfrm>
            <a:off x="7444300" y="2527213"/>
            <a:ext cx="976025" cy="976025"/>
          </a:xfrm>
          <a:prstGeom prst="rect">
            <a:avLst/>
          </a:prstGeom>
          <a:noFill/>
          <a:ln>
            <a:noFill/>
          </a:ln>
        </p:spPr>
      </p:pic>
      <p:sp>
        <p:nvSpPr>
          <p:cNvPr id="166" name="Google Shape;166;p20"/>
          <p:cNvSpPr txBox="1"/>
          <p:nvPr/>
        </p:nvSpPr>
        <p:spPr>
          <a:xfrm>
            <a:off x="7101000" y="3633150"/>
            <a:ext cx="1731300" cy="673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Process-like PD</a:t>
            </a:r>
            <a:endParaRPr sz="1800">
              <a:solidFill>
                <a:schemeClr val="dk2"/>
              </a:solidFill>
            </a:endParaRPr>
          </a:p>
        </p:txBody>
      </p:sp>
      <p:grpSp>
        <p:nvGrpSpPr>
          <p:cNvPr id="167" name="Google Shape;167;p20"/>
          <p:cNvGrpSpPr/>
          <p:nvPr/>
        </p:nvGrpSpPr>
        <p:grpSpPr>
          <a:xfrm>
            <a:off x="71163" y="2225415"/>
            <a:ext cx="5333063" cy="2000235"/>
            <a:chOff x="71163" y="2225415"/>
            <a:chExt cx="5333063" cy="2000235"/>
          </a:xfrm>
        </p:grpSpPr>
        <p:pic>
          <p:nvPicPr>
            <p:cNvPr id="168" name="Google Shape;168;p20"/>
            <p:cNvPicPr preferRelativeResize="0"/>
            <p:nvPr/>
          </p:nvPicPr>
          <p:blipFill>
            <a:blip r:embed="rId4">
              <a:alphaModFix/>
            </a:blip>
            <a:stretch>
              <a:fillRect/>
            </a:stretch>
          </p:blipFill>
          <p:spPr>
            <a:xfrm>
              <a:off x="228600" y="2527213"/>
              <a:ext cx="976025" cy="976025"/>
            </a:xfrm>
            <a:prstGeom prst="rect">
              <a:avLst/>
            </a:prstGeom>
            <a:noFill/>
            <a:ln>
              <a:noFill/>
            </a:ln>
          </p:spPr>
        </p:pic>
        <p:sp>
          <p:nvSpPr>
            <p:cNvPr id="169" name="Google Shape;169;p20"/>
            <p:cNvSpPr txBox="1"/>
            <p:nvPr/>
          </p:nvSpPr>
          <p:spPr>
            <a:xfrm>
              <a:off x="71163" y="3503250"/>
              <a:ext cx="1290900" cy="72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App</a:t>
              </a:r>
              <a:endParaRPr sz="1800">
                <a:solidFill>
                  <a:schemeClr val="dk2"/>
                </a:solidFill>
              </a:endParaRPr>
            </a:p>
          </p:txBody>
        </p:sp>
        <p:pic>
          <p:nvPicPr>
            <p:cNvPr id="170" name="Google Shape;170;p20"/>
            <p:cNvPicPr preferRelativeResize="0"/>
            <p:nvPr/>
          </p:nvPicPr>
          <p:blipFill>
            <a:blip r:embed="rId5">
              <a:alphaModFix/>
            </a:blip>
            <a:stretch>
              <a:fillRect/>
            </a:stretch>
          </p:blipFill>
          <p:spPr>
            <a:xfrm>
              <a:off x="3672925" y="2225415"/>
              <a:ext cx="1538550" cy="1538525"/>
            </a:xfrm>
            <a:prstGeom prst="rect">
              <a:avLst/>
            </a:prstGeom>
            <a:noFill/>
            <a:ln>
              <a:noFill/>
            </a:ln>
          </p:spPr>
        </p:pic>
        <p:sp>
          <p:nvSpPr>
            <p:cNvPr id="171" name="Google Shape;171;p20"/>
            <p:cNvSpPr txBox="1"/>
            <p:nvPr/>
          </p:nvSpPr>
          <p:spPr>
            <a:xfrm>
              <a:off x="3672925" y="3763950"/>
              <a:ext cx="17313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PD Creation</a:t>
              </a:r>
              <a:endParaRPr sz="1800">
                <a:solidFill>
                  <a:schemeClr val="dk2"/>
                </a:solidFill>
              </a:endParaRPr>
            </a:p>
          </p:txBody>
        </p:sp>
      </p:grpSp>
      <p:sp>
        <p:nvSpPr>
          <p:cNvPr id="172" name="Google Shape;172;p20"/>
          <p:cNvSpPr/>
          <p:nvPr/>
        </p:nvSpPr>
        <p:spPr>
          <a:xfrm>
            <a:off x="6079925" y="223725"/>
            <a:ext cx="2548800" cy="895500"/>
          </a:xfrm>
          <a:prstGeom prst="foldedCorner">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t>A protection domain (PD) is simply an active entity in the system that runs some code</a:t>
            </a:r>
            <a:endParaRPr/>
          </a:p>
        </p:txBody>
      </p:sp>
      <p:sp>
        <p:nvSpPr>
          <p:cNvPr id="173" name="Google Shape;173;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a:t>
            </a:fld>
            <a:endParaRPr/>
          </a:p>
        </p:txBody>
      </p:sp>
      <p:sp>
        <p:nvSpPr>
          <p:cNvPr id="174" name="Google Shape;174;p20"/>
          <p:cNvSpPr txBox="1">
            <a:spLocks noGrp="1"/>
          </p:cNvSpPr>
          <p:nvPr>
            <p:ph type="body" idx="1"/>
          </p:nvPr>
        </p:nvSpPr>
        <p:spPr>
          <a:xfrm>
            <a:off x="311700" y="1152475"/>
            <a:ext cx="8112300" cy="462300"/>
          </a:xfrm>
          <a:prstGeom prst="rect">
            <a:avLst/>
          </a:prstGeom>
        </p:spPr>
        <p:txBody>
          <a:bodyPr spcFirstLastPara="1" wrap="square" lIns="91425" tIns="91425" rIns="91425" bIns="91425" anchor="t" anchorCtr="0">
            <a:normAutofit fontScale="40000" lnSpcReduction="20000"/>
          </a:bodyPr>
          <a:lstStyle/>
          <a:p>
            <a:pPr marL="0" lvl="0" indent="0" algn="l" rtl="0">
              <a:spcBef>
                <a:spcPts val="0"/>
              </a:spcBef>
              <a:spcAft>
                <a:spcPts val="1200"/>
              </a:spcAft>
              <a:buNone/>
            </a:pPr>
            <a:r>
              <a:rPr lang="en"/>
              <a:t>2. Ability to build isolation abstractions in a unified way</a:t>
            </a:r>
            <a:endParaRPr/>
          </a:p>
        </p:txBody>
      </p:sp>
      <p:sp>
        <p:nvSpPr>
          <p:cNvPr id="175" name="Google Shape;175;p20"/>
          <p:cNvSpPr/>
          <p:nvPr/>
        </p:nvSpPr>
        <p:spPr>
          <a:xfrm>
            <a:off x="5038175" y="1584675"/>
            <a:ext cx="1970100" cy="1038300"/>
          </a:xfrm>
          <a:prstGeom prst="cloudCallout">
            <a:avLst>
              <a:gd name="adj1" fmla="val -67097"/>
              <a:gd name="adj2" fmla="val 64309"/>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Hmm… This looks like a process</a:t>
            </a:r>
            <a:endParaRPr/>
          </a:p>
        </p:txBody>
      </p:sp>
      <p:sp>
        <p:nvSpPr>
          <p:cNvPr id="176" name="Google Shape;176;p20"/>
          <p:cNvSpPr/>
          <p:nvPr/>
        </p:nvSpPr>
        <p:spPr>
          <a:xfrm>
            <a:off x="395300" y="1872525"/>
            <a:ext cx="1675200" cy="462600"/>
          </a:xfrm>
          <a:prstGeom prst="wedgeRoundRectCallout">
            <a:avLst>
              <a:gd name="adj1" fmla="val -51101"/>
              <a:gd name="adj2" fmla="val 112246"/>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Create PD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72"/>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17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Minimum specification of a Configuration</a:t>
            </a:r>
            <a:endParaRPr/>
          </a:p>
        </p:txBody>
      </p:sp>
      <p:sp>
        <p:nvSpPr>
          <p:cNvPr id="182" name="Google Shape;182;p21"/>
          <p:cNvSpPr txBox="1">
            <a:spLocks noGrp="1"/>
          </p:cNvSpPr>
          <p:nvPr>
            <p:ph type="body" idx="1"/>
          </p:nvPr>
        </p:nvSpPr>
        <p:spPr>
          <a:xfrm>
            <a:off x="311700" y="1152475"/>
            <a:ext cx="8112300" cy="462300"/>
          </a:xfrm>
          <a:prstGeom prst="rect">
            <a:avLst/>
          </a:prstGeom>
        </p:spPr>
        <p:txBody>
          <a:bodyPr spcFirstLastPara="1" wrap="square" lIns="91425" tIns="91425" rIns="91425" bIns="91425" anchor="t" anchorCtr="0">
            <a:normAutofit fontScale="40000" lnSpcReduction="20000"/>
          </a:bodyPr>
          <a:lstStyle/>
          <a:p>
            <a:pPr marL="0" lvl="0" indent="0" algn="l" rtl="0">
              <a:spcBef>
                <a:spcPts val="0"/>
              </a:spcBef>
              <a:spcAft>
                <a:spcPts val="1200"/>
              </a:spcAft>
              <a:buNone/>
            </a:pPr>
            <a:r>
              <a:rPr lang="en"/>
              <a:t>The core components required for any PD to run:</a:t>
            </a:r>
            <a:endParaRPr/>
          </a:p>
        </p:txBody>
      </p:sp>
      <p:grpSp>
        <p:nvGrpSpPr>
          <p:cNvPr id="183" name="Google Shape;183;p21"/>
          <p:cNvGrpSpPr/>
          <p:nvPr/>
        </p:nvGrpSpPr>
        <p:grpSpPr>
          <a:xfrm>
            <a:off x="402600" y="1872500"/>
            <a:ext cx="1750200" cy="2728800"/>
            <a:chOff x="829900" y="1881400"/>
            <a:chExt cx="1750200" cy="2728800"/>
          </a:xfrm>
        </p:grpSpPr>
        <p:sp>
          <p:nvSpPr>
            <p:cNvPr id="184" name="Google Shape;184;p21"/>
            <p:cNvSpPr/>
            <p:nvPr/>
          </p:nvSpPr>
          <p:spPr>
            <a:xfrm>
              <a:off x="1109650" y="2343100"/>
              <a:ext cx="1190700" cy="2267100"/>
            </a:xfrm>
            <a:prstGeom prst="snip1Rect">
              <a:avLst>
                <a:gd name="adj" fmla="val 16667"/>
              </a:avLst>
            </a:prstGeom>
            <a:solidFill>
              <a:srgbClr val="FFE6CD"/>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5" name="Google Shape;185;p21"/>
            <p:cNvSpPr txBox="1"/>
            <p:nvPr/>
          </p:nvSpPr>
          <p:spPr>
            <a:xfrm>
              <a:off x="829900" y="1881400"/>
              <a:ext cx="17502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Address space</a:t>
              </a:r>
              <a:endParaRPr sz="1800">
                <a:solidFill>
                  <a:schemeClr val="dk2"/>
                </a:solidFill>
              </a:endParaRPr>
            </a:p>
          </p:txBody>
        </p:sp>
      </p:grpSp>
      <p:grpSp>
        <p:nvGrpSpPr>
          <p:cNvPr id="186" name="Google Shape;186;p21"/>
          <p:cNvGrpSpPr/>
          <p:nvPr/>
        </p:nvGrpSpPr>
        <p:grpSpPr>
          <a:xfrm>
            <a:off x="2264050" y="2210975"/>
            <a:ext cx="1967400" cy="2104925"/>
            <a:chOff x="2264050" y="2210975"/>
            <a:chExt cx="1967400" cy="2104925"/>
          </a:xfrm>
        </p:grpSpPr>
        <p:sp>
          <p:nvSpPr>
            <p:cNvPr id="187" name="Google Shape;187;p21"/>
            <p:cNvSpPr/>
            <p:nvPr/>
          </p:nvSpPr>
          <p:spPr>
            <a:xfrm>
              <a:off x="2264050" y="2712100"/>
              <a:ext cx="1967400" cy="1603800"/>
            </a:xfrm>
            <a:prstGeom prst="rect">
              <a:avLst/>
            </a:prstGeom>
            <a:solidFill>
              <a:schemeClr val="l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88" name="Google Shape;188;p21"/>
            <p:cNvGrpSpPr/>
            <p:nvPr/>
          </p:nvGrpSpPr>
          <p:grpSpPr>
            <a:xfrm>
              <a:off x="2435700" y="2210975"/>
              <a:ext cx="1681725" cy="1952600"/>
              <a:chOff x="3414925" y="1952825"/>
              <a:chExt cx="1681725" cy="1952600"/>
            </a:xfrm>
          </p:grpSpPr>
          <p:sp>
            <p:nvSpPr>
              <p:cNvPr id="189" name="Google Shape;189;p21"/>
              <p:cNvSpPr/>
              <p:nvPr/>
            </p:nvSpPr>
            <p:spPr>
              <a:xfrm>
                <a:off x="3468950" y="2527873"/>
                <a:ext cx="657000" cy="657000"/>
              </a:xfrm>
              <a:prstGeom prst="ellipse">
                <a:avLst/>
              </a:prstGeom>
              <a:solidFill>
                <a:srgbClr val="D9E8F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0" name="Google Shape;190;p21"/>
              <p:cNvSpPr/>
              <p:nvPr/>
            </p:nvSpPr>
            <p:spPr>
              <a:xfrm>
                <a:off x="4286950" y="2938375"/>
                <a:ext cx="809700" cy="809700"/>
              </a:xfrm>
              <a:prstGeom prst="diamond">
                <a:avLst/>
              </a:prstGeom>
              <a:solidFill>
                <a:srgbClr val="FFE6CD"/>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1" name="Google Shape;191;p21"/>
              <p:cNvSpPr txBox="1"/>
              <p:nvPr/>
            </p:nvSpPr>
            <p:spPr>
              <a:xfrm>
                <a:off x="3414925" y="1952825"/>
                <a:ext cx="1309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Resources</a:t>
                </a:r>
                <a:endParaRPr sz="1800">
                  <a:solidFill>
                    <a:schemeClr val="dk2"/>
                  </a:solidFill>
                </a:endParaRPr>
              </a:p>
            </p:txBody>
          </p:sp>
          <p:sp>
            <p:nvSpPr>
              <p:cNvPr id="192" name="Google Shape;192;p21"/>
              <p:cNvSpPr/>
              <p:nvPr/>
            </p:nvSpPr>
            <p:spPr>
              <a:xfrm>
                <a:off x="3468950" y="3298225"/>
                <a:ext cx="809700" cy="607200"/>
              </a:xfrm>
              <a:prstGeom prst="trapezoid">
                <a:avLst>
                  <a:gd name="adj" fmla="val 25000"/>
                </a:avLst>
              </a:prstGeom>
              <a:solidFill>
                <a:srgbClr val="D5E8D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grpSp>
        <p:nvGrpSpPr>
          <p:cNvPr id="193" name="Google Shape;193;p21"/>
          <p:cNvGrpSpPr/>
          <p:nvPr/>
        </p:nvGrpSpPr>
        <p:grpSpPr>
          <a:xfrm>
            <a:off x="1277763" y="2068338"/>
            <a:ext cx="5123913" cy="2533088"/>
            <a:chOff x="1277763" y="2068338"/>
            <a:chExt cx="5123913" cy="2533088"/>
          </a:xfrm>
        </p:grpSpPr>
        <p:grpSp>
          <p:nvGrpSpPr>
            <p:cNvPr id="194" name="Google Shape;194;p21"/>
            <p:cNvGrpSpPr/>
            <p:nvPr/>
          </p:nvGrpSpPr>
          <p:grpSpPr>
            <a:xfrm>
              <a:off x="4651475" y="2068338"/>
              <a:ext cx="1750200" cy="2079488"/>
              <a:chOff x="6712650" y="2151338"/>
              <a:chExt cx="1750200" cy="2079488"/>
            </a:xfrm>
          </p:grpSpPr>
          <p:sp>
            <p:nvSpPr>
              <p:cNvPr id="195" name="Google Shape;195;p21"/>
              <p:cNvSpPr txBox="1"/>
              <p:nvPr/>
            </p:nvSpPr>
            <p:spPr>
              <a:xfrm>
                <a:off x="6712650" y="2151338"/>
                <a:ext cx="1750200" cy="738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chemeClr val="dk2"/>
                    </a:solidFill>
                  </a:rPr>
                  <a:t>An execution context</a:t>
                </a:r>
                <a:endParaRPr sz="1800">
                  <a:solidFill>
                    <a:schemeClr val="dk2"/>
                  </a:solidFill>
                </a:endParaRPr>
              </a:p>
            </p:txBody>
          </p:sp>
          <p:sp>
            <p:nvSpPr>
              <p:cNvPr id="196" name="Google Shape;196;p21"/>
              <p:cNvSpPr/>
              <p:nvPr/>
            </p:nvSpPr>
            <p:spPr>
              <a:xfrm>
                <a:off x="6766550" y="2954325"/>
                <a:ext cx="1276500" cy="1276500"/>
              </a:xfrm>
              <a:prstGeom prst="cube">
                <a:avLst>
                  <a:gd name="adj" fmla="val 25000"/>
                </a:avLst>
              </a:prstGeom>
              <a:solidFill>
                <a:schemeClr val="l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cxnSp>
          <p:nvCxnSpPr>
            <p:cNvPr id="197" name="Google Shape;197;p21"/>
            <p:cNvCxnSpPr>
              <a:stCxn id="196" idx="2"/>
              <a:endCxn id="187" idx="3"/>
            </p:cNvCxnSpPr>
            <p:nvPr/>
          </p:nvCxnSpPr>
          <p:spPr>
            <a:xfrm rot="10800000">
              <a:off x="4231375" y="3514038"/>
              <a:ext cx="474000" cy="155100"/>
            </a:xfrm>
            <a:prstGeom prst="straightConnector1">
              <a:avLst/>
            </a:prstGeom>
            <a:noFill/>
            <a:ln w="19050" cap="flat" cmpd="sng">
              <a:solidFill>
                <a:schemeClr val="dk2"/>
              </a:solidFill>
              <a:prstDash val="solid"/>
              <a:round/>
              <a:headEnd type="none" w="med" len="med"/>
              <a:tailEnd type="triangle" w="med" len="med"/>
            </a:ln>
          </p:spPr>
        </p:cxnSp>
        <p:cxnSp>
          <p:nvCxnSpPr>
            <p:cNvPr id="198" name="Google Shape;198;p21"/>
            <p:cNvCxnSpPr>
              <a:stCxn id="196" idx="3"/>
              <a:endCxn id="184" idx="1"/>
            </p:cNvCxnSpPr>
            <p:nvPr/>
          </p:nvCxnSpPr>
          <p:spPr>
            <a:xfrm rot="5400000">
              <a:off x="3004113" y="2421475"/>
              <a:ext cx="453600" cy="3906300"/>
            </a:xfrm>
            <a:prstGeom prst="bentConnector3">
              <a:avLst>
                <a:gd name="adj1" fmla="val 152469"/>
              </a:avLst>
            </a:prstGeom>
            <a:noFill/>
            <a:ln w="19050" cap="flat" cmpd="sng">
              <a:solidFill>
                <a:schemeClr val="dk2"/>
              </a:solidFill>
              <a:prstDash val="solid"/>
              <a:round/>
              <a:headEnd type="none" w="med" len="med"/>
              <a:tailEnd type="triangle" w="med" len="med"/>
            </a:ln>
          </p:spPr>
        </p:cxnSp>
      </p:grpSp>
      <p:sp>
        <p:nvSpPr>
          <p:cNvPr id="199" name="Google Shape;199;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a:t>
            </a:fld>
            <a:endParaRPr/>
          </a:p>
        </p:txBody>
      </p:sp>
      <p:grpSp>
        <p:nvGrpSpPr>
          <p:cNvPr id="200" name="Google Shape;200;p21"/>
          <p:cNvGrpSpPr/>
          <p:nvPr/>
        </p:nvGrpSpPr>
        <p:grpSpPr>
          <a:xfrm>
            <a:off x="2894550" y="2035400"/>
            <a:ext cx="5877150" cy="2128200"/>
            <a:chOff x="2894550" y="2035400"/>
            <a:chExt cx="5877150" cy="2128200"/>
          </a:xfrm>
        </p:grpSpPr>
        <p:sp>
          <p:nvSpPr>
            <p:cNvPr id="201" name="Google Shape;201;p21"/>
            <p:cNvSpPr/>
            <p:nvPr/>
          </p:nvSpPr>
          <p:spPr>
            <a:xfrm rot="5400000">
              <a:off x="7502850" y="2609600"/>
              <a:ext cx="480600" cy="1184100"/>
            </a:xfrm>
            <a:prstGeom prst="can">
              <a:avLst>
                <a:gd name="adj" fmla="val 25000"/>
              </a:avLst>
            </a:prstGeom>
            <a:solidFill>
              <a:srgbClr val="FFE6CD"/>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2" name="Google Shape;202;p21"/>
            <p:cNvSpPr/>
            <p:nvPr/>
          </p:nvSpPr>
          <p:spPr>
            <a:xfrm rot="5400000">
              <a:off x="7154400" y="3296300"/>
              <a:ext cx="518700" cy="1184100"/>
            </a:xfrm>
            <a:prstGeom prst="can">
              <a:avLst>
                <a:gd name="adj" fmla="val 25000"/>
              </a:avLst>
            </a:prstGeom>
            <a:solidFill>
              <a:srgbClr val="D5E8D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3" name="Google Shape;203;p21"/>
            <p:cNvSpPr txBox="1"/>
            <p:nvPr/>
          </p:nvSpPr>
          <p:spPr>
            <a:xfrm>
              <a:off x="6821700" y="2035400"/>
              <a:ext cx="19500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Communication channels</a:t>
              </a:r>
              <a:endParaRPr sz="1800">
                <a:solidFill>
                  <a:schemeClr val="dk2"/>
                </a:solidFill>
              </a:endParaRPr>
            </a:p>
          </p:txBody>
        </p:sp>
        <p:cxnSp>
          <p:nvCxnSpPr>
            <p:cNvPr id="204" name="Google Shape;204;p21"/>
            <p:cNvCxnSpPr>
              <a:stCxn id="202" idx="4"/>
              <a:endCxn id="192" idx="2"/>
            </p:cNvCxnSpPr>
            <p:nvPr/>
          </p:nvCxnSpPr>
          <p:spPr>
            <a:xfrm rot="5400000">
              <a:off x="5146200" y="1896050"/>
              <a:ext cx="15900" cy="4519200"/>
            </a:xfrm>
            <a:prstGeom prst="bentConnector3">
              <a:avLst>
                <a:gd name="adj1" fmla="val 2280346"/>
              </a:avLst>
            </a:prstGeom>
            <a:noFill/>
            <a:ln w="19050" cap="flat" cmpd="sng">
              <a:solidFill>
                <a:schemeClr val="dk2"/>
              </a:solidFill>
              <a:prstDash val="solid"/>
              <a:round/>
              <a:headEnd type="none" w="med" len="med"/>
              <a:tailEnd type="triangle" w="med" len="med"/>
            </a:ln>
          </p:spPr>
        </p:cxnSp>
        <p:cxnSp>
          <p:nvCxnSpPr>
            <p:cNvPr id="205" name="Google Shape;205;p21"/>
            <p:cNvCxnSpPr>
              <a:stCxn id="201" idx="1"/>
              <a:endCxn id="190" idx="2"/>
            </p:cNvCxnSpPr>
            <p:nvPr/>
          </p:nvCxnSpPr>
          <p:spPr>
            <a:xfrm flipH="1">
              <a:off x="3712500" y="3201650"/>
              <a:ext cx="4622700" cy="804600"/>
            </a:xfrm>
            <a:prstGeom prst="bentConnector4">
              <a:avLst>
                <a:gd name="adj1" fmla="val -5151"/>
                <a:gd name="adj2" fmla="val 179238"/>
              </a:avLst>
            </a:prstGeom>
            <a:noFill/>
            <a:ln w="19050" cap="flat" cmpd="sng">
              <a:solidFill>
                <a:schemeClr val="dk2"/>
              </a:solidFill>
              <a:prstDash val="solid"/>
              <a:round/>
              <a:headEnd type="none" w="med" len="med"/>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PDs for specialized use-cases</a:t>
            </a:r>
            <a:endParaRPr/>
          </a:p>
        </p:txBody>
      </p:sp>
      <p:sp>
        <p:nvSpPr>
          <p:cNvPr id="211" name="Google Shape;21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10</a:t>
            </a:fld>
            <a:endParaRPr/>
          </a:p>
        </p:txBody>
      </p:sp>
      <p:pic>
        <p:nvPicPr>
          <p:cNvPr id="212" name="Google Shape;212;p22"/>
          <p:cNvPicPr preferRelativeResize="0"/>
          <p:nvPr/>
        </p:nvPicPr>
        <p:blipFill>
          <a:blip r:embed="rId3">
            <a:alphaModFix/>
          </a:blip>
          <a:stretch>
            <a:fillRect/>
          </a:stretch>
        </p:blipFill>
        <p:spPr>
          <a:xfrm>
            <a:off x="228600" y="2527213"/>
            <a:ext cx="976025" cy="976025"/>
          </a:xfrm>
          <a:prstGeom prst="rect">
            <a:avLst/>
          </a:prstGeom>
          <a:noFill/>
          <a:ln>
            <a:noFill/>
          </a:ln>
        </p:spPr>
      </p:pic>
      <p:sp>
        <p:nvSpPr>
          <p:cNvPr id="213" name="Google Shape;213;p22"/>
          <p:cNvSpPr txBox="1"/>
          <p:nvPr/>
        </p:nvSpPr>
        <p:spPr>
          <a:xfrm>
            <a:off x="71163" y="3503250"/>
            <a:ext cx="1290900" cy="72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App</a:t>
            </a:r>
            <a:endParaRPr sz="1800">
              <a:solidFill>
                <a:schemeClr val="dk2"/>
              </a:solidFill>
            </a:endParaRPr>
          </a:p>
        </p:txBody>
      </p:sp>
      <p:pic>
        <p:nvPicPr>
          <p:cNvPr id="214" name="Google Shape;214;p22"/>
          <p:cNvPicPr preferRelativeResize="0"/>
          <p:nvPr/>
        </p:nvPicPr>
        <p:blipFill>
          <a:blip r:embed="rId4">
            <a:alphaModFix/>
          </a:blip>
          <a:stretch>
            <a:fillRect/>
          </a:stretch>
        </p:blipFill>
        <p:spPr>
          <a:xfrm>
            <a:off x="1897649" y="1286238"/>
            <a:ext cx="976024" cy="1025094"/>
          </a:xfrm>
          <a:prstGeom prst="rect">
            <a:avLst/>
          </a:prstGeom>
          <a:noFill/>
          <a:ln>
            <a:noFill/>
          </a:ln>
        </p:spPr>
      </p:pic>
      <p:pic>
        <p:nvPicPr>
          <p:cNvPr id="215" name="Google Shape;215;p22"/>
          <p:cNvPicPr preferRelativeResize="0"/>
          <p:nvPr/>
        </p:nvPicPr>
        <p:blipFill>
          <a:blip r:embed="rId5">
            <a:alphaModFix/>
          </a:blip>
          <a:stretch>
            <a:fillRect/>
          </a:stretch>
        </p:blipFill>
        <p:spPr>
          <a:xfrm>
            <a:off x="1897639" y="3240838"/>
            <a:ext cx="1055322" cy="976025"/>
          </a:xfrm>
          <a:prstGeom prst="rect">
            <a:avLst/>
          </a:prstGeom>
          <a:noFill/>
          <a:ln>
            <a:noFill/>
          </a:ln>
        </p:spPr>
      </p:pic>
      <p:sp>
        <p:nvSpPr>
          <p:cNvPr id="216" name="Google Shape;216;p22"/>
          <p:cNvSpPr txBox="1"/>
          <p:nvPr/>
        </p:nvSpPr>
        <p:spPr>
          <a:xfrm>
            <a:off x="1799750" y="2311338"/>
            <a:ext cx="13902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Main thread</a:t>
            </a:r>
            <a:endParaRPr sz="1800">
              <a:solidFill>
                <a:schemeClr val="dk2"/>
              </a:solidFill>
            </a:endParaRPr>
          </a:p>
        </p:txBody>
      </p:sp>
      <p:sp>
        <p:nvSpPr>
          <p:cNvPr id="217" name="Google Shape;217;p22"/>
          <p:cNvSpPr txBox="1"/>
          <p:nvPr/>
        </p:nvSpPr>
        <p:spPr>
          <a:xfrm>
            <a:off x="1667000" y="4282663"/>
            <a:ext cx="1655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Library thread</a:t>
            </a:r>
            <a:endParaRPr sz="1800">
              <a:solidFill>
                <a:schemeClr val="dk2"/>
              </a:solidFill>
            </a:endParaRPr>
          </a:p>
        </p:txBody>
      </p:sp>
      <p:sp>
        <p:nvSpPr>
          <p:cNvPr id="218" name="Google Shape;218;p22"/>
          <p:cNvSpPr/>
          <p:nvPr/>
        </p:nvSpPr>
        <p:spPr>
          <a:xfrm>
            <a:off x="1362075" y="1207675"/>
            <a:ext cx="447900" cy="3536700"/>
          </a:xfrm>
          <a:prstGeom prst="leftBrace">
            <a:avLst>
              <a:gd name="adj1" fmla="val 50000"/>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22"/>
          <p:cNvSpPr/>
          <p:nvPr/>
        </p:nvSpPr>
        <p:spPr>
          <a:xfrm>
            <a:off x="4491875" y="1350125"/>
            <a:ext cx="975900" cy="3097800"/>
          </a:xfrm>
          <a:prstGeom prst="roundRect">
            <a:avLst>
              <a:gd name="adj" fmla="val 16667"/>
            </a:avLst>
          </a:prstGeom>
          <a:solidFill>
            <a:srgbClr val="D9E8F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Heap memory</a:t>
            </a:r>
            <a:endParaRPr/>
          </a:p>
        </p:txBody>
      </p:sp>
      <p:grpSp>
        <p:nvGrpSpPr>
          <p:cNvPr id="220" name="Google Shape;220;p22"/>
          <p:cNvGrpSpPr/>
          <p:nvPr/>
        </p:nvGrpSpPr>
        <p:grpSpPr>
          <a:xfrm>
            <a:off x="2873673" y="1611850"/>
            <a:ext cx="2593977" cy="356100"/>
            <a:chOff x="3211948" y="1620750"/>
            <a:chExt cx="2593977" cy="356100"/>
          </a:xfrm>
        </p:grpSpPr>
        <p:sp>
          <p:nvSpPr>
            <p:cNvPr id="221" name="Google Shape;221;p22"/>
            <p:cNvSpPr/>
            <p:nvPr/>
          </p:nvSpPr>
          <p:spPr>
            <a:xfrm>
              <a:off x="4830025" y="1620750"/>
              <a:ext cx="975900" cy="356100"/>
            </a:xfrm>
            <a:prstGeom prst="rect">
              <a:avLst/>
            </a:prstGeom>
            <a:solidFill>
              <a:srgbClr val="7894C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2" name="Google Shape;222;p22"/>
            <p:cNvCxnSpPr>
              <a:stCxn id="214" idx="3"/>
              <a:endCxn id="221" idx="1"/>
            </p:cNvCxnSpPr>
            <p:nvPr/>
          </p:nvCxnSpPr>
          <p:spPr>
            <a:xfrm rot="10800000" flipH="1">
              <a:off x="3211948" y="1798684"/>
              <a:ext cx="1618200" cy="9000"/>
            </a:xfrm>
            <a:prstGeom prst="straightConnector1">
              <a:avLst/>
            </a:prstGeom>
            <a:noFill/>
            <a:ln w="19050" cap="flat" cmpd="sng">
              <a:solidFill>
                <a:schemeClr val="dk2"/>
              </a:solidFill>
              <a:prstDash val="solid"/>
              <a:round/>
              <a:headEnd type="none" w="med" len="med"/>
              <a:tailEnd type="triangle" w="med" len="med"/>
            </a:ln>
          </p:spPr>
        </p:cxnSp>
      </p:grpSp>
      <p:grpSp>
        <p:nvGrpSpPr>
          <p:cNvPr id="223" name="Google Shape;223;p22"/>
          <p:cNvGrpSpPr/>
          <p:nvPr/>
        </p:nvGrpSpPr>
        <p:grpSpPr>
          <a:xfrm>
            <a:off x="2952961" y="2042713"/>
            <a:ext cx="2517389" cy="1686137"/>
            <a:chOff x="3288661" y="3571350"/>
            <a:chExt cx="2517389" cy="1686137"/>
          </a:xfrm>
        </p:grpSpPr>
        <p:sp>
          <p:nvSpPr>
            <p:cNvPr id="224" name="Google Shape;224;p22"/>
            <p:cNvSpPr/>
            <p:nvPr/>
          </p:nvSpPr>
          <p:spPr>
            <a:xfrm>
              <a:off x="4830150" y="3571350"/>
              <a:ext cx="975900" cy="356100"/>
            </a:xfrm>
            <a:prstGeom prst="rect">
              <a:avLst/>
            </a:prstGeom>
            <a:solidFill>
              <a:srgbClr val="7894C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5" name="Google Shape;225;p22"/>
            <p:cNvCxnSpPr>
              <a:stCxn id="215" idx="3"/>
              <a:endCxn id="224" idx="1"/>
            </p:cNvCxnSpPr>
            <p:nvPr/>
          </p:nvCxnSpPr>
          <p:spPr>
            <a:xfrm rot="10800000" flipH="1">
              <a:off x="3288661" y="3749387"/>
              <a:ext cx="1541400" cy="1508100"/>
            </a:xfrm>
            <a:prstGeom prst="straightConnector1">
              <a:avLst/>
            </a:prstGeom>
            <a:noFill/>
            <a:ln w="19050" cap="flat" cmpd="sng">
              <a:solidFill>
                <a:schemeClr val="dk2"/>
              </a:solidFill>
              <a:prstDash val="solid"/>
              <a:round/>
              <a:headEnd type="none" w="med" len="med"/>
              <a:tailEnd type="triangle" w="med" len="med"/>
            </a:ln>
          </p:spPr>
        </p:cxnSp>
      </p:grpSp>
      <p:cxnSp>
        <p:nvCxnSpPr>
          <p:cNvPr id="226" name="Google Shape;226;p22"/>
          <p:cNvCxnSpPr>
            <a:stCxn id="215" idx="0"/>
            <a:endCxn id="221" idx="3"/>
          </p:cNvCxnSpPr>
          <p:nvPr/>
        </p:nvCxnSpPr>
        <p:spPr>
          <a:xfrm rot="-5400000">
            <a:off x="3221050" y="994288"/>
            <a:ext cx="1450800" cy="3042300"/>
          </a:xfrm>
          <a:prstGeom prst="bentConnector4">
            <a:avLst>
              <a:gd name="adj1" fmla="val 6417"/>
              <a:gd name="adj2" fmla="val 110035"/>
            </a:avLst>
          </a:prstGeom>
          <a:noFill/>
          <a:ln w="19050" cap="flat" cmpd="sng">
            <a:solidFill>
              <a:schemeClr val="dk2"/>
            </a:solidFill>
            <a:prstDash val="solid"/>
            <a:round/>
            <a:headEnd type="none" w="med" len="med"/>
            <a:tailEnd type="triangle" w="med" len="med"/>
          </a:ln>
        </p:spPr>
      </p:cxnSp>
      <p:pic>
        <p:nvPicPr>
          <p:cNvPr id="227" name="Google Shape;227;p22"/>
          <p:cNvPicPr preferRelativeResize="0"/>
          <p:nvPr/>
        </p:nvPicPr>
        <p:blipFill rotWithShape="1">
          <a:blip r:embed="rId6">
            <a:alphaModFix/>
          </a:blip>
          <a:srcRect/>
          <a:stretch/>
        </p:blipFill>
        <p:spPr>
          <a:xfrm>
            <a:off x="7017604" y="1967950"/>
            <a:ext cx="1084419" cy="915711"/>
          </a:xfrm>
          <a:prstGeom prst="rect">
            <a:avLst/>
          </a:prstGeom>
          <a:noFill/>
          <a:ln>
            <a:noFill/>
          </a:ln>
        </p:spPr>
      </p:pic>
      <p:sp>
        <p:nvSpPr>
          <p:cNvPr id="228" name="Google Shape;228;p22"/>
          <p:cNvSpPr txBox="1"/>
          <p:nvPr/>
        </p:nvSpPr>
        <p:spPr>
          <a:xfrm>
            <a:off x="6993575" y="2883655"/>
            <a:ext cx="1084500" cy="72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File System</a:t>
            </a:r>
            <a:endParaRPr sz="1800">
              <a:solidFill>
                <a:schemeClr val="dk2"/>
              </a:solidFill>
            </a:endParaRPr>
          </a:p>
        </p:txBody>
      </p:sp>
      <p:pic>
        <p:nvPicPr>
          <p:cNvPr id="229" name="Google Shape;229;p22"/>
          <p:cNvPicPr preferRelativeResize="0"/>
          <p:nvPr/>
        </p:nvPicPr>
        <p:blipFill>
          <a:blip r:embed="rId7">
            <a:alphaModFix/>
          </a:blip>
          <a:stretch>
            <a:fillRect/>
          </a:stretch>
        </p:blipFill>
        <p:spPr>
          <a:xfrm>
            <a:off x="6238838" y="1128813"/>
            <a:ext cx="2593974" cy="25939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9"/>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0"/>
                                          </p:stCondLst>
                                        </p:cTn>
                                        <p:tgtEl>
                                          <p:spTgt spid="2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Special configs for special PDs</a:t>
            </a:r>
            <a:endParaRPr/>
          </a:p>
        </p:txBody>
      </p:sp>
      <p:pic>
        <p:nvPicPr>
          <p:cNvPr id="235" name="Google Shape;235;p23"/>
          <p:cNvPicPr preferRelativeResize="0"/>
          <p:nvPr/>
        </p:nvPicPr>
        <p:blipFill>
          <a:blip r:embed="rId3">
            <a:alphaModFix/>
          </a:blip>
          <a:stretch>
            <a:fillRect/>
          </a:stretch>
        </p:blipFill>
        <p:spPr>
          <a:xfrm>
            <a:off x="228600" y="2527213"/>
            <a:ext cx="976025" cy="976025"/>
          </a:xfrm>
          <a:prstGeom prst="rect">
            <a:avLst/>
          </a:prstGeom>
          <a:noFill/>
          <a:ln>
            <a:noFill/>
          </a:ln>
        </p:spPr>
      </p:pic>
      <p:sp>
        <p:nvSpPr>
          <p:cNvPr id="236" name="Google Shape;236;p23"/>
          <p:cNvSpPr/>
          <p:nvPr/>
        </p:nvSpPr>
        <p:spPr>
          <a:xfrm>
            <a:off x="146050" y="1614775"/>
            <a:ext cx="1675200" cy="462600"/>
          </a:xfrm>
          <a:prstGeom prst="wedgeRoundRectCallout">
            <a:avLst>
              <a:gd name="adj1" fmla="val -34576"/>
              <a:gd name="adj2" fmla="val 16270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Create PD</a:t>
            </a:r>
            <a:endParaRPr/>
          </a:p>
        </p:txBody>
      </p:sp>
      <p:cxnSp>
        <p:nvCxnSpPr>
          <p:cNvPr id="237" name="Google Shape;237;p23"/>
          <p:cNvCxnSpPr/>
          <p:nvPr/>
        </p:nvCxnSpPr>
        <p:spPr>
          <a:xfrm>
            <a:off x="1344525" y="3015238"/>
            <a:ext cx="498600" cy="0"/>
          </a:xfrm>
          <a:prstGeom prst="straightConnector1">
            <a:avLst/>
          </a:prstGeom>
          <a:noFill/>
          <a:ln w="19050" cap="flat" cmpd="sng">
            <a:solidFill>
              <a:schemeClr val="dk2"/>
            </a:solidFill>
            <a:prstDash val="solid"/>
            <a:round/>
            <a:headEnd type="none" w="med" len="med"/>
            <a:tailEnd type="triangle" w="med" len="med"/>
          </a:ln>
        </p:spPr>
      </p:cxnSp>
      <p:pic>
        <p:nvPicPr>
          <p:cNvPr id="238" name="Google Shape;238;p23"/>
          <p:cNvPicPr preferRelativeResize="0"/>
          <p:nvPr/>
        </p:nvPicPr>
        <p:blipFill>
          <a:blip r:embed="rId4">
            <a:alphaModFix/>
          </a:blip>
          <a:stretch>
            <a:fillRect/>
          </a:stretch>
        </p:blipFill>
        <p:spPr>
          <a:xfrm>
            <a:off x="1935175" y="2527243"/>
            <a:ext cx="976026" cy="975991"/>
          </a:xfrm>
          <a:prstGeom prst="rect">
            <a:avLst/>
          </a:prstGeom>
          <a:noFill/>
          <a:ln>
            <a:noFill/>
          </a:ln>
        </p:spPr>
      </p:pic>
      <p:sp>
        <p:nvSpPr>
          <p:cNvPr id="239" name="Google Shape;239;p23"/>
          <p:cNvSpPr txBox="1"/>
          <p:nvPr/>
        </p:nvSpPr>
        <p:spPr>
          <a:xfrm>
            <a:off x="71163" y="3503250"/>
            <a:ext cx="1290900" cy="72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App</a:t>
            </a:r>
            <a:endParaRPr sz="1800">
              <a:solidFill>
                <a:schemeClr val="dk2"/>
              </a:solidFill>
            </a:endParaRPr>
          </a:p>
        </p:txBody>
      </p:sp>
      <p:sp>
        <p:nvSpPr>
          <p:cNvPr id="240" name="Google Shape;240;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11</a:t>
            </a:fld>
            <a:endParaRPr/>
          </a:p>
        </p:txBody>
      </p:sp>
      <p:grpSp>
        <p:nvGrpSpPr>
          <p:cNvPr id="241" name="Google Shape;241;p23"/>
          <p:cNvGrpSpPr/>
          <p:nvPr/>
        </p:nvGrpSpPr>
        <p:grpSpPr>
          <a:xfrm>
            <a:off x="2863725" y="1193000"/>
            <a:ext cx="5819402" cy="3860925"/>
            <a:chOff x="2863725" y="1193000"/>
            <a:chExt cx="5819402" cy="3860925"/>
          </a:xfrm>
        </p:grpSpPr>
        <p:sp>
          <p:nvSpPr>
            <p:cNvPr id="242" name="Google Shape;242;p23"/>
            <p:cNvSpPr/>
            <p:nvPr/>
          </p:nvSpPr>
          <p:spPr>
            <a:xfrm>
              <a:off x="2863725" y="1193000"/>
              <a:ext cx="498600" cy="3619500"/>
            </a:xfrm>
            <a:prstGeom prst="leftBrace">
              <a:avLst>
                <a:gd name="adj1" fmla="val 50000"/>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3" name="Google Shape;243;p23"/>
            <p:cNvSpPr txBox="1"/>
            <p:nvPr/>
          </p:nvSpPr>
          <p:spPr>
            <a:xfrm>
              <a:off x="4520275" y="4592225"/>
              <a:ext cx="3209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Address Space Configuration</a:t>
              </a:r>
              <a:endParaRPr sz="1800">
                <a:solidFill>
                  <a:schemeClr val="dk2"/>
                </a:solidFill>
              </a:endParaRPr>
            </a:p>
          </p:txBody>
        </p:sp>
        <p:pic>
          <p:nvPicPr>
            <p:cNvPr id="244" name="Google Shape;244;p23"/>
            <p:cNvPicPr preferRelativeResize="0"/>
            <p:nvPr/>
          </p:nvPicPr>
          <p:blipFill>
            <a:blip r:embed="rId5">
              <a:alphaModFix/>
            </a:blip>
            <a:stretch>
              <a:fillRect/>
            </a:stretch>
          </p:blipFill>
          <p:spPr>
            <a:xfrm>
              <a:off x="3362325" y="1322525"/>
              <a:ext cx="5320802" cy="3269699"/>
            </a:xfrm>
            <a:prstGeom prst="rect">
              <a:avLst/>
            </a:prstGeom>
            <a:noFill/>
            <a:ln>
              <a:noFill/>
            </a:ln>
          </p:spPr>
        </p:pic>
      </p:grpSp>
      <p:sp>
        <p:nvSpPr>
          <p:cNvPr id="245" name="Google Shape;245;p23"/>
          <p:cNvSpPr/>
          <p:nvPr/>
        </p:nvSpPr>
        <p:spPr>
          <a:xfrm>
            <a:off x="5990425" y="611820"/>
            <a:ext cx="2655000" cy="572700"/>
          </a:xfrm>
          <a:prstGeom prst="foldedCorner">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t>Configuration is always in reference to another PD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Special configs for special PDs</a:t>
            </a:r>
            <a:endParaRPr/>
          </a:p>
        </p:txBody>
      </p:sp>
      <p:pic>
        <p:nvPicPr>
          <p:cNvPr id="251" name="Google Shape;251;p24"/>
          <p:cNvPicPr preferRelativeResize="0"/>
          <p:nvPr/>
        </p:nvPicPr>
        <p:blipFill>
          <a:blip r:embed="rId3">
            <a:alphaModFix/>
          </a:blip>
          <a:stretch>
            <a:fillRect/>
          </a:stretch>
        </p:blipFill>
        <p:spPr>
          <a:xfrm>
            <a:off x="228600" y="2527213"/>
            <a:ext cx="976025" cy="976025"/>
          </a:xfrm>
          <a:prstGeom prst="rect">
            <a:avLst/>
          </a:prstGeom>
          <a:noFill/>
          <a:ln>
            <a:noFill/>
          </a:ln>
        </p:spPr>
      </p:pic>
      <p:sp>
        <p:nvSpPr>
          <p:cNvPr id="252" name="Google Shape;252;p24"/>
          <p:cNvSpPr/>
          <p:nvPr/>
        </p:nvSpPr>
        <p:spPr>
          <a:xfrm>
            <a:off x="146050" y="1614775"/>
            <a:ext cx="1675200" cy="462600"/>
          </a:xfrm>
          <a:prstGeom prst="wedgeRoundRectCallout">
            <a:avLst>
              <a:gd name="adj1" fmla="val -34576"/>
              <a:gd name="adj2" fmla="val 16270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Create PD</a:t>
            </a:r>
            <a:endParaRPr/>
          </a:p>
        </p:txBody>
      </p:sp>
      <p:cxnSp>
        <p:nvCxnSpPr>
          <p:cNvPr id="253" name="Google Shape;253;p24"/>
          <p:cNvCxnSpPr/>
          <p:nvPr/>
        </p:nvCxnSpPr>
        <p:spPr>
          <a:xfrm>
            <a:off x="1344525" y="3015238"/>
            <a:ext cx="498600" cy="0"/>
          </a:xfrm>
          <a:prstGeom prst="straightConnector1">
            <a:avLst/>
          </a:prstGeom>
          <a:noFill/>
          <a:ln w="19050" cap="flat" cmpd="sng">
            <a:solidFill>
              <a:schemeClr val="dk2"/>
            </a:solidFill>
            <a:prstDash val="solid"/>
            <a:round/>
            <a:headEnd type="none" w="med" len="med"/>
            <a:tailEnd type="triangle" w="med" len="med"/>
          </a:ln>
        </p:spPr>
      </p:cxnSp>
      <p:pic>
        <p:nvPicPr>
          <p:cNvPr id="254" name="Google Shape;254;p24"/>
          <p:cNvPicPr preferRelativeResize="0"/>
          <p:nvPr/>
        </p:nvPicPr>
        <p:blipFill>
          <a:blip r:embed="rId4">
            <a:alphaModFix/>
          </a:blip>
          <a:stretch>
            <a:fillRect/>
          </a:stretch>
        </p:blipFill>
        <p:spPr>
          <a:xfrm>
            <a:off x="1935175" y="2527243"/>
            <a:ext cx="976026" cy="975991"/>
          </a:xfrm>
          <a:prstGeom prst="rect">
            <a:avLst/>
          </a:prstGeom>
          <a:noFill/>
          <a:ln>
            <a:noFill/>
          </a:ln>
        </p:spPr>
      </p:pic>
      <p:sp>
        <p:nvSpPr>
          <p:cNvPr id="255" name="Google Shape;255;p24"/>
          <p:cNvSpPr txBox="1"/>
          <p:nvPr/>
        </p:nvSpPr>
        <p:spPr>
          <a:xfrm>
            <a:off x="71163" y="3503250"/>
            <a:ext cx="1290900" cy="72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App</a:t>
            </a:r>
            <a:endParaRPr sz="1800">
              <a:solidFill>
                <a:schemeClr val="dk2"/>
              </a:solidFill>
            </a:endParaRPr>
          </a:p>
        </p:txBody>
      </p:sp>
      <p:sp>
        <p:nvSpPr>
          <p:cNvPr id="256" name="Google Shape;256;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12</a:t>
            </a:fld>
            <a:endParaRPr/>
          </a:p>
        </p:txBody>
      </p:sp>
      <p:sp>
        <p:nvSpPr>
          <p:cNvPr id="257" name="Google Shape;257;p24"/>
          <p:cNvSpPr/>
          <p:nvPr/>
        </p:nvSpPr>
        <p:spPr>
          <a:xfrm>
            <a:off x="2863725" y="1193000"/>
            <a:ext cx="498600" cy="3619500"/>
          </a:xfrm>
          <a:prstGeom prst="leftBrace">
            <a:avLst>
              <a:gd name="adj1" fmla="val 50000"/>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8" name="Google Shape;258;p24"/>
          <p:cNvSpPr txBox="1"/>
          <p:nvPr/>
        </p:nvSpPr>
        <p:spPr>
          <a:xfrm>
            <a:off x="4733925" y="4595125"/>
            <a:ext cx="3209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File System Configuration</a:t>
            </a:r>
            <a:endParaRPr sz="1800">
              <a:solidFill>
                <a:schemeClr val="dk2"/>
              </a:solidFill>
            </a:endParaRPr>
          </a:p>
        </p:txBody>
      </p:sp>
      <p:sp>
        <p:nvSpPr>
          <p:cNvPr id="259" name="Google Shape;259;p24"/>
          <p:cNvSpPr/>
          <p:nvPr/>
        </p:nvSpPr>
        <p:spPr>
          <a:xfrm rot="5400000">
            <a:off x="4223575" y="2187438"/>
            <a:ext cx="518700" cy="1184100"/>
          </a:xfrm>
          <a:prstGeom prst="can">
            <a:avLst>
              <a:gd name="adj" fmla="val 25000"/>
            </a:avLst>
          </a:prstGeom>
          <a:solidFill>
            <a:srgbClr val="D9E8F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60" name="Google Shape;260;p24"/>
          <p:cNvPicPr preferRelativeResize="0"/>
          <p:nvPr/>
        </p:nvPicPr>
        <p:blipFill rotWithShape="1">
          <a:blip r:embed="rId5">
            <a:alphaModFix/>
          </a:blip>
          <a:srcRect/>
          <a:stretch/>
        </p:blipFill>
        <p:spPr>
          <a:xfrm>
            <a:off x="7005376" y="2166573"/>
            <a:ext cx="1385362" cy="1169850"/>
          </a:xfrm>
          <a:prstGeom prst="rect">
            <a:avLst/>
          </a:prstGeom>
          <a:noFill/>
          <a:ln>
            <a:noFill/>
          </a:ln>
        </p:spPr>
      </p:pic>
      <p:sp>
        <p:nvSpPr>
          <p:cNvPr id="261" name="Google Shape;261;p24"/>
          <p:cNvSpPr txBox="1"/>
          <p:nvPr/>
        </p:nvSpPr>
        <p:spPr>
          <a:xfrm>
            <a:off x="6974675" y="3376325"/>
            <a:ext cx="13854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File System</a:t>
            </a:r>
            <a:endParaRPr sz="1800">
              <a:solidFill>
                <a:schemeClr val="dk2"/>
              </a:solidFill>
            </a:endParaRPr>
          </a:p>
        </p:txBody>
      </p:sp>
      <p:sp>
        <p:nvSpPr>
          <p:cNvPr id="262" name="Google Shape;262;p24"/>
          <p:cNvSpPr txBox="1"/>
          <p:nvPr/>
        </p:nvSpPr>
        <p:spPr>
          <a:xfrm>
            <a:off x="3695100" y="2104663"/>
            <a:ext cx="17538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dk2"/>
                </a:solidFill>
              </a:rPr>
              <a:t>namespace /lib/</a:t>
            </a:r>
            <a:endParaRPr sz="1500">
              <a:solidFill>
                <a:schemeClr val="dk2"/>
              </a:solidFill>
            </a:endParaRPr>
          </a:p>
        </p:txBody>
      </p:sp>
      <p:cxnSp>
        <p:nvCxnSpPr>
          <p:cNvPr id="263" name="Google Shape;263;p24"/>
          <p:cNvCxnSpPr>
            <a:stCxn id="259" idx="1"/>
            <a:endCxn id="260" idx="1"/>
          </p:cNvCxnSpPr>
          <p:nvPr/>
        </p:nvCxnSpPr>
        <p:spPr>
          <a:xfrm rot="10800000" flipH="1">
            <a:off x="5074975" y="2751588"/>
            <a:ext cx="1930500" cy="27900"/>
          </a:xfrm>
          <a:prstGeom prst="straightConnector1">
            <a:avLst/>
          </a:prstGeom>
          <a:noFill/>
          <a:ln w="19050" cap="flat" cmpd="sng">
            <a:solidFill>
              <a:schemeClr val="dk2"/>
            </a:solidFill>
            <a:prstDash val="solid"/>
            <a:round/>
            <a:headEnd type="none" w="med" len="med"/>
            <a:tailEnd type="triangl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267"/>
        <p:cNvGrpSpPr/>
        <p:nvPr/>
      </p:nvGrpSpPr>
      <p:grpSpPr>
        <a:xfrm>
          <a:off x="0" y="0"/>
          <a:ext cx="0" cy="0"/>
          <a:chOff x="0" y="0"/>
          <a:chExt cx="0" cy="0"/>
        </a:xfrm>
      </p:grpSpPr>
      <p:sp>
        <p:nvSpPr>
          <p:cNvPr id="268" name="Google Shape;268;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Setting up PDs based on Configuration </a:t>
            </a:r>
            <a:endParaRPr/>
          </a:p>
        </p:txBody>
      </p:sp>
      <p:pic>
        <p:nvPicPr>
          <p:cNvPr id="269" name="Google Shape;269;p25"/>
          <p:cNvPicPr preferRelativeResize="0"/>
          <p:nvPr/>
        </p:nvPicPr>
        <p:blipFill>
          <a:blip r:embed="rId3">
            <a:alphaModFix/>
          </a:blip>
          <a:stretch>
            <a:fillRect/>
          </a:stretch>
        </p:blipFill>
        <p:spPr>
          <a:xfrm>
            <a:off x="2303700" y="2523065"/>
            <a:ext cx="1538550" cy="1538525"/>
          </a:xfrm>
          <a:prstGeom prst="rect">
            <a:avLst/>
          </a:prstGeom>
          <a:noFill/>
          <a:ln>
            <a:noFill/>
          </a:ln>
        </p:spPr>
      </p:pic>
      <p:sp>
        <p:nvSpPr>
          <p:cNvPr id="270" name="Google Shape;270;p25"/>
          <p:cNvSpPr txBox="1"/>
          <p:nvPr/>
        </p:nvSpPr>
        <p:spPr>
          <a:xfrm>
            <a:off x="2303700" y="4061600"/>
            <a:ext cx="17313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PD Creation</a:t>
            </a:r>
            <a:endParaRPr sz="1800">
              <a:solidFill>
                <a:schemeClr val="dk2"/>
              </a:solidFill>
            </a:endParaRPr>
          </a:p>
        </p:txBody>
      </p:sp>
      <p:pic>
        <p:nvPicPr>
          <p:cNvPr id="271" name="Google Shape;271;p25"/>
          <p:cNvPicPr preferRelativeResize="0"/>
          <p:nvPr/>
        </p:nvPicPr>
        <p:blipFill>
          <a:blip r:embed="rId4">
            <a:alphaModFix/>
          </a:blip>
          <a:stretch>
            <a:fillRect/>
          </a:stretch>
        </p:blipFill>
        <p:spPr>
          <a:xfrm>
            <a:off x="252150" y="2804343"/>
            <a:ext cx="976026" cy="975991"/>
          </a:xfrm>
          <a:prstGeom prst="rect">
            <a:avLst/>
          </a:prstGeom>
          <a:noFill/>
          <a:ln>
            <a:noFill/>
          </a:ln>
        </p:spPr>
      </p:pic>
      <p:cxnSp>
        <p:nvCxnSpPr>
          <p:cNvPr id="272" name="Google Shape;272;p25"/>
          <p:cNvCxnSpPr>
            <a:stCxn id="271" idx="3"/>
            <a:endCxn id="269" idx="1"/>
          </p:cNvCxnSpPr>
          <p:nvPr/>
        </p:nvCxnSpPr>
        <p:spPr>
          <a:xfrm>
            <a:off x="1228176" y="3292338"/>
            <a:ext cx="1075500" cy="0"/>
          </a:xfrm>
          <a:prstGeom prst="straightConnector1">
            <a:avLst/>
          </a:prstGeom>
          <a:noFill/>
          <a:ln w="19050" cap="flat" cmpd="sng">
            <a:solidFill>
              <a:schemeClr val="dk2"/>
            </a:solidFill>
            <a:prstDash val="solid"/>
            <a:round/>
            <a:headEnd type="none" w="med" len="med"/>
            <a:tailEnd type="triangle" w="med" len="med"/>
          </a:ln>
        </p:spPr>
      </p:cxnSp>
      <p:grpSp>
        <p:nvGrpSpPr>
          <p:cNvPr id="273" name="Google Shape;273;p25"/>
          <p:cNvGrpSpPr/>
          <p:nvPr/>
        </p:nvGrpSpPr>
        <p:grpSpPr>
          <a:xfrm>
            <a:off x="4668463" y="1660013"/>
            <a:ext cx="1835338" cy="1198075"/>
            <a:chOff x="4668463" y="1660013"/>
            <a:chExt cx="1835338" cy="1198075"/>
          </a:xfrm>
        </p:grpSpPr>
        <p:cxnSp>
          <p:nvCxnSpPr>
            <p:cNvPr id="274" name="Google Shape;274;p25"/>
            <p:cNvCxnSpPr>
              <a:stCxn id="275" idx="2"/>
              <a:endCxn id="276" idx="0"/>
            </p:cNvCxnSpPr>
            <p:nvPr/>
          </p:nvCxnSpPr>
          <p:spPr>
            <a:xfrm flipH="1">
              <a:off x="5570200" y="1660013"/>
              <a:ext cx="933600" cy="625500"/>
            </a:xfrm>
            <a:prstGeom prst="straightConnector1">
              <a:avLst/>
            </a:prstGeom>
            <a:noFill/>
            <a:ln w="19050" cap="flat" cmpd="sng">
              <a:solidFill>
                <a:schemeClr val="dk2"/>
              </a:solidFill>
              <a:prstDash val="solid"/>
              <a:round/>
              <a:headEnd type="none" w="med" len="med"/>
              <a:tailEnd type="triangle" w="med" len="med"/>
            </a:ln>
          </p:spPr>
        </p:cxnSp>
        <p:sp>
          <p:nvSpPr>
            <p:cNvPr id="276" name="Google Shape;276;p25"/>
            <p:cNvSpPr/>
            <p:nvPr/>
          </p:nvSpPr>
          <p:spPr>
            <a:xfrm>
              <a:off x="4668463" y="2285388"/>
              <a:ext cx="1803600" cy="5727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Code region is shared?</a:t>
              </a:r>
              <a:endParaRPr/>
            </a:p>
          </p:txBody>
        </p:sp>
      </p:grpSp>
      <p:grpSp>
        <p:nvGrpSpPr>
          <p:cNvPr id="277" name="Google Shape;277;p25"/>
          <p:cNvGrpSpPr/>
          <p:nvPr/>
        </p:nvGrpSpPr>
        <p:grpSpPr>
          <a:xfrm>
            <a:off x="6472063" y="2285400"/>
            <a:ext cx="2257438" cy="572700"/>
            <a:chOff x="6472063" y="2285400"/>
            <a:chExt cx="2257438" cy="572700"/>
          </a:xfrm>
        </p:grpSpPr>
        <p:sp>
          <p:nvSpPr>
            <p:cNvPr id="278" name="Google Shape;278;p25"/>
            <p:cNvSpPr/>
            <p:nvPr/>
          </p:nvSpPr>
          <p:spPr>
            <a:xfrm>
              <a:off x="7191100" y="2285400"/>
              <a:ext cx="1538400" cy="5727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Omit C runtime setup</a:t>
              </a:r>
              <a:endParaRPr/>
            </a:p>
          </p:txBody>
        </p:sp>
        <p:cxnSp>
          <p:nvCxnSpPr>
            <p:cNvPr id="279" name="Google Shape;279;p25"/>
            <p:cNvCxnSpPr>
              <a:stCxn id="276" idx="3"/>
              <a:endCxn id="278" idx="1"/>
            </p:cNvCxnSpPr>
            <p:nvPr/>
          </p:nvCxnSpPr>
          <p:spPr>
            <a:xfrm>
              <a:off x="6472063" y="2571738"/>
              <a:ext cx="719100" cy="0"/>
            </a:xfrm>
            <a:prstGeom prst="straightConnector1">
              <a:avLst/>
            </a:prstGeom>
            <a:noFill/>
            <a:ln w="19050" cap="flat" cmpd="sng">
              <a:solidFill>
                <a:schemeClr val="dk2"/>
              </a:solidFill>
              <a:prstDash val="solid"/>
              <a:round/>
              <a:headEnd type="none" w="med" len="med"/>
              <a:tailEnd type="triangle" w="med" len="med"/>
            </a:ln>
          </p:spPr>
        </p:cxnSp>
      </p:grpSp>
      <p:sp>
        <p:nvSpPr>
          <p:cNvPr id="275" name="Google Shape;275;p25"/>
          <p:cNvSpPr/>
          <p:nvPr/>
        </p:nvSpPr>
        <p:spPr>
          <a:xfrm>
            <a:off x="5602000" y="1087313"/>
            <a:ext cx="1803600" cy="5727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Create a new address space</a:t>
            </a:r>
            <a:endParaRPr/>
          </a:p>
        </p:txBody>
      </p:sp>
      <p:grpSp>
        <p:nvGrpSpPr>
          <p:cNvPr id="280" name="Google Shape;280;p25"/>
          <p:cNvGrpSpPr/>
          <p:nvPr/>
        </p:nvGrpSpPr>
        <p:grpSpPr>
          <a:xfrm>
            <a:off x="4700188" y="2858100"/>
            <a:ext cx="3260113" cy="1310300"/>
            <a:chOff x="4700188" y="2858100"/>
            <a:chExt cx="3260113" cy="1310300"/>
          </a:xfrm>
        </p:grpSpPr>
        <p:sp>
          <p:nvSpPr>
            <p:cNvPr id="281" name="Google Shape;281;p25"/>
            <p:cNvSpPr/>
            <p:nvPr/>
          </p:nvSpPr>
          <p:spPr>
            <a:xfrm>
              <a:off x="4700188" y="3595700"/>
              <a:ext cx="1803600" cy="5727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Heap is separate?</a:t>
              </a:r>
              <a:endParaRPr/>
            </a:p>
          </p:txBody>
        </p:sp>
        <p:cxnSp>
          <p:nvCxnSpPr>
            <p:cNvPr id="282" name="Google Shape;282;p25"/>
            <p:cNvCxnSpPr>
              <a:stCxn id="278" idx="2"/>
              <a:endCxn id="281" idx="0"/>
            </p:cNvCxnSpPr>
            <p:nvPr/>
          </p:nvCxnSpPr>
          <p:spPr>
            <a:xfrm flipH="1">
              <a:off x="5602000" y="2858100"/>
              <a:ext cx="2358300" cy="737700"/>
            </a:xfrm>
            <a:prstGeom prst="straightConnector1">
              <a:avLst/>
            </a:prstGeom>
            <a:noFill/>
            <a:ln w="19050" cap="flat" cmpd="sng">
              <a:solidFill>
                <a:schemeClr val="dk2"/>
              </a:solidFill>
              <a:prstDash val="solid"/>
              <a:round/>
              <a:headEnd type="none" w="med" len="med"/>
              <a:tailEnd type="triangle" w="med" len="med"/>
            </a:ln>
          </p:spPr>
        </p:cxnSp>
      </p:grpSp>
      <p:grpSp>
        <p:nvGrpSpPr>
          <p:cNvPr id="283" name="Google Shape;283;p25"/>
          <p:cNvGrpSpPr/>
          <p:nvPr/>
        </p:nvGrpSpPr>
        <p:grpSpPr>
          <a:xfrm>
            <a:off x="6503788" y="3579760"/>
            <a:ext cx="2358309" cy="629910"/>
            <a:chOff x="6503741" y="3521921"/>
            <a:chExt cx="2358309" cy="686700"/>
          </a:xfrm>
        </p:grpSpPr>
        <p:sp>
          <p:nvSpPr>
            <p:cNvPr id="284" name="Google Shape;284;p25"/>
            <p:cNvSpPr/>
            <p:nvPr/>
          </p:nvSpPr>
          <p:spPr>
            <a:xfrm>
              <a:off x="7058450" y="3521921"/>
              <a:ext cx="1803600" cy="6867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Allocate new physical memory</a:t>
              </a:r>
              <a:endParaRPr/>
            </a:p>
          </p:txBody>
        </p:sp>
        <p:cxnSp>
          <p:nvCxnSpPr>
            <p:cNvPr id="285" name="Google Shape;285;p25"/>
            <p:cNvCxnSpPr>
              <a:stCxn id="281" idx="3"/>
              <a:endCxn id="284" idx="1"/>
            </p:cNvCxnSpPr>
            <p:nvPr/>
          </p:nvCxnSpPr>
          <p:spPr>
            <a:xfrm>
              <a:off x="6503741" y="3851464"/>
              <a:ext cx="554700" cy="13800"/>
            </a:xfrm>
            <a:prstGeom prst="straightConnector1">
              <a:avLst/>
            </a:prstGeom>
            <a:noFill/>
            <a:ln w="19050" cap="flat" cmpd="sng">
              <a:solidFill>
                <a:schemeClr val="dk2"/>
              </a:solidFill>
              <a:prstDash val="solid"/>
              <a:round/>
              <a:headEnd type="none" w="med" len="med"/>
              <a:tailEnd type="triangle" w="med" len="med"/>
            </a:ln>
          </p:spPr>
        </p:cxnSp>
      </p:grpSp>
      <p:cxnSp>
        <p:nvCxnSpPr>
          <p:cNvPr id="286" name="Google Shape;286;p25"/>
          <p:cNvCxnSpPr>
            <a:stCxn id="284" idx="2"/>
          </p:cNvCxnSpPr>
          <p:nvPr/>
        </p:nvCxnSpPr>
        <p:spPr>
          <a:xfrm flipH="1">
            <a:off x="6337897" y="4209670"/>
            <a:ext cx="1622400" cy="529500"/>
          </a:xfrm>
          <a:prstGeom prst="straightConnector1">
            <a:avLst/>
          </a:prstGeom>
          <a:noFill/>
          <a:ln w="19050" cap="flat" cmpd="sng">
            <a:solidFill>
              <a:schemeClr val="dk2"/>
            </a:solidFill>
            <a:prstDash val="solid"/>
            <a:round/>
            <a:headEnd type="none" w="med" len="med"/>
            <a:tailEnd type="triangle" w="med" len="med"/>
          </a:ln>
        </p:spPr>
      </p:cxnSp>
      <p:sp>
        <p:nvSpPr>
          <p:cNvPr id="287" name="Google Shape;287;p25"/>
          <p:cNvSpPr txBox="1"/>
          <p:nvPr/>
        </p:nvSpPr>
        <p:spPr>
          <a:xfrm>
            <a:off x="5264925" y="4523300"/>
            <a:ext cx="845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etc…</a:t>
            </a:r>
            <a:endParaRPr sz="1800">
              <a:solidFill>
                <a:schemeClr val="dk2"/>
              </a:solidFill>
            </a:endParaRPr>
          </a:p>
        </p:txBody>
      </p:sp>
      <p:sp>
        <p:nvSpPr>
          <p:cNvPr id="288" name="Google Shape;288;p25"/>
          <p:cNvSpPr/>
          <p:nvPr/>
        </p:nvSpPr>
        <p:spPr>
          <a:xfrm>
            <a:off x="302700" y="4061600"/>
            <a:ext cx="2600100" cy="906300"/>
          </a:xfrm>
          <a:prstGeom prst="foldedCorner">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We currently assume all libraries are statically linked. </a:t>
            </a:r>
            <a:endParaRPr/>
          </a:p>
        </p:txBody>
      </p:sp>
      <p:sp>
        <p:nvSpPr>
          <p:cNvPr id="289" name="Google Shape;289;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Setting up PDs based on Configuration </a:t>
            </a:r>
            <a:endParaRPr/>
          </a:p>
        </p:txBody>
      </p:sp>
      <p:pic>
        <p:nvPicPr>
          <p:cNvPr id="295" name="Google Shape;295;p26"/>
          <p:cNvPicPr preferRelativeResize="0"/>
          <p:nvPr/>
        </p:nvPicPr>
        <p:blipFill>
          <a:blip r:embed="rId3">
            <a:alphaModFix/>
          </a:blip>
          <a:stretch>
            <a:fillRect/>
          </a:stretch>
        </p:blipFill>
        <p:spPr>
          <a:xfrm>
            <a:off x="3870911" y="1628450"/>
            <a:ext cx="1538550" cy="1538525"/>
          </a:xfrm>
          <a:prstGeom prst="rect">
            <a:avLst/>
          </a:prstGeom>
          <a:noFill/>
          <a:ln>
            <a:noFill/>
          </a:ln>
        </p:spPr>
      </p:pic>
      <p:sp>
        <p:nvSpPr>
          <p:cNvPr id="296" name="Google Shape;296;p26"/>
          <p:cNvSpPr txBox="1"/>
          <p:nvPr/>
        </p:nvSpPr>
        <p:spPr>
          <a:xfrm>
            <a:off x="1251212" y="3339387"/>
            <a:ext cx="1796074"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dk2"/>
                </a:solidFill>
              </a:rPr>
              <a:t>Submarine Tool</a:t>
            </a:r>
            <a:endParaRPr sz="1800" dirty="0">
              <a:solidFill>
                <a:schemeClr val="dk2"/>
              </a:solidFill>
            </a:endParaRPr>
          </a:p>
        </p:txBody>
      </p:sp>
      <p:pic>
        <p:nvPicPr>
          <p:cNvPr id="297" name="Google Shape;297;p26"/>
          <p:cNvPicPr preferRelativeResize="0"/>
          <p:nvPr/>
        </p:nvPicPr>
        <p:blipFill>
          <a:blip r:embed="rId4">
            <a:alphaModFix/>
          </a:blip>
          <a:stretch>
            <a:fillRect/>
          </a:stretch>
        </p:blipFill>
        <p:spPr>
          <a:xfrm>
            <a:off x="2254473" y="1528159"/>
            <a:ext cx="976026" cy="975991"/>
          </a:xfrm>
          <a:prstGeom prst="rect">
            <a:avLst/>
          </a:prstGeom>
          <a:noFill/>
          <a:ln>
            <a:noFill/>
          </a:ln>
        </p:spPr>
      </p:pic>
      <p:cxnSp>
        <p:nvCxnSpPr>
          <p:cNvPr id="298" name="Google Shape;298;p26"/>
          <p:cNvCxnSpPr>
            <a:cxnSpLocks/>
            <a:endCxn id="295" idx="1"/>
          </p:cNvCxnSpPr>
          <p:nvPr/>
        </p:nvCxnSpPr>
        <p:spPr>
          <a:xfrm>
            <a:off x="3452563" y="2397677"/>
            <a:ext cx="418348" cy="36"/>
          </a:xfrm>
          <a:prstGeom prst="straightConnector1">
            <a:avLst/>
          </a:prstGeom>
          <a:noFill/>
          <a:ln w="19050" cap="flat" cmpd="sng">
            <a:solidFill>
              <a:schemeClr val="dk2"/>
            </a:solidFill>
            <a:prstDash val="solid"/>
            <a:round/>
            <a:headEnd type="none" w="med" len="med"/>
            <a:tailEnd type="triangle" w="med" len="med"/>
          </a:ln>
        </p:spPr>
      </p:cxnSp>
      <p:sp>
        <p:nvSpPr>
          <p:cNvPr id="299" name="Google Shape;29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14</a:t>
            </a:fld>
            <a:endParaRPr/>
          </a:p>
        </p:txBody>
      </p:sp>
      <p:pic>
        <p:nvPicPr>
          <p:cNvPr id="300" name="Google Shape;300;p26"/>
          <p:cNvPicPr preferRelativeResize="0"/>
          <p:nvPr/>
        </p:nvPicPr>
        <p:blipFill>
          <a:blip r:embed="rId5">
            <a:alphaModFix/>
          </a:blip>
          <a:stretch>
            <a:fillRect/>
          </a:stretch>
        </p:blipFill>
        <p:spPr>
          <a:xfrm>
            <a:off x="5824275" y="1528159"/>
            <a:ext cx="1796075" cy="1737555"/>
          </a:xfrm>
          <a:prstGeom prst="rect">
            <a:avLst/>
          </a:prstGeom>
          <a:noFill/>
          <a:ln>
            <a:noFill/>
          </a:ln>
        </p:spPr>
      </p:pic>
      <p:cxnSp>
        <p:nvCxnSpPr>
          <p:cNvPr id="301" name="Google Shape;301;p26"/>
          <p:cNvCxnSpPr>
            <a:cxnSpLocks/>
            <a:stCxn id="295" idx="3"/>
            <a:endCxn id="300" idx="1"/>
          </p:cNvCxnSpPr>
          <p:nvPr/>
        </p:nvCxnSpPr>
        <p:spPr>
          <a:xfrm flipV="1">
            <a:off x="5409461" y="2396937"/>
            <a:ext cx="414814" cy="776"/>
          </a:xfrm>
          <a:prstGeom prst="straightConnector1">
            <a:avLst/>
          </a:prstGeom>
          <a:noFill/>
          <a:ln w="19050" cap="flat" cmpd="sng">
            <a:solidFill>
              <a:schemeClr val="dk2"/>
            </a:solidFill>
            <a:prstDash val="solid"/>
            <a:round/>
            <a:headEnd type="none" w="med" len="med"/>
            <a:tailEnd type="triangle" w="med" len="med"/>
          </a:ln>
        </p:spPr>
      </p:cxnSp>
      <p:pic>
        <p:nvPicPr>
          <p:cNvPr id="302" name="Google Shape;302;p26"/>
          <p:cNvPicPr preferRelativeResize="0"/>
          <p:nvPr/>
        </p:nvPicPr>
        <p:blipFill>
          <a:blip r:embed="rId6">
            <a:alphaModFix/>
          </a:blip>
          <a:stretch>
            <a:fillRect/>
          </a:stretch>
        </p:blipFill>
        <p:spPr>
          <a:xfrm>
            <a:off x="7965598" y="1909664"/>
            <a:ext cx="976025" cy="976025"/>
          </a:xfrm>
          <a:prstGeom prst="rect">
            <a:avLst/>
          </a:prstGeom>
          <a:noFill/>
          <a:ln>
            <a:noFill/>
          </a:ln>
        </p:spPr>
      </p:pic>
      <p:cxnSp>
        <p:nvCxnSpPr>
          <p:cNvPr id="303" name="Google Shape;303;p26"/>
          <p:cNvCxnSpPr>
            <a:cxnSpLocks/>
            <a:stCxn id="300" idx="3"/>
            <a:endCxn id="302" idx="1"/>
          </p:cNvCxnSpPr>
          <p:nvPr/>
        </p:nvCxnSpPr>
        <p:spPr>
          <a:xfrm>
            <a:off x="7620350" y="2396937"/>
            <a:ext cx="345248" cy="740"/>
          </a:xfrm>
          <a:prstGeom prst="straightConnector1">
            <a:avLst/>
          </a:prstGeom>
          <a:noFill/>
          <a:ln w="19050" cap="flat" cmpd="sng">
            <a:solidFill>
              <a:schemeClr val="dk2"/>
            </a:solidFill>
            <a:prstDash val="solid"/>
            <a:round/>
            <a:headEnd type="none" w="med" len="med"/>
            <a:tailEnd type="triangle" w="med" len="med"/>
          </a:ln>
        </p:spPr>
      </p:cxnSp>
      <p:pic>
        <p:nvPicPr>
          <p:cNvPr id="8" name="Google Shape;297;p26">
            <a:extLst>
              <a:ext uri="{FF2B5EF4-FFF2-40B4-BE49-F238E27FC236}">
                <a16:creationId xmlns:a16="http://schemas.microsoft.com/office/drawing/2014/main" id="{523425C9-9CCE-BCAD-2157-0E5E942DF2EB}"/>
              </a:ext>
            </a:extLst>
          </p:cNvPr>
          <p:cNvPicPr preferRelativeResize="0"/>
          <p:nvPr/>
        </p:nvPicPr>
        <p:blipFill>
          <a:blip r:embed="rId4">
            <a:alphaModFix/>
          </a:blip>
          <a:stretch>
            <a:fillRect/>
          </a:stretch>
        </p:blipFill>
        <p:spPr>
          <a:xfrm>
            <a:off x="2406873" y="1680559"/>
            <a:ext cx="976026" cy="975991"/>
          </a:xfrm>
          <a:prstGeom prst="rect">
            <a:avLst/>
          </a:prstGeom>
          <a:noFill/>
          <a:ln>
            <a:noFill/>
          </a:ln>
        </p:spPr>
      </p:pic>
      <p:pic>
        <p:nvPicPr>
          <p:cNvPr id="26" name="Google Shape;297;p26">
            <a:extLst>
              <a:ext uri="{FF2B5EF4-FFF2-40B4-BE49-F238E27FC236}">
                <a16:creationId xmlns:a16="http://schemas.microsoft.com/office/drawing/2014/main" id="{A817A943-4DD0-EE0F-47F5-1A373D07C2C6}"/>
              </a:ext>
            </a:extLst>
          </p:cNvPr>
          <p:cNvPicPr preferRelativeResize="0"/>
          <p:nvPr/>
        </p:nvPicPr>
        <p:blipFill>
          <a:blip r:embed="rId4">
            <a:alphaModFix/>
          </a:blip>
          <a:stretch>
            <a:fillRect/>
          </a:stretch>
        </p:blipFill>
        <p:spPr>
          <a:xfrm>
            <a:off x="2559273" y="1832959"/>
            <a:ext cx="976026" cy="975991"/>
          </a:xfrm>
          <a:prstGeom prst="rect">
            <a:avLst/>
          </a:prstGeom>
          <a:noFill/>
          <a:ln>
            <a:noFill/>
          </a:ln>
        </p:spPr>
      </p:pic>
      <p:pic>
        <p:nvPicPr>
          <p:cNvPr id="27" name="Google Shape;297;p26">
            <a:extLst>
              <a:ext uri="{FF2B5EF4-FFF2-40B4-BE49-F238E27FC236}">
                <a16:creationId xmlns:a16="http://schemas.microsoft.com/office/drawing/2014/main" id="{CEBEBB53-167B-B280-7FCA-81E36E043632}"/>
              </a:ext>
            </a:extLst>
          </p:cNvPr>
          <p:cNvPicPr preferRelativeResize="0"/>
          <p:nvPr/>
        </p:nvPicPr>
        <p:blipFill>
          <a:blip r:embed="rId4">
            <a:alphaModFix/>
          </a:blip>
          <a:stretch>
            <a:fillRect/>
          </a:stretch>
        </p:blipFill>
        <p:spPr>
          <a:xfrm>
            <a:off x="2711673" y="1985359"/>
            <a:ext cx="976026" cy="975991"/>
          </a:xfrm>
          <a:prstGeom prst="rect">
            <a:avLst/>
          </a:prstGeom>
          <a:noFill/>
          <a:ln>
            <a:noFill/>
          </a:ln>
        </p:spPr>
      </p:pic>
      <p:pic>
        <p:nvPicPr>
          <p:cNvPr id="28" name="Google Shape;297;p26">
            <a:extLst>
              <a:ext uri="{FF2B5EF4-FFF2-40B4-BE49-F238E27FC236}">
                <a16:creationId xmlns:a16="http://schemas.microsoft.com/office/drawing/2014/main" id="{3224BE96-8FE0-ADB7-DA9A-399796BDC4F0}"/>
              </a:ext>
            </a:extLst>
          </p:cNvPr>
          <p:cNvPicPr preferRelativeResize="0"/>
          <p:nvPr/>
        </p:nvPicPr>
        <p:blipFill>
          <a:blip r:embed="rId4">
            <a:alphaModFix/>
          </a:blip>
          <a:stretch>
            <a:fillRect/>
          </a:stretch>
        </p:blipFill>
        <p:spPr>
          <a:xfrm>
            <a:off x="2864073" y="2137759"/>
            <a:ext cx="976026" cy="975991"/>
          </a:xfrm>
          <a:prstGeom prst="rect">
            <a:avLst/>
          </a:prstGeom>
          <a:noFill/>
          <a:ln>
            <a:noFill/>
          </a:ln>
        </p:spPr>
      </p:pic>
      <p:sp>
        <p:nvSpPr>
          <p:cNvPr id="33" name="Google Shape;296;p26">
            <a:extLst>
              <a:ext uri="{FF2B5EF4-FFF2-40B4-BE49-F238E27FC236}">
                <a16:creationId xmlns:a16="http://schemas.microsoft.com/office/drawing/2014/main" id="{A951D023-F888-E5F1-6A92-F6237EED9FFE}"/>
              </a:ext>
            </a:extLst>
          </p:cNvPr>
          <p:cNvSpPr txBox="1"/>
          <p:nvPr/>
        </p:nvSpPr>
        <p:spPr>
          <a:xfrm>
            <a:off x="7606808" y="2153085"/>
            <a:ext cx="17313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dk2"/>
                </a:solidFill>
              </a:rPr>
              <a:t>PD</a:t>
            </a:r>
            <a:endParaRPr sz="1800" dirty="0">
              <a:solidFill>
                <a:schemeClr val="dk2"/>
              </a:solidFill>
            </a:endParaRPr>
          </a:p>
        </p:txBody>
      </p:sp>
      <p:pic>
        <p:nvPicPr>
          <p:cNvPr id="37" name="Graphic 36" descr="Submarine with solid fill">
            <a:extLst>
              <a:ext uri="{FF2B5EF4-FFF2-40B4-BE49-F238E27FC236}">
                <a16:creationId xmlns:a16="http://schemas.microsoft.com/office/drawing/2014/main" id="{C684DF93-4B2C-26A4-8520-527EDCAFDB8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3198" y="1746326"/>
            <a:ext cx="914400" cy="914400"/>
          </a:xfrm>
          <a:prstGeom prst="rect">
            <a:avLst/>
          </a:prstGeom>
        </p:spPr>
      </p:pic>
      <p:cxnSp>
        <p:nvCxnSpPr>
          <p:cNvPr id="39" name="Google Shape;301;p26">
            <a:extLst>
              <a:ext uri="{FF2B5EF4-FFF2-40B4-BE49-F238E27FC236}">
                <a16:creationId xmlns:a16="http://schemas.microsoft.com/office/drawing/2014/main" id="{F6BC3081-D5C9-1AC0-76D2-79E4C6F9FDB3}"/>
              </a:ext>
            </a:extLst>
          </p:cNvPr>
          <p:cNvCxnSpPr>
            <a:cxnSpLocks/>
          </p:cNvCxnSpPr>
          <p:nvPr/>
        </p:nvCxnSpPr>
        <p:spPr>
          <a:xfrm flipV="1">
            <a:off x="1738339" y="2297057"/>
            <a:ext cx="414814" cy="776"/>
          </a:xfrm>
          <a:prstGeom prst="straightConnector1">
            <a:avLst/>
          </a:prstGeom>
          <a:noFill/>
          <a:ln w="19050" cap="flat" cmpd="sng">
            <a:solidFill>
              <a:schemeClr val="dk2"/>
            </a:solidFill>
            <a:prstDash val="solid"/>
            <a:round/>
            <a:headEnd type="none" w="med" len="med"/>
            <a:tailEnd type="triangle" w="med" len="med"/>
          </a:ln>
        </p:spPr>
      </p:cxnSp>
      <p:sp>
        <p:nvSpPr>
          <p:cNvPr id="40" name="Google Shape;296;p26">
            <a:extLst>
              <a:ext uri="{FF2B5EF4-FFF2-40B4-BE49-F238E27FC236}">
                <a16:creationId xmlns:a16="http://schemas.microsoft.com/office/drawing/2014/main" id="{17E571BB-7C90-8D33-8C95-AE5C995E9FF0}"/>
              </a:ext>
            </a:extLst>
          </p:cNvPr>
          <p:cNvSpPr txBox="1"/>
          <p:nvPr/>
        </p:nvSpPr>
        <p:spPr>
          <a:xfrm>
            <a:off x="3986945" y="3330201"/>
            <a:ext cx="4941919"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dk2"/>
                </a:solidFill>
              </a:rPr>
              <a:t>PD Creation in CellulOS</a:t>
            </a:r>
            <a:endParaRPr sz="1800" dirty="0">
              <a:solidFill>
                <a:schemeClr val="dk2"/>
              </a:solidFill>
            </a:endParaRPr>
          </a:p>
        </p:txBody>
      </p:sp>
      <p:cxnSp>
        <p:nvCxnSpPr>
          <p:cNvPr id="3" name="Straight Arrow Connector 2">
            <a:extLst>
              <a:ext uri="{FF2B5EF4-FFF2-40B4-BE49-F238E27FC236}">
                <a16:creationId xmlns:a16="http://schemas.microsoft.com/office/drawing/2014/main" id="{3BDEE19C-D01C-021D-59F5-CED440EC8FD5}"/>
              </a:ext>
            </a:extLst>
          </p:cNvPr>
          <p:cNvCxnSpPr>
            <a:cxnSpLocks/>
          </p:cNvCxnSpPr>
          <p:nvPr/>
        </p:nvCxnSpPr>
        <p:spPr>
          <a:xfrm>
            <a:off x="826936" y="3386328"/>
            <a:ext cx="2860763"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4" name="Straight Arrow Connector 3">
            <a:extLst>
              <a:ext uri="{FF2B5EF4-FFF2-40B4-BE49-F238E27FC236}">
                <a16:creationId xmlns:a16="http://schemas.microsoft.com/office/drawing/2014/main" id="{379D3588-79A4-F470-64AE-9AF6991ED44A}"/>
              </a:ext>
            </a:extLst>
          </p:cNvPr>
          <p:cNvCxnSpPr>
            <a:cxnSpLocks/>
          </p:cNvCxnSpPr>
          <p:nvPr/>
        </p:nvCxnSpPr>
        <p:spPr>
          <a:xfrm>
            <a:off x="3986945" y="3386328"/>
            <a:ext cx="4759863"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Specialized PD in action</a:t>
            </a:r>
            <a:endParaRPr/>
          </a:p>
        </p:txBody>
      </p:sp>
      <p:sp>
        <p:nvSpPr>
          <p:cNvPr id="309" name="Google Shape;309;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15</a:t>
            </a:fld>
            <a:endParaRPr/>
          </a:p>
        </p:txBody>
      </p:sp>
      <p:pic>
        <p:nvPicPr>
          <p:cNvPr id="310" name="Google Shape;310;p27"/>
          <p:cNvPicPr preferRelativeResize="0"/>
          <p:nvPr/>
        </p:nvPicPr>
        <p:blipFill>
          <a:blip r:embed="rId3">
            <a:alphaModFix/>
          </a:blip>
          <a:stretch>
            <a:fillRect/>
          </a:stretch>
        </p:blipFill>
        <p:spPr>
          <a:xfrm>
            <a:off x="228600" y="2527213"/>
            <a:ext cx="976025" cy="976025"/>
          </a:xfrm>
          <a:prstGeom prst="rect">
            <a:avLst/>
          </a:prstGeom>
          <a:noFill/>
          <a:ln>
            <a:noFill/>
          </a:ln>
        </p:spPr>
      </p:pic>
      <p:sp>
        <p:nvSpPr>
          <p:cNvPr id="311" name="Google Shape;311;p27"/>
          <p:cNvSpPr txBox="1"/>
          <p:nvPr/>
        </p:nvSpPr>
        <p:spPr>
          <a:xfrm>
            <a:off x="71163" y="3503250"/>
            <a:ext cx="1290900" cy="72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App</a:t>
            </a:r>
            <a:endParaRPr sz="1800">
              <a:solidFill>
                <a:schemeClr val="dk2"/>
              </a:solidFill>
            </a:endParaRPr>
          </a:p>
        </p:txBody>
      </p:sp>
      <p:pic>
        <p:nvPicPr>
          <p:cNvPr id="312" name="Google Shape;312;p27"/>
          <p:cNvPicPr preferRelativeResize="0"/>
          <p:nvPr/>
        </p:nvPicPr>
        <p:blipFill>
          <a:blip r:embed="rId4">
            <a:alphaModFix/>
          </a:blip>
          <a:stretch>
            <a:fillRect/>
          </a:stretch>
        </p:blipFill>
        <p:spPr>
          <a:xfrm>
            <a:off x="1897649" y="1286238"/>
            <a:ext cx="976024" cy="1025094"/>
          </a:xfrm>
          <a:prstGeom prst="rect">
            <a:avLst/>
          </a:prstGeom>
          <a:noFill/>
          <a:ln>
            <a:noFill/>
          </a:ln>
        </p:spPr>
      </p:pic>
      <p:pic>
        <p:nvPicPr>
          <p:cNvPr id="313" name="Google Shape;313;p27"/>
          <p:cNvPicPr preferRelativeResize="0"/>
          <p:nvPr/>
        </p:nvPicPr>
        <p:blipFill>
          <a:blip r:embed="rId5">
            <a:alphaModFix/>
          </a:blip>
          <a:stretch>
            <a:fillRect/>
          </a:stretch>
        </p:blipFill>
        <p:spPr>
          <a:xfrm>
            <a:off x="1897639" y="3240838"/>
            <a:ext cx="1055322" cy="976025"/>
          </a:xfrm>
          <a:prstGeom prst="rect">
            <a:avLst/>
          </a:prstGeom>
          <a:noFill/>
          <a:ln>
            <a:noFill/>
          </a:ln>
        </p:spPr>
      </p:pic>
      <p:sp>
        <p:nvSpPr>
          <p:cNvPr id="314" name="Google Shape;314;p27"/>
          <p:cNvSpPr txBox="1"/>
          <p:nvPr/>
        </p:nvSpPr>
        <p:spPr>
          <a:xfrm>
            <a:off x="1799750" y="2311338"/>
            <a:ext cx="13902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Main thread</a:t>
            </a:r>
            <a:endParaRPr sz="1800">
              <a:solidFill>
                <a:schemeClr val="dk2"/>
              </a:solidFill>
            </a:endParaRPr>
          </a:p>
        </p:txBody>
      </p:sp>
      <p:sp>
        <p:nvSpPr>
          <p:cNvPr id="315" name="Google Shape;315;p27"/>
          <p:cNvSpPr txBox="1"/>
          <p:nvPr/>
        </p:nvSpPr>
        <p:spPr>
          <a:xfrm>
            <a:off x="1667000" y="4282663"/>
            <a:ext cx="1655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Library thread</a:t>
            </a:r>
            <a:endParaRPr sz="1800">
              <a:solidFill>
                <a:schemeClr val="dk2"/>
              </a:solidFill>
            </a:endParaRPr>
          </a:p>
        </p:txBody>
      </p:sp>
      <p:sp>
        <p:nvSpPr>
          <p:cNvPr id="316" name="Google Shape;316;p27"/>
          <p:cNvSpPr/>
          <p:nvPr/>
        </p:nvSpPr>
        <p:spPr>
          <a:xfrm>
            <a:off x="1362075" y="1207675"/>
            <a:ext cx="447900" cy="3536700"/>
          </a:xfrm>
          <a:prstGeom prst="leftBrace">
            <a:avLst>
              <a:gd name="adj1" fmla="val 50000"/>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317" name="Google Shape;317;p27"/>
          <p:cNvGrpSpPr/>
          <p:nvPr/>
        </p:nvGrpSpPr>
        <p:grpSpPr>
          <a:xfrm>
            <a:off x="2873673" y="1017723"/>
            <a:ext cx="1623002" cy="1554000"/>
            <a:chOff x="2873673" y="1017723"/>
            <a:chExt cx="1623002" cy="1554000"/>
          </a:xfrm>
        </p:grpSpPr>
        <p:sp>
          <p:nvSpPr>
            <p:cNvPr id="318" name="Google Shape;318;p27"/>
            <p:cNvSpPr/>
            <p:nvPr/>
          </p:nvSpPr>
          <p:spPr>
            <a:xfrm>
              <a:off x="3785075" y="1017723"/>
              <a:ext cx="711600" cy="1554000"/>
            </a:xfrm>
            <a:prstGeom prst="roundRect">
              <a:avLst>
                <a:gd name="adj" fmla="val 16667"/>
              </a:avLst>
            </a:prstGeom>
            <a:solidFill>
              <a:srgbClr val="D9E8F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Heap</a:t>
              </a:r>
              <a:endParaRPr/>
            </a:p>
          </p:txBody>
        </p:sp>
        <p:cxnSp>
          <p:nvCxnSpPr>
            <p:cNvPr id="319" name="Google Shape;319;p27"/>
            <p:cNvCxnSpPr>
              <a:stCxn id="312" idx="3"/>
              <a:endCxn id="318" idx="1"/>
            </p:cNvCxnSpPr>
            <p:nvPr/>
          </p:nvCxnSpPr>
          <p:spPr>
            <a:xfrm rot="10800000" flipH="1">
              <a:off x="2873673" y="1794584"/>
              <a:ext cx="911400" cy="4200"/>
            </a:xfrm>
            <a:prstGeom prst="straightConnector1">
              <a:avLst/>
            </a:prstGeom>
            <a:noFill/>
            <a:ln w="19050" cap="flat" cmpd="sng">
              <a:solidFill>
                <a:schemeClr val="dk2"/>
              </a:solidFill>
              <a:prstDash val="solid"/>
              <a:round/>
              <a:headEnd type="none" w="med" len="med"/>
              <a:tailEnd type="triangle" w="med" len="med"/>
            </a:ln>
          </p:spPr>
        </p:cxnSp>
      </p:grpSp>
      <p:grpSp>
        <p:nvGrpSpPr>
          <p:cNvPr id="320" name="Google Shape;320;p27"/>
          <p:cNvGrpSpPr/>
          <p:nvPr/>
        </p:nvGrpSpPr>
        <p:grpSpPr>
          <a:xfrm>
            <a:off x="2952961" y="2885098"/>
            <a:ext cx="1543714" cy="1687500"/>
            <a:chOff x="2952961" y="2885098"/>
            <a:chExt cx="1543714" cy="1687500"/>
          </a:xfrm>
        </p:grpSpPr>
        <p:cxnSp>
          <p:nvCxnSpPr>
            <p:cNvPr id="321" name="Google Shape;321;p27"/>
            <p:cNvCxnSpPr>
              <a:stCxn id="313" idx="3"/>
              <a:endCxn id="322" idx="1"/>
            </p:cNvCxnSpPr>
            <p:nvPr/>
          </p:nvCxnSpPr>
          <p:spPr>
            <a:xfrm>
              <a:off x="2952961" y="3728850"/>
              <a:ext cx="832200" cy="0"/>
            </a:xfrm>
            <a:prstGeom prst="straightConnector1">
              <a:avLst/>
            </a:prstGeom>
            <a:noFill/>
            <a:ln w="19050" cap="flat" cmpd="sng">
              <a:solidFill>
                <a:schemeClr val="dk2"/>
              </a:solidFill>
              <a:prstDash val="solid"/>
              <a:round/>
              <a:headEnd type="none" w="med" len="med"/>
              <a:tailEnd type="triangle" w="med" len="med"/>
            </a:ln>
          </p:spPr>
        </p:cxnSp>
        <p:sp>
          <p:nvSpPr>
            <p:cNvPr id="322" name="Google Shape;322;p27"/>
            <p:cNvSpPr/>
            <p:nvPr/>
          </p:nvSpPr>
          <p:spPr>
            <a:xfrm>
              <a:off x="3785075" y="2885098"/>
              <a:ext cx="711600" cy="1687500"/>
            </a:xfrm>
            <a:prstGeom prst="roundRect">
              <a:avLst>
                <a:gd name="adj" fmla="val 16667"/>
              </a:avLst>
            </a:prstGeom>
            <a:solidFill>
              <a:srgbClr val="D9E8F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Heap</a:t>
              </a:r>
              <a:endParaRPr/>
            </a:p>
          </p:txBody>
        </p:sp>
      </p:grpSp>
      <p:grpSp>
        <p:nvGrpSpPr>
          <p:cNvPr id="323" name="Google Shape;323;p27"/>
          <p:cNvGrpSpPr/>
          <p:nvPr/>
        </p:nvGrpSpPr>
        <p:grpSpPr>
          <a:xfrm>
            <a:off x="5091800" y="933596"/>
            <a:ext cx="3801200" cy="2982500"/>
            <a:chOff x="5091800" y="933596"/>
            <a:chExt cx="3801200" cy="2982500"/>
          </a:xfrm>
        </p:grpSpPr>
        <p:sp>
          <p:nvSpPr>
            <p:cNvPr id="324" name="Google Shape;324;p27"/>
            <p:cNvSpPr/>
            <p:nvPr/>
          </p:nvSpPr>
          <p:spPr>
            <a:xfrm>
              <a:off x="5091800" y="2317933"/>
              <a:ext cx="719700" cy="540300"/>
            </a:xfrm>
            <a:prstGeom prst="rect">
              <a:avLst/>
            </a:prstGeom>
            <a:solidFill>
              <a:srgbClr val="D7E8D5"/>
            </a:solidFill>
            <a:ln w="19050" cap="flat" cmpd="sng">
              <a:solidFill>
                <a:srgbClr val="86B36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File Client</a:t>
              </a:r>
              <a:endParaRPr/>
            </a:p>
          </p:txBody>
        </p:sp>
        <p:grpSp>
          <p:nvGrpSpPr>
            <p:cNvPr id="325" name="Google Shape;325;p27"/>
            <p:cNvGrpSpPr/>
            <p:nvPr/>
          </p:nvGrpSpPr>
          <p:grpSpPr>
            <a:xfrm>
              <a:off x="5861182" y="2109150"/>
              <a:ext cx="1674285" cy="1382534"/>
              <a:chOff x="5226025" y="1803648"/>
              <a:chExt cx="2025263" cy="1672352"/>
            </a:xfrm>
          </p:grpSpPr>
          <p:pic>
            <p:nvPicPr>
              <p:cNvPr id="326" name="Google Shape;326;p27"/>
              <p:cNvPicPr preferRelativeResize="0"/>
              <p:nvPr/>
            </p:nvPicPr>
            <p:blipFill rotWithShape="1">
              <a:blip r:embed="rId6">
                <a:alphaModFix/>
              </a:blip>
              <a:srcRect/>
              <a:stretch/>
            </p:blipFill>
            <p:spPr>
              <a:xfrm>
                <a:off x="5865926" y="1803648"/>
                <a:ext cx="1385362" cy="1169850"/>
              </a:xfrm>
              <a:prstGeom prst="rect">
                <a:avLst/>
              </a:prstGeom>
              <a:noFill/>
              <a:ln>
                <a:noFill/>
              </a:ln>
            </p:spPr>
          </p:pic>
          <p:sp>
            <p:nvSpPr>
              <p:cNvPr id="327" name="Google Shape;327;p27"/>
              <p:cNvSpPr txBox="1"/>
              <p:nvPr/>
            </p:nvSpPr>
            <p:spPr>
              <a:xfrm>
                <a:off x="5835225" y="3013400"/>
                <a:ext cx="13854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File System</a:t>
                </a:r>
                <a:endParaRPr sz="1800">
                  <a:solidFill>
                    <a:schemeClr val="dk2"/>
                  </a:solidFill>
                </a:endParaRPr>
              </a:p>
            </p:txBody>
          </p:sp>
          <p:cxnSp>
            <p:nvCxnSpPr>
              <p:cNvPr id="328" name="Google Shape;328;p27"/>
              <p:cNvCxnSpPr/>
              <p:nvPr/>
            </p:nvCxnSpPr>
            <p:spPr>
              <a:xfrm rot="10800000" flipH="1">
                <a:off x="5226025" y="2424250"/>
                <a:ext cx="579600" cy="9600"/>
              </a:xfrm>
              <a:prstGeom prst="straightConnector1">
                <a:avLst/>
              </a:prstGeom>
              <a:noFill/>
              <a:ln w="19050" cap="flat" cmpd="sng">
                <a:solidFill>
                  <a:schemeClr val="dk2"/>
                </a:solidFill>
                <a:prstDash val="solid"/>
                <a:round/>
                <a:headEnd type="none" w="med" len="med"/>
                <a:tailEnd type="triangle" w="med" len="med"/>
              </a:ln>
            </p:spPr>
          </p:cxnSp>
        </p:grpSp>
        <p:grpSp>
          <p:nvGrpSpPr>
            <p:cNvPr id="329" name="Google Shape;329;p27"/>
            <p:cNvGrpSpPr/>
            <p:nvPr/>
          </p:nvGrpSpPr>
          <p:grpSpPr>
            <a:xfrm>
              <a:off x="7535332" y="933596"/>
              <a:ext cx="1307139" cy="1121503"/>
              <a:chOff x="7251125" y="381664"/>
              <a:chExt cx="1581153" cy="1356602"/>
            </a:xfrm>
          </p:grpSpPr>
          <p:cxnSp>
            <p:nvCxnSpPr>
              <p:cNvPr id="330" name="Google Shape;330;p27"/>
              <p:cNvCxnSpPr>
                <a:endCxn id="331" idx="1"/>
              </p:cNvCxnSpPr>
              <p:nvPr/>
            </p:nvCxnSpPr>
            <p:spPr>
              <a:xfrm rot="10800000" flipH="1">
                <a:off x="7251125" y="1009267"/>
                <a:ext cx="574500" cy="729000"/>
              </a:xfrm>
              <a:prstGeom prst="straightConnector1">
                <a:avLst/>
              </a:prstGeom>
              <a:noFill/>
              <a:ln w="19050" cap="flat" cmpd="sng">
                <a:solidFill>
                  <a:schemeClr val="dk2"/>
                </a:solidFill>
                <a:prstDash val="solid"/>
                <a:round/>
                <a:headEnd type="none" w="med" len="med"/>
                <a:tailEnd type="triangle" w="med" len="med"/>
              </a:ln>
            </p:spPr>
          </p:cxnSp>
          <p:pic>
            <p:nvPicPr>
              <p:cNvPr id="331" name="Google Shape;331;p27"/>
              <p:cNvPicPr preferRelativeResize="0"/>
              <p:nvPr/>
            </p:nvPicPr>
            <p:blipFill>
              <a:blip r:embed="rId7">
                <a:alphaModFix/>
              </a:blip>
              <a:stretch>
                <a:fillRect/>
              </a:stretch>
            </p:blipFill>
            <p:spPr>
              <a:xfrm>
                <a:off x="7825625" y="381664"/>
                <a:ext cx="1006653" cy="1255205"/>
              </a:xfrm>
              <a:prstGeom prst="rect">
                <a:avLst/>
              </a:prstGeom>
              <a:noFill/>
              <a:ln>
                <a:noFill/>
              </a:ln>
            </p:spPr>
          </p:pic>
        </p:grpSp>
        <p:grpSp>
          <p:nvGrpSpPr>
            <p:cNvPr id="332" name="Google Shape;332;p27"/>
            <p:cNvGrpSpPr/>
            <p:nvPr/>
          </p:nvGrpSpPr>
          <p:grpSpPr>
            <a:xfrm>
              <a:off x="7535515" y="2878451"/>
              <a:ext cx="1357485" cy="1037646"/>
              <a:chOff x="7251347" y="2734216"/>
              <a:chExt cx="1642053" cy="1255166"/>
            </a:xfrm>
          </p:grpSpPr>
          <p:cxnSp>
            <p:nvCxnSpPr>
              <p:cNvPr id="333" name="Google Shape;333;p27"/>
              <p:cNvCxnSpPr>
                <a:endCxn id="334" idx="1"/>
              </p:cNvCxnSpPr>
              <p:nvPr/>
            </p:nvCxnSpPr>
            <p:spPr>
              <a:xfrm>
                <a:off x="7251347" y="3038399"/>
                <a:ext cx="635400" cy="323400"/>
              </a:xfrm>
              <a:prstGeom prst="straightConnector1">
                <a:avLst/>
              </a:prstGeom>
              <a:noFill/>
              <a:ln w="19050" cap="flat" cmpd="sng">
                <a:solidFill>
                  <a:schemeClr val="dk2"/>
                </a:solidFill>
                <a:prstDash val="solid"/>
                <a:round/>
                <a:headEnd type="none" w="med" len="med"/>
                <a:tailEnd type="triangle" w="med" len="med"/>
              </a:ln>
            </p:spPr>
          </p:cxnSp>
          <p:pic>
            <p:nvPicPr>
              <p:cNvPr id="334" name="Google Shape;334;p27"/>
              <p:cNvPicPr preferRelativeResize="0"/>
              <p:nvPr/>
            </p:nvPicPr>
            <p:blipFill>
              <a:blip r:embed="rId8">
                <a:alphaModFix/>
              </a:blip>
              <a:stretch>
                <a:fillRect/>
              </a:stretch>
            </p:blipFill>
            <p:spPr>
              <a:xfrm>
                <a:off x="7886747" y="2734216"/>
                <a:ext cx="1006653" cy="1255166"/>
              </a:xfrm>
              <a:prstGeom prst="rect">
                <a:avLst/>
              </a:prstGeom>
              <a:noFill/>
              <a:ln>
                <a:noFill/>
              </a:ln>
            </p:spPr>
          </p:pic>
        </p:grpSp>
      </p:grpSp>
      <p:grpSp>
        <p:nvGrpSpPr>
          <p:cNvPr id="335" name="Google Shape;335;p27"/>
          <p:cNvGrpSpPr/>
          <p:nvPr/>
        </p:nvGrpSpPr>
        <p:grpSpPr>
          <a:xfrm>
            <a:off x="2508925" y="1017725"/>
            <a:ext cx="1786200" cy="2640413"/>
            <a:chOff x="2508925" y="1017725"/>
            <a:chExt cx="1786200" cy="2640413"/>
          </a:xfrm>
        </p:grpSpPr>
        <p:sp>
          <p:nvSpPr>
            <p:cNvPr id="336" name="Google Shape;336;p27"/>
            <p:cNvSpPr/>
            <p:nvPr/>
          </p:nvSpPr>
          <p:spPr>
            <a:xfrm>
              <a:off x="2508925" y="2935738"/>
              <a:ext cx="1786200" cy="722400"/>
            </a:xfrm>
            <a:prstGeom prst="wedgeRoundRectCallout">
              <a:avLst>
                <a:gd name="adj1" fmla="val -50693"/>
                <a:gd name="adj2" fmla="val 74716"/>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t>open(“foo”, O_CREAT, mode)</a:t>
              </a:r>
              <a:endParaRPr/>
            </a:p>
            <a:p>
              <a:pPr marL="0" lvl="0" indent="0" algn="ctr" rtl="0">
                <a:spcBef>
                  <a:spcPts val="0"/>
                </a:spcBef>
                <a:spcAft>
                  <a:spcPts val="0"/>
                </a:spcAft>
                <a:buNone/>
              </a:pPr>
              <a:endParaRPr/>
            </a:p>
          </p:txBody>
        </p:sp>
        <p:sp>
          <p:nvSpPr>
            <p:cNvPr id="337" name="Google Shape;337;p27"/>
            <p:cNvSpPr/>
            <p:nvPr/>
          </p:nvSpPr>
          <p:spPr>
            <a:xfrm>
              <a:off x="2508925" y="1017725"/>
              <a:ext cx="1786200" cy="722400"/>
            </a:xfrm>
            <a:prstGeom prst="wedgeRoundRectCallout">
              <a:avLst>
                <a:gd name="adj1" fmla="val -50693"/>
                <a:gd name="adj2" fmla="val 74716"/>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t>open(“foo”, O_CREAT, mode)</a:t>
              </a:r>
              <a:endParaRPr/>
            </a:p>
            <a:p>
              <a:pPr marL="0" lvl="0" indent="0" algn="ctr" rtl="0">
                <a:spcBef>
                  <a:spcPts val="0"/>
                </a:spcBef>
                <a:spcAft>
                  <a:spcPts val="0"/>
                </a:spcAft>
                <a:buNone/>
              </a:pPr>
              <a:endParaRPr/>
            </a:p>
          </p:txBody>
        </p:sp>
      </p:grpSp>
      <p:grpSp>
        <p:nvGrpSpPr>
          <p:cNvPr id="338" name="Google Shape;338;p27"/>
          <p:cNvGrpSpPr/>
          <p:nvPr/>
        </p:nvGrpSpPr>
        <p:grpSpPr>
          <a:xfrm>
            <a:off x="4295125" y="1378925"/>
            <a:ext cx="796800" cy="1918013"/>
            <a:chOff x="4295125" y="1378925"/>
            <a:chExt cx="796800" cy="1918013"/>
          </a:xfrm>
        </p:grpSpPr>
        <p:cxnSp>
          <p:nvCxnSpPr>
            <p:cNvPr id="339" name="Google Shape;339;p27"/>
            <p:cNvCxnSpPr>
              <a:stCxn id="337" idx="3"/>
              <a:endCxn id="324" idx="1"/>
            </p:cNvCxnSpPr>
            <p:nvPr/>
          </p:nvCxnSpPr>
          <p:spPr>
            <a:xfrm>
              <a:off x="4295125" y="1378925"/>
              <a:ext cx="796800" cy="1209300"/>
            </a:xfrm>
            <a:prstGeom prst="straightConnector1">
              <a:avLst/>
            </a:prstGeom>
            <a:noFill/>
            <a:ln w="19050" cap="flat" cmpd="sng">
              <a:solidFill>
                <a:schemeClr val="dk2"/>
              </a:solidFill>
              <a:prstDash val="solid"/>
              <a:round/>
              <a:headEnd type="none" w="med" len="med"/>
              <a:tailEnd type="triangle" w="med" len="med"/>
            </a:ln>
          </p:spPr>
        </p:cxnSp>
        <p:cxnSp>
          <p:nvCxnSpPr>
            <p:cNvPr id="340" name="Google Shape;340;p27"/>
            <p:cNvCxnSpPr>
              <a:stCxn id="336" idx="3"/>
              <a:endCxn id="324" idx="1"/>
            </p:cNvCxnSpPr>
            <p:nvPr/>
          </p:nvCxnSpPr>
          <p:spPr>
            <a:xfrm rot="10800000" flipH="1">
              <a:off x="4295125" y="2588038"/>
              <a:ext cx="796800" cy="708900"/>
            </a:xfrm>
            <a:prstGeom prst="straightConnector1">
              <a:avLst/>
            </a:prstGeom>
            <a:noFill/>
            <a:ln w="19050" cap="flat" cmpd="sng">
              <a:solidFill>
                <a:schemeClr val="dk2"/>
              </a:solidFill>
              <a:prstDash val="solid"/>
              <a:round/>
              <a:headEnd type="none" w="med" len="med"/>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8"/>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317"/>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3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pic>
        <p:nvPicPr>
          <p:cNvPr id="345" name="Google Shape;345;p28"/>
          <p:cNvPicPr preferRelativeResize="0"/>
          <p:nvPr/>
        </p:nvPicPr>
        <p:blipFill>
          <a:blip r:embed="rId3">
            <a:alphaModFix/>
          </a:blip>
          <a:stretch>
            <a:fillRect/>
          </a:stretch>
        </p:blipFill>
        <p:spPr>
          <a:xfrm>
            <a:off x="5607776" y="2453473"/>
            <a:ext cx="1385362" cy="1169850"/>
          </a:xfrm>
          <a:prstGeom prst="rect">
            <a:avLst/>
          </a:prstGeom>
          <a:noFill/>
          <a:ln>
            <a:noFill/>
          </a:ln>
        </p:spPr>
      </p:pic>
      <p:sp>
        <p:nvSpPr>
          <p:cNvPr id="346" name="Google Shape;346;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 Useful OS Runs Programs </a:t>
            </a:r>
            <a:r>
              <a:rPr lang="en" sz="1800"/>
              <a:t>(it’s kind of the point)</a:t>
            </a:r>
            <a:endParaRPr/>
          </a:p>
        </p:txBody>
      </p:sp>
      <p:pic>
        <p:nvPicPr>
          <p:cNvPr id="347" name="Google Shape;347;p28"/>
          <p:cNvPicPr preferRelativeResize="0"/>
          <p:nvPr/>
        </p:nvPicPr>
        <p:blipFill>
          <a:blip r:embed="rId4">
            <a:alphaModFix/>
          </a:blip>
          <a:stretch>
            <a:fillRect/>
          </a:stretch>
        </p:blipFill>
        <p:spPr>
          <a:xfrm>
            <a:off x="228600" y="2527213"/>
            <a:ext cx="976025" cy="976025"/>
          </a:xfrm>
          <a:prstGeom prst="rect">
            <a:avLst/>
          </a:prstGeom>
          <a:noFill/>
          <a:ln>
            <a:noFill/>
          </a:ln>
        </p:spPr>
      </p:pic>
      <p:pic>
        <p:nvPicPr>
          <p:cNvPr id="348" name="Google Shape;348;p28"/>
          <p:cNvPicPr preferRelativeResize="0"/>
          <p:nvPr/>
        </p:nvPicPr>
        <p:blipFill>
          <a:blip r:embed="rId5">
            <a:alphaModFix/>
          </a:blip>
          <a:stretch>
            <a:fillRect/>
          </a:stretch>
        </p:blipFill>
        <p:spPr>
          <a:xfrm>
            <a:off x="2166601" y="2430300"/>
            <a:ext cx="1169850" cy="1169850"/>
          </a:xfrm>
          <a:prstGeom prst="rect">
            <a:avLst/>
          </a:prstGeom>
          <a:noFill/>
          <a:ln>
            <a:noFill/>
          </a:ln>
        </p:spPr>
      </p:pic>
      <p:sp>
        <p:nvSpPr>
          <p:cNvPr id="349" name="Google Shape;349;p28"/>
          <p:cNvSpPr/>
          <p:nvPr/>
        </p:nvSpPr>
        <p:spPr>
          <a:xfrm>
            <a:off x="109675" y="1671000"/>
            <a:ext cx="1675200" cy="462600"/>
          </a:xfrm>
          <a:prstGeom prst="wedgeRoundRectCallout">
            <a:avLst>
              <a:gd name="adj1" fmla="val -34576"/>
              <a:gd name="adj2" fmla="val 16270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INSERT INTO …</a:t>
            </a:r>
            <a:endParaRPr/>
          </a:p>
        </p:txBody>
      </p:sp>
      <p:cxnSp>
        <p:nvCxnSpPr>
          <p:cNvPr id="350" name="Google Shape;350;p28"/>
          <p:cNvCxnSpPr/>
          <p:nvPr/>
        </p:nvCxnSpPr>
        <p:spPr>
          <a:xfrm>
            <a:off x="1306275" y="3015225"/>
            <a:ext cx="682800" cy="0"/>
          </a:xfrm>
          <a:prstGeom prst="straightConnector1">
            <a:avLst/>
          </a:prstGeom>
          <a:noFill/>
          <a:ln w="19050" cap="flat" cmpd="sng">
            <a:solidFill>
              <a:schemeClr val="dk2"/>
            </a:solidFill>
            <a:prstDash val="solid"/>
            <a:round/>
            <a:headEnd type="none" w="med" len="med"/>
            <a:tailEnd type="triangle" w="med" len="med"/>
          </a:ln>
        </p:spPr>
      </p:cxnSp>
      <p:sp>
        <p:nvSpPr>
          <p:cNvPr id="351" name="Google Shape;351;p28"/>
          <p:cNvSpPr/>
          <p:nvPr/>
        </p:nvSpPr>
        <p:spPr>
          <a:xfrm>
            <a:off x="2166600" y="1671000"/>
            <a:ext cx="1675200" cy="462600"/>
          </a:xfrm>
          <a:prstGeom prst="wedgeRoundRectCallout">
            <a:avLst>
              <a:gd name="adj1" fmla="val -32945"/>
              <a:gd name="adj2" fmla="val 15534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write(fd, …)</a:t>
            </a:r>
            <a:endParaRPr/>
          </a:p>
        </p:txBody>
      </p:sp>
      <p:sp>
        <p:nvSpPr>
          <p:cNvPr id="352" name="Google Shape;352;p28"/>
          <p:cNvSpPr/>
          <p:nvPr/>
        </p:nvSpPr>
        <p:spPr>
          <a:xfrm>
            <a:off x="5432175" y="1671000"/>
            <a:ext cx="1675200" cy="462600"/>
          </a:xfrm>
          <a:prstGeom prst="wedgeRoundRectCallout">
            <a:avLst>
              <a:gd name="adj1" fmla="val -6075"/>
              <a:gd name="adj2" fmla="val 159068"/>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write block …</a:t>
            </a:r>
            <a:endParaRPr/>
          </a:p>
        </p:txBody>
      </p:sp>
      <p:sp>
        <p:nvSpPr>
          <p:cNvPr id="353" name="Google Shape;353;p28"/>
          <p:cNvSpPr txBox="1"/>
          <p:nvPr/>
        </p:nvSpPr>
        <p:spPr>
          <a:xfrm>
            <a:off x="2166601" y="3600150"/>
            <a:ext cx="11697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SQLite</a:t>
            </a:r>
            <a:endParaRPr sz="1800">
              <a:solidFill>
                <a:schemeClr val="dk2"/>
              </a:solidFill>
            </a:endParaRPr>
          </a:p>
        </p:txBody>
      </p:sp>
      <p:sp>
        <p:nvSpPr>
          <p:cNvPr id="354" name="Google Shape;354;p28"/>
          <p:cNvSpPr txBox="1"/>
          <p:nvPr/>
        </p:nvSpPr>
        <p:spPr>
          <a:xfrm>
            <a:off x="5577075" y="3663225"/>
            <a:ext cx="13854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File System</a:t>
            </a:r>
            <a:endParaRPr sz="1800">
              <a:solidFill>
                <a:schemeClr val="dk2"/>
              </a:solidFill>
            </a:endParaRPr>
          </a:p>
        </p:txBody>
      </p:sp>
      <p:sp>
        <p:nvSpPr>
          <p:cNvPr id="355" name="Google Shape;355;p28"/>
          <p:cNvSpPr txBox="1"/>
          <p:nvPr/>
        </p:nvSpPr>
        <p:spPr>
          <a:xfrm>
            <a:off x="7900663" y="3567825"/>
            <a:ext cx="1127100" cy="65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Disk Driver</a:t>
            </a:r>
            <a:endParaRPr sz="1800">
              <a:solidFill>
                <a:schemeClr val="dk2"/>
              </a:solidFill>
            </a:endParaRPr>
          </a:p>
        </p:txBody>
      </p:sp>
      <p:pic>
        <p:nvPicPr>
          <p:cNvPr id="356" name="Google Shape;356;p28"/>
          <p:cNvPicPr preferRelativeResize="0"/>
          <p:nvPr/>
        </p:nvPicPr>
        <p:blipFill>
          <a:blip r:embed="rId6">
            <a:alphaModFix/>
          </a:blip>
          <a:stretch>
            <a:fillRect/>
          </a:stretch>
        </p:blipFill>
        <p:spPr>
          <a:xfrm>
            <a:off x="8028920" y="2362400"/>
            <a:ext cx="870580" cy="1169850"/>
          </a:xfrm>
          <a:prstGeom prst="rect">
            <a:avLst/>
          </a:prstGeom>
          <a:noFill/>
          <a:ln>
            <a:noFill/>
          </a:ln>
        </p:spPr>
      </p:pic>
      <p:cxnSp>
        <p:nvCxnSpPr>
          <p:cNvPr id="357" name="Google Shape;357;p28"/>
          <p:cNvCxnSpPr/>
          <p:nvPr/>
        </p:nvCxnSpPr>
        <p:spPr>
          <a:xfrm>
            <a:off x="3484425" y="3013725"/>
            <a:ext cx="1986900" cy="0"/>
          </a:xfrm>
          <a:prstGeom prst="straightConnector1">
            <a:avLst/>
          </a:prstGeom>
          <a:noFill/>
          <a:ln w="19050" cap="flat" cmpd="sng">
            <a:solidFill>
              <a:schemeClr val="dk2"/>
            </a:solidFill>
            <a:prstDash val="solid"/>
            <a:round/>
            <a:headEnd type="none" w="med" len="med"/>
            <a:tailEnd type="triangle" w="med" len="med"/>
          </a:ln>
        </p:spPr>
      </p:cxnSp>
      <p:cxnSp>
        <p:nvCxnSpPr>
          <p:cNvPr id="358" name="Google Shape;358;p28"/>
          <p:cNvCxnSpPr/>
          <p:nvPr/>
        </p:nvCxnSpPr>
        <p:spPr>
          <a:xfrm>
            <a:off x="7233400" y="2947325"/>
            <a:ext cx="682800" cy="0"/>
          </a:xfrm>
          <a:prstGeom prst="straightConnector1">
            <a:avLst/>
          </a:prstGeom>
          <a:noFill/>
          <a:ln w="19050" cap="flat" cmpd="sng">
            <a:solidFill>
              <a:schemeClr val="dk2"/>
            </a:solidFill>
            <a:prstDash val="solid"/>
            <a:round/>
            <a:headEnd type="none" w="med" len="med"/>
            <a:tailEnd type="triangle" w="med" len="med"/>
          </a:ln>
        </p:spPr>
      </p:cxnSp>
      <p:cxnSp>
        <p:nvCxnSpPr>
          <p:cNvPr id="359" name="Google Shape;359;p28"/>
          <p:cNvCxnSpPr/>
          <p:nvPr/>
        </p:nvCxnSpPr>
        <p:spPr>
          <a:xfrm>
            <a:off x="4572000" y="1200000"/>
            <a:ext cx="0" cy="3676800"/>
          </a:xfrm>
          <a:prstGeom prst="straightConnector1">
            <a:avLst/>
          </a:prstGeom>
          <a:noFill/>
          <a:ln w="38100" cap="flat" cmpd="sng">
            <a:solidFill>
              <a:srgbClr val="B7B7B7"/>
            </a:solidFill>
            <a:prstDash val="dot"/>
            <a:round/>
            <a:headEnd type="none" w="med" len="med"/>
            <a:tailEnd type="none" w="med" len="med"/>
          </a:ln>
        </p:spPr>
      </p:cxnSp>
      <p:sp>
        <p:nvSpPr>
          <p:cNvPr id="360" name="Google Shape;360;p28"/>
          <p:cNvSpPr txBox="1"/>
          <p:nvPr/>
        </p:nvSpPr>
        <p:spPr>
          <a:xfrm>
            <a:off x="222250" y="3503250"/>
            <a:ext cx="9759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App</a:t>
            </a:r>
            <a:endParaRPr sz="1800">
              <a:solidFill>
                <a:schemeClr val="dk2"/>
              </a:solidFill>
            </a:endParaRPr>
          </a:p>
        </p:txBody>
      </p:sp>
      <p:sp>
        <p:nvSpPr>
          <p:cNvPr id="361" name="Google Shape;361;p28"/>
          <p:cNvSpPr txBox="1"/>
          <p:nvPr/>
        </p:nvSpPr>
        <p:spPr>
          <a:xfrm>
            <a:off x="228600" y="4566600"/>
            <a:ext cx="41148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D29A27"/>
                </a:solidFill>
              </a:rPr>
              <a:t>User</a:t>
            </a:r>
            <a:endParaRPr sz="2000">
              <a:solidFill>
                <a:srgbClr val="D29A27"/>
              </a:solidFill>
            </a:endParaRPr>
          </a:p>
        </p:txBody>
      </p:sp>
      <p:sp>
        <p:nvSpPr>
          <p:cNvPr id="362" name="Google Shape;362;p28"/>
          <p:cNvSpPr txBox="1"/>
          <p:nvPr/>
        </p:nvSpPr>
        <p:spPr>
          <a:xfrm>
            <a:off x="4800600" y="4495800"/>
            <a:ext cx="41148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7894C1"/>
                </a:solidFill>
              </a:rPr>
              <a:t>Kernel</a:t>
            </a:r>
            <a:endParaRPr sz="2000">
              <a:solidFill>
                <a:srgbClr val="7894C1"/>
              </a:solidFill>
            </a:endParaRPr>
          </a:p>
        </p:txBody>
      </p:sp>
      <p:sp>
        <p:nvSpPr>
          <p:cNvPr id="363" name="Google Shape;363;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pic>
        <p:nvPicPr>
          <p:cNvPr id="368" name="Google Shape;368;p29"/>
          <p:cNvPicPr preferRelativeResize="0"/>
          <p:nvPr/>
        </p:nvPicPr>
        <p:blipFill rotWithShape="1">
          <a:blip r:embed="rId3">
            <a:alphaModFix/>
          </a:blip>
          <a:srcRect/>
          <a:stretch/>
        </p:blipFill>
        <p:spPr>
          <a:xfrm>
            <a:off x="5607776" y="2453473"/>
            <a:ext cx="1385362" cy="1169850"/>
          </a:xfrm>
          <a:prstGeom prst="rect">
            <a:avLst/>
          </a:prstGeom>
          <a:noFill/>
          <a:ln>
            <a:noFill/>
          </a:ln>
        </p:spPr>
      </p:pic>
      <p:sp>
        <p:nvSpPr>
          <p:cNvPr id="369" name="Google Shape;369;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 Useful OS Runs Programs </a:t>
            </a:r>
            <a:r>
              <a:rPr lang="en" sz="1800"/>
              <a:t>(but seL4 doesn’t do much for us)</a:t>
            </a:r>
            <a:endParaRPr/>
          </a:p>
        </p:txBody>
      </p:sp>
      <p:pic>
        <p:nvPicPr>
          <p:cNvPr id="370" name="Google Shape;370;p29"/>
          <p:cNvPicPr preferRelativeResize="0"/>
          <p:nvPr/>
        </p:nvPicPr>
        <p:blipFill>
          <a:blip r:embed="rId4">
            <a:alphaModFix/>
          </a:blip>
          <a:stretch>
            <a:fillRect/>
          </a:stretch>
        </p:blipFill>
        <p:spPr>
          <a:xfrm>
            <a:off x="228600" y="2527213"/>
            <a:ext cx="976025" cy="976025"/>
          </a:xfrm>
          <a:prstGeom prst="rect">
            <a:avLst/>
          </a:prstGeom>
          <a:noFill/>
          <a:ln>
            <a:noFill/>
          </a:ln>
        </p:spPr>
      </p:pic>
      <p:pic>
        <p:nvPicPr>
          <p:cNvPr id="371" name="Google Shape;371;p29"/>
          <p:cNvPicPr preferRelativeResize="0"/>
          <p:nvPr/>
        </p:nvPicPr>
        <p:blipFill>
          <a:blip r:embed="rId5">
            <a:alphaModFix/>
          </a:blip>
          <a:stretch>
            <a:fillRect/>
          </a:stretch>
        </p:blipFill>
        <p:spPr>
          <a:xfrm>
            <a:off x="2166601" y="2430300"/>
            <a:ext cx="1169850" cy="1169850"/>
          </a:xfrm>
          <a:prstGeom prst="rect">
            <a:avLst/>
          </a:prstGeom>
          <a:noFill/>
          <a:ln>
            <a:noFill/>
          </a:ln>
        </p:spPr>
      </p:pic>
      <p:sp>
        <p:nvSpPr>
          <p:cNvPr id="372" name="Google Shape;372;p29"/>
          <p:cNvSpPr/>
          <p:nvPr/>
        </p:nvSpPr>
        <p:spPr>
          <a:xfrm>
            <a:off x="109675" y="1671000"/>
            <a:ext cx="1675200" cy="462600"/>
          </a:xfrm>
          <a:prstGeom prst="wedgeRoundRectCallout">
            <a:avLst>
              <a:gd name="adj1" fmla="val -34576"/>
              <a:gd name="adj2" fmla="val 16270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INSERT INTO …</a:t>
            </a:r>
            <a:endParaRPr/>
          </a:p>
        </p:txBody>
      </p:sp>
      <p:cxnSp>
        <p:nvCxnSpPr>
          <p:cNvPr id="373" name="Google Shape;373;p29"/>
          <p:cNvCxnSpPr/>
          <p:nvPr/>
        </p:nvCxnSpPr>
        <p:spPr>
          <a:xfrm>
            <a:off x="1306275" y="3015225"/>
            <a:ext cx="682800" cy="0"/>
          </a:xfrm>
          <a:prstGeom prst="straightConnector1">
            <a:avLst/>
          </a:prstGeom>
          <a:noFill/>
          <a:ln w="19050" cap="flat" cmpd="sng">
            <a:solidFill>
              <a:schemeClr val="dk2"/>
            </a:solidFill>
            <a:prstDash val="solid"/>
            <a:round/>
            <a:headEnd type="none" w="med" len="med"/>
            <a:tailEnd type="triangle" w="med" len="med"/>
          </a:ln>
        </p:spPr>
      </p:cxnSp>
      <p:sp>
        <p:nvSpPr>
          <p:cNvPr id="374" name="Google Shape;374;p29"/>
          <p:cNvSpPr/>
          <p:nvPr/>
        </p:nvSpPr>
        <p:spPr>
          <a:xfrm>
            <a:off x="2166600" y="1671000"/>
            <a:ext cx="1675200" cy="462600"/>
          </a:xfrm>
          <a:prstGeom prst="wedgeRoundRectCallout">
            <a:avLst>
              <a:gd name="adj1" fmla="val -32945"/>
              <a:gd name="adj2" fmla="val 15534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write(fd, …)</a:t>
            </a:r>
            <a:endParaRPr/>
          </a:p>
        </p:txBody>
      </p:sp>
      <p:sp>
        <p:nvSpPr>
          <p:cNvPr id="375" name="Google Shape;375;p29"/>
          <p:cNvSpPr/>
          <p:nvPr/>
        </p:nvSpPr>
        <p:spPr>
          <a:xfrm>
            <a:off x="5432175" y="1671000"/>
            <a:ext cx="1675200" cy="462600"/>
          </a:xfrm>
          <a:prstGeom prst="wedgeRoundRectCallout">
            <a:avLst>
              <a:gd name="adj1" fmla="val -6075"/>
              <a:gd name="adj2" fmla="val 159068"/>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write block …</a:t>
            </a:r>
            <a:endParaRPr/>
          </a:p>
        </p:txBody>
      </p:sp>
      <p:sp>
        <p:nvSpPr>
          <p:cNvPr id="376" name="Google Shape;376;p29"/>
          <p:cNvSpPr txBox="1"/>
          <p:nvPr/>
        </p:nvSpPr>
        <p:spPr>
          <a:xfrm>
            <a:off x="2166601" y="3600150"/>
            <a:ext cx="11697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SQLite</a:t>
            </a:r>
            <a:endParaRPr sz="1800">
              <a:solidFill>
                <a:schemeClr val="dk2"/>
              </a:solidFill>
            </a:endParaRPr>
          </a:p>
        </p:txBody>
      </p:sp>
      <p:sp>
        <p:nvSpPr>
          <p:cNvPr id="377" name="Google Shape;377;p29"/>
          <p:cNvSpPr txBox="1"/>
          <p:nvPr/>
        </p:nvSpPr>
        <p:spPr>
          <a:xfrm>
            <a:off x="5577075" y="3663225"/>
            <a:ext cx="13854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File System</a:t>
            </a:r>
            <a:endParaRPr sz="1800">
              <a:solidFill>
                <a:schemeClr val="dk2"/>
              </a:solidFill>
            </a:endParaRPr>
          </a:p>
        </p:txBody>
      </p:sp>
      <p:sp>
        <p:nvSpPr>
          <p:cNvPr id="378" name="Google Shape;378;p29"/>
          <p:cNvSpPr txBox="1"/>
          <p:nvPr/>
        </p:nvSpPr>
        <p:spPr>
          <a:xfrm>
            <a:off x="7900663" y="3567825"/>
            <a:ext cx="1127100" cy="65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Disk Driver</a:t>
            </a:r>
            <a:endParaRPr sz="1800">
              <a:solidFill>
                <a:schemeClr val="dk2"/>
              </a:solidFill>
            </a:endParaRPr>
          </a:p>
        </p:txBody>
      </p:sp>
      <p:pic>
        <p:nvPicPr>
          <p:cNvPr id="379" name="Google Shape;379;p29"/>
          <p:cNvPicPr preferRelativeResize="0"/>
          <p:nvPr/>
        </p:nvPicPr>
        <p:blipFill rotWithShape="1">
          <a:blip r:embed="rId6">
            <a:alphaModFix/>
          </a:blip>
          <a:srcRect/>
          <a:stretch/>
        </p:blipFill>
        <p:spPr>
          <a:xfrm>
            <a:off x="8028920" y="2362400"/>
            <a:ext cx="870580" cy="1169850"/>
          </a:xfrm>
          <a:prstGeom prst="rect">
            <a:avLst/>
          </a:prstGeom>
          <a:noFill/>
          <a:ln>
            <a:noFill/>
          </a:ln>
        </p:spPr>
      </p:pic>
      <p:cxnSp>
        <p:nvCxnSpPr>
          <p:cNvPr id="380" name="Google Shape;380;p29"/>
          <p:cNvCxnSpPr/>
          <p:nvPr/>
        </p:nvCxnSpPr>
        <p:spPr>
          <a:xfrm>
            <a:off x="3484425" y="3013725"/>
            <a:ext cx="1986900" cy="0"/>
          </a:xfrm>
          <a:prstGeom prst="straightConnector1">
            <a:avLst/>
          </a:prstGeom>
          <a:noFill/>
          <a:ln w="19050" cap="flat" cmpd="sng">
            <a:solidFill>
              <a:schemeClr val="dk2"/>
            </a:solidFill>
            <a:prstDash val="solid"/>
            <a:round/>
            <a:headEnd type="none" w="med" len="med"/>
            <a:tailEnd type="triangle" w="med" len="med"/>
          </a:ln>
        </p:spPr>
      </p:cxnSp>
      <p:cxnSp>
        <p:nvCxnSpPr>
          <p:cNvPr id="381" name="Google Shape;381;p29"/>
          <p:cNvCxnSpPr/>
          <p:nvPr/>
        </p:nvCxnSpPr>
        <p:spPr>
          <a:xfrm>
            <a:off x="7233400" y="2947325"/>
            <a:ext cx="682800" cy="0"/>
          </a:xfrm>
          <a:prstGeom prst="straightConnector1">
            <a:avLst/>
          </a:prstGeom>
          <a:noFill/>
          <a:ln w="19050" cap="flat" cmpd="sng">
            <a:solidFill>
              <a:schemeClr val="dk2"/>
            </a:solidFill>
            <a:prstDash val="solid"/>
            <a:round/>
            <a:headEnd type="none" w="med" len="med"/>
            <a:tailEnd type="triangle" w="med" len="med"/>
          </a:ln>
        </p:spPr>
      </p:cxnSp>
      <p:sp>
        <p:nvSpPr>
          <p:cNvPr id="382" name="Google Shape;382;p29"/>
          <p:cNvSpPr txBox="1"/>
          <p:nvPr/>
        </p:nvSpPr>
        <p:spPr>
          <a:xfrm>
            <a:off x="222250" y="3503250"/>
            <a:ext cx="9759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App</a:t>
            </a:r>
            <a:endParaRPr sz="1800">
              <a:solidFill>
                <a:schemeClr val="dk2"/>
              </a:solidFill>
            </a:endParaRPr>
          </a:p>
        </p:txBody>
      </p:sp>
      <p:sp>
        <p:nvSpPr>
          <p:cNvPr id="383" name="Google Shape;383;p29"/>
          <p:cNvSpPr txBox="1"/>
          <p:nvPr/>
        </p:nvSpPr>
        <p:spPr>
          <a:xfrm>
            <a:off x="228600" y="4566600"/>
            <a:ext cx="41148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E69138"/>
                </a:solidFill>
              </a:rPr>
              <a:t>User</a:t>
            </a:r>
            <a:endParaRPr sz="2000">
              <a:solidFill>
                <a:srgbClr val="E69138"/>
              </a:solidFill>
            </a:endParaRPr>
          </a:p>
        </p:txBody>
      </p:sp>
      <p:sp>
        <p:nvSpPr>
          <p:cNvPr id="384" name="Google Shape;384;p29"/>
          <p:cNvSpPr txBox="1"/>
          <p:nvPr/>
        </p:nvSpPr>
        <p:spPr>
          <a:xfrm>
            <a:off x="4800600" y="4495800"/>
            <a:ext cx="41148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595959"/>
                </a:solidFill>
              </a:rPr>
              <a:t>???</a:t>
            </a:r>
            <a:endParaRPr sz="2000">
              <a:solidFill>
                <a:srgbClr val="595959"/>
              </a:solidFill>
            </a:endParaRPr>
          </a:p>
        </p:txBody>
      </p:sp>
      <p:sp>
        <p:nvSpPr>
          <p:cNvPr id="385" name="Google Shape;385;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pic>
        <p:nvPicPr>
          <p:cNvPr id="390" name="Google Shape;390;p30"/>
          <p:cNvPicPr preferRelativeResize="0"/>
          <p:nvPr/>
        </p:nvPicPr>
        <p:blipFill rotWithShape="1">
          <a:blip r:embed="rId3">
            <a:alphaModFix/>
          </a:blip>
          <a:srcRect/>
          <a:stretch/>
        </p:blipFill>
        <p:spPr>
          <a:xfrm>
            <a:off x="5607776" y="2453473"/>
            <a:ext cx="1385362" cy="1169850"/>
          </a:xfrm>
          <a:prstGeom prst="rect">
            <a:avLst/>
          </a:prstGeom>
          <a:noFill/>
          <a:ln>
            <a:noFill/>
          </a:ln>
        </p:spPr>
      </p:pic>
      <p:sp>
        <p:nvSpPr>
          <p:cNvPr id="391" name="Google Shape;391;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 Useful OS Runs Programs </a:t>
            </a:r>
            <a:r>
              <a:rPr lang="en" sz="1800"/>
              <a:t>(in the microkernel way)</a:t>
            </a:r>
            <a:endParaRPr/>
          </a:p>
        </p:txBody>
      </p:sp>
      <p:pic>
        <p:nvPicPr>
          <p:cNvPr id="392" name="Google Shape;392;p30"/>
          <p:cNvPicPr preferRelativeResize="0"/>
          <p:nvPr/>
        </p:nvPicPr>
        <p:blipFill>
          <a:blip r:embed="rId4">
            <a:alphaModFix/>
          </a:blip>
          <a:stretch>
            <a:fillRect/>
          </a:stretch>
        </p:blipFill>
        <p:spPr>
          <a:xfrm>
            <a:off x="228600" y="2527213"/>
            <a:ext cx="976025" cy="976025"/>
          </a:xfrm>
          <a:prstGeom prst="rect">
            <a:avLst/>
          </a:prstGeom>
          <a:noFill/>
          <a:ln>
            <a:noFill/>
          </a:ln>
        </p:spPr>
      </p:pic>
      <p:pic>
        <p:nvPicPr>
          <p:cNvPr id="393" name="Google Shape;393;p30"/>
          <p:cNvPicPr preferRelativeResize="0"/>
          <p:nvPr/>
        </p:nvPicPr>
        <p:blipFill>
          <a:blip r:embed="rId5">
            <a:alphaModFix/>
          </a:blip>
          <a:stretch>
            <a:fillRect/>
          </a:stretch>
        </p:blipFill>
        <p:spPr>
          <a:xfrm>
            <a:off x="2166601" y="2430300"/>
            <a:ext cx="1169850" cy="1169850"/>
          </a:xfrm>
          <a:prstGeom prst="rect">
            <a:avLst/>
          </a:prstGeom>
          <a:noFill/>
          <a:ln>
            <a:noFill/>
          </a:ln>
        </p:spPr>
      </p:pic>
      <p:sp>
        <p:nvSpPr>
          <p:cNvPr id="394" name="Google Shape;394;p30"/>
          <p:cNvSpPr/>
          <p:nvPr/>
        </p:nvSpPr>
        <p:spPr>
          <a:xfrm>
            <a:off x="109675" y="1671000"/>
            <a:ext cx="1675200" cy="462600"/>
          </a:xfrm>
          <a:prstGeom prst="wedgeRoundRectCallout">
            <a:avLst>
              <a:gd name="adj1" fmla="val -34576"/>
              <a:gd name="adj2" fmla="val 16270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INSERT INTO …</a:t>
            </a:r>
            <a:endParaRPr/>
          </a:p>
        </p:txBody>
      </p:sp>
      <p:cxnSp>
        <p:nvCxnSpPr>
          <p:cNvPr id="395" name="Google Shape;395;p30"/>
          <p:cNvCxnSpPr/>
          <p:nvPr/>
        </p:nvCxnSpPr>
        <p:spPr>
          <a:xfrm>
            <a:off x="1306275" y="3015225"/>
            <a:ext cx="682800" cy="0"/>
          </a:xfrm>
          <a:prstGeom prst="straightConnector1">
            <a:avLst/>
          </a:prstGeom>
          <a:noFill/>
          <a:ln w="19050" cap="flat" cmpd="sng">
            <a:solidFill>
              <a:schemeClr val="dk2"/>
            </a:solidFill>
            <a:prstDash val="solid"/>
            <a:round/>
            <a:headEnd type="none" w="med" len="med"/>
            <a:tailEnd type="triangle" w="med" len="med"/>
          </a:ln>
        </p:spPr>
      </p:cxnSp>
      <p:sp>
        <p:nvSpPr>
          <p:cNvPr id="396" name="Google Shape;396;p30"/>
          <p:cNvSpPr/>
          <p:nvPr/>
        </p:nvSpPr>
        <p:spPr>
          <a:xfrm>
            <a:off x="2166600" y="1671000"/>
            <a:ext cx="1675200" cy="462600"/>
          </a:xfrm>
          <a:prstGeom prst="wedgeRoundRectCallout">
            <a:avLst>
              <a:gd name="adj1" fmla="val -32945"/>
              <a:gd name="adj2" fmla="val 15534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write(fd, …)</a:t>
            </a:r>
            <a:endParaRPr/>
          </a:p>
        </p:txBody>
      </p:sp>
      <p:sp>
        <p:nvSpPr>
          <p:cNvPr id="397" name="Google Shape;397;p30"/>
          <p:cNvSpPr/>
          <p:nvPr/>
        </p:nvSpPr>
        <p:spPr>
          <a:xfrm>
            <a:off x="5432175" y="1671000"/>
            <a:ext cx="1675200" cy="462600"/>
          </a:xfrm>
          <a:prstGeom prst="wedgeRoundRectCallout">
            <a:avLst>
              <a:gd name="adj1" fmla="val -6075"/>
              <a:gd name="adj2" fmla="val 159068"/>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write block …</a:t>
            </a:r>
            <a:endParaRPr/>
          </a:p>
        </p:txBody>
      </p:sp>
      <p:sp>
        <p:nvSpPr>
          <p:cNvPr id="398" name="Google Shape;398;p30"/>
          <p:cNvSpPr txBox="1"/>
          <p:nvPr/>
        </p:nvSpPr>
        <p:spPr>
          <a:xfrm>
            <a:off x="2166601" y="3600150"/>
            <a:ext cx="11697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SQLite</a:t>
            </a:r>
            <a:endParaRPr sz="1800">
              <a:solidFill>
                <a:schemeClr val="dk2"/>
              </a:solidFill>
            </a:endParaRPr>
          </a:p>
        </p:txBody>
      </p:sp>
      <p:sp>
        <p:nvSpPr>
          <p:cNvPr id="399" name="Google Shape;399;p30"/>
          <p:cNvSpPr txBox="1"/>
          <p:nvPr/>
        </p:nvSpPr>
        <p:spPr>
          <a:xfrm>
            <a:off x="5577075" y="3663225"/>
            <a:ext cx="13854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File System</a:t>
            </a:r>
            <a:endParaRPr sz="1800">
              <a:solidFill>
                <a:schemeClr val="dk2"/>
              </a:solidFill>
            </a:endParaRPr>
          </a:p>
        </p:txBody>
      </p:sp>
      <p:sp>
        <p:nvSpPr>
          <p:cNvPr id="400" name="Google Shape;400;p30"/>
          <p:cNvSpPr txBox="1"/>
          <p:nvPr/>
        </p:nvSpPr>
        <p:spPr>
          <a:xfrm>
            <a:off x="7900663" y="3567825"/>
            <a:ext cx="1127100" cy="65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Disk Driver</a:t>
            </a:r>
            <a:endParaRPr sz="1800">
              <a:solidFill>
                <a:schemeClr val="dk2"/>
              </a:solidFill>
            </a:endParaRPr>
          </a:p>
        </p:txBody>
      </p:sp>
      <p:pic>
        <p:nvPicPr>
          <p:cNvPr id="401" name="Google Shape;401;p30"/>
          <p:cNvPicPr preferRelativeResize="0"/>
          <p:nvPr/>
        </p:nvPicPr>
        <p:blipFill rotWithShape="1">
          <a:blip r:embed="rId6">
            <a:alphaModFix/>
          </a:blip>
          <a:srcRect/>
          <a:stretch/>
        </p:blipFill>
        <p:spPr>
          <a:xfrm>
            <a:off x="8028920" y="2362400"/>
            <a:ext cx="870580" cy="1169850"/>
          </a:xfrm>
          <a:prstGeom prst="rect">
            <a:avLst/>
          </a:prstGeom>
          <a:noFill/>
          <a:ln>
            <a:noFill/>
          </a:ln>
        </p:spPr>
      </p:pic>
      <p:cxnSp>
        <p:nvCxnSpPr>
          <p:cNvPr id="402" name="Google Shape;402;p30"/>
          <p:cNvCxnSpPr/>
          <p:nvPr/>
        </p:nvCxnSpPr>
        <p:spPr>
          <a:xfrm>
            <a:off x="7233400" y="2947325"/>
            <a:ext cx="682800" cy="0"/>
          </a:xfrm>
          <a:prstGeom prst="straightConnector1">
            <a:avLst/>
          </a:prstGeom>
          <a:noFill/>
          <a:ln w="19050" cap="flat" cmpd="sng">
            <a:solidFill>
              <a:schemeClr val="dk2"/>
            </a:solidFill>
            <a:prstDash val="solid"/>
            <a:round/>
            <a:headEnd type="none" w="med" len="med"/>
            <a:tailEnd type="triangle" w="med" len="med"/>
          </a:ln>
        </p:spPr>
      </p:cxnSp>
      <p:cxnSp>
        <p:nvCxnSpPr>
          <p:cNvPr id="403" name="Google Shape;403;p30"/>
          <p:cNvCxnSpPr/>
          <p:nvPr/>
        </p:nvCxnSpPr>
        <p:spPr>
          <a:xfrm>
            <a:off x="5139350" y="1200000"/>
            <a:ext cx="0" cy="3676800"/>
          </a:xfrm>
          <a:prstGeom prst="straightConnector1">
            <a:avLst/>
          </a:prstGeom>
          <a:noFill/>
          <a:ln w="38100" cap="flat" cmpd="sng">
            <a:solidFill>
              <a:srgbClr val="B7B7B7"/>
            </a:solidFill>
            <a:prstDash val="dot"/>
            <a:round/>
            <a:headEnd type="none" w="med" len="med"/>
            <a:tailEnd type="none" w="med" len="med"/>
          </a:ln>
        </p:spPr>
      </p:cxnSp>
      <p:sp>
        <p:nvSpPr>
          <p:cNvPr id="404" name="Google Shape;404;p30"/>
          <p:cNvSpPr txBox="1"/>
          <p:nvPr/>
        </p:nvSpPr>
        <p:spPr>
          <a:xfrm>
            <a:off x="222250" y="3503250"/>
            <a:ext cx="9759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App</a:t>
            </a:r>
            <a:endParaRPr sz="1800">
              <a:solidFill>
                <a:schemeClr val="dk2"/>
              </a:solidFill>
            </a:endParaRPr>
          </a:p>
        </p:txBody>
      </p:sp>
      <p:sp>
        <p:nvSpPr>
          <p:cNvPr id="405" name="Google Shape;405;p30"/>
          <p:cNvSpPr txBox="1"/>
          <p:nvPr/>
        </p:nvSpPr>
        <p:spPr>
          <a:xfrm>
            <a:off x="228600" y="4566600"/>
            <a:ext cx="41148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E69138"/>
                </a:solidFill>
              </a:rPr>
              <a:t>User</a:t>
            </a:r>
            <a:endParaRPr sz="2000">
              <a:solidFill>
                <a:srgbClr val="E69138"/>
              </a:solidFill>
            </a:endParaRPr>
          </a:p>
        </p:txBody>
      </p:sp>
      <p:cxnSp>
        <p:nvCxnSpPr>
          <p:cNvPr id="406" name="Google Shape;406;p30"/>
          <p:cNvCxnSpPr/>
          <p:nvPr/>
        </p:nvCxnSpPr>
        <p:spPr>
          <a:xfrm>
            <a:off x="7459075" y="1174575"/>
            <a:ext cx="0" cy="3676800"/>
          </a:xfrm>
          <a:prstGeom prst="straightConnector1">
            <a:avLst/>
          </a:prstGeom>
          <a:noFill/>
          <a:ln w="38100" cap="flat" cmpd="sng">
            <a:solidFill>
              <a:srgbClr val="B7B7B7"/>
            </a:solidFill>
            <a:prstDash val="dot"/>
            <a:round/>
            <a:headEnd type="none" w="med" len="med"/>
            <a:tailEnd type="none" w="med" len="med"/>
          </a:ln>
        </p:spPr>
      </p:cxnSp>
      <p:sp>
        <p:nvSpPr>
          <p:cNvPr id="407" name="Google Shape;407;p30"/>
          <p:cNvSpPr txBox="1"/>
          <p:nvPr/>
        </p:nvSpPr>
        <p:spPr>
          <a:xfrm>
            <a:off x="5139350" y="4566600"/>
            <a:ext cx="23196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6AA84F"/>
                </a:solidFill>
              </a:rPr>
              <a:t>File Server</a:t>
            </a:r>
            <a:endParaRPr sz="2000">
              <a:solidFill>
                <a:srgbClr val="6AA84F"/>
              </a:solidFill>
            </a:endParaRPr>
          </a:p>
        </p:txBody>
      </p:sp>
      <p:sp>
        <p:nvSpPr>
          <p:cNvPr id="408" name="Google Shape;408;p30"/>
          <p:cNvSpPr/>
          <p:nvPr/>
        </p:nvSpPr>
        <p:spPr>
          <a:xfrm>
            <a:off x="3903150" y="2711700"/>
            <a:ext cx="870600" cy="653400"/>
          </a:xfrm>
          <a:prstGeom prst="rect">
            <a:avLst/>
          </a:prstGeom>
          <a:solidFill>
            <a:srgbClr val="D7E8D5"/>
          </a:solidFill>
          <a:ln w="19050" cap="flat" cmpd="sng">
            <a:solidFill>
              <a:srgbClr val="86B36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File Client</a:t>
            </a:r>
            <a:endParaRPr/>
          </a:p>
        </p:txBody>
      </p:sp>
      <p:cxnSp>
        <p:nvCxnSpPr>
          <p:cNvPr id="409" name="Google Shape;409;p30"/>
          <p:cNvCxnSpPr/>
          <p:nvPr/>
        </p:nvCxnSpPr>
        <p:spPr>
          <a:xfrm rot="10800000" flipH="1">
            <a:off x="3436950" y="3012225"/>
            <a:ext cx="365700" cy="1500"/>
          </a:xfrm>
          <a:prstGeom prst="straightConnector1">
            <a:avLst/>
          </a:prstGeom>
          <a:noFill/>
          <a:ln w="19050" cap="flat" cmpd="sng">
            <a:solidFill>
              <a:schemeClr val="dk2"/>
            </a:solidFill>
            <a:prstDash val="solid"/>
            <a:round/>
            <a:headEnd type="none" w="med" len="med"/>
            <a:tailEnd type="triangle" w="med" len="med"/>
          </a:ln>
        </p:spPr>
      </p:cxnSp>
      <p:cxnSp>
        <p:nvCxnSpPr>
          <p:cNvPr id="410" name="Google Shape;410;p30"/>
          <p:cNvCxnSpPr/>
          <p:nvPr/>
        </p:nvCxnSpPr>
        <p:spPr>
          <a:xfrm rot="10800000" flipH="1">
            <a:off x="4891725" y="3029550"/>
            <a:ext cx="579600" cy="9600"/>
          </a:xfrm>
          <a:prstGeom prst="straightConnector1">
            <a:avLst/>
          </a:prstGeom>
          <a:noFill/>
          <a:ln w="19050" cap="flat" cmpd="sng">
            <a:solidFill>
              <a:schemeClr val="dk2"/>
            </a:solidFill>
            <a:prstDash val="solid"/>
            <a:round/>
            <a:headEnd type="none" w="med" len="med"/>
            <a:tailEnd type="triangle" w="med" len="med"/>
          </a:ln>
        </p:spPr>
      </p:cxnSp>
      <p:pic>
        <p:nvPicPr>
          <p:cNvPr id="411" name="Google Shape;411;p30"/>
          <p:cNvPicPr preferRelativeResize="0"/>
          <p:nvPr/>
        </p:nvPicPr>
        <p:blipFill>
          <a:blip r:embed="rId7">
            <a:alphaModFix/>
          </a:blip>
          <a:stretch>
            <a:fillRect/>
          </a:stretch>
        </p:blipFill>
        <p:spPr>
          <a:xfrm>
            <a:off x="4916625" y="2430300"/>
            <a:ext cx="445459" cy="462600"/>
          </a:xfrm>
          <a:prstGeom prst="rect">
            <a:avLst/>
          </a:prstGeom>
          <a:noFill/>
          <a:ln>
            <a:noFill/>
          </a:ln>
        </p:spPr>
      </p:pic>
      <p:sp>
        <p:nvSpPr>
          <p:cNvPr id="412" name="Google Shape;412;p30"/>
          <p:cNvSpPr txBox="1"/>
          <p:nvPr/>
        </p:nvSpPr>
        <p:spPr>
          <a:xfrm>
            <a:off x="6068450" y="2692325"/>
            <a:ext cx="7935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86B36B"/>
                </a:solidFill>
              </a:rPr>
              <a:t>xv6</a:t>
            </a:r>
            <a:endParaRPr sz="1800">
              <a:solidFill>
                <a:srgbClr val="86B36B"/>
              </a:solidFill>
            </a:endParaRPr>
          </a:p>
        </p:txBody>
      </p:sp>
      <p:sp>
        <p:nvSpPr>
          <p:cNvPr id="413" name="Google Shape;413;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pic>
        <p:nvPicPr>
          <p:cNvPr id="418" name="Google Shape;418;p31"/>
          <p:cNvPicPr preferRelativeResize="0"/>
          <p:nvPr/>
        </p:nvPicPr>
        <p:blipFill rotWithShape="1">
          <a:blip r:embed="rId3">
            <a:alphaModFix/>
          </a:blip>
          <a:srcRect/>
          <a:stretch/>
        </p:blipFill>
        <p:spPr>
          <a:xfrm>
            <a:off x="5607776" y="2453473"/>
            <a:ext cx="1385362" cy="1169850"/>
          </a:xfrm>
          <a:prstGeom prst="rect">
            <a:avLst/>
          </a:prstGeom>
          <a:noFill/>
          <a:ln>
            <a:noFill/>
          </a:ln>
        </p:spPr>
      </p:pic>
      <p:sp>
        <p:nvSpPr>
          <p:cNvPr id="419" name="Google Shape;419;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 Useful OS Runs Programs </a:t>
            </a:r>
            <a:r>
              <a:rPr lang="en" sz="1800"/>
              <a:t>(in the microkernel way)</a:t>
            </a:r>
            <a:endParaRPr/>
          </a:p>
        </p:txBody>
      </p:sp>
      <p:pic>
        <p:nvPicPr>
          <p:cNvPr id="420" name="Google Shape;420;p31"/>
          <p:cNvPicPr preferRelativeResize="0"/>
          <p:nvPr/>
        </p:nvPicPr>
        <p:blipFill>
          <a:blip r:embed="rId4">
            <a:alphaModFix/>
          </a:blip>
          <a:stretch>
            <a:fillRect/>
          </a:stretch>
        </p:blipFill>
        <p:spPr>
          <a:xfrm>
            <a:off x="228600" y="2527213"/>
            <a:ext cx="976025" cy="976025"/>
          </a:xfrm>
          <a:prstGeom prst="rect">
            <a:avLst/>
          </a:prstGeom>
          <a:noFill/>
          <a:ln>
            <a:noFill/>
          </a:ln>
        </p:spPr>
      </p:pic>
      <p:pic>
        <p:nvPicPr>
          <p:cNvPr id="421" name="Google Shape;421;p31"/>
          <p:cNvPicPr preferRelativeResize="0"/>
          <p:nvPr/>
        </p:nvPicPr>
        <p:blipFill>
          <a:blip r:embed="rId5">
            <a:alphaModFix/>
          </a:blip>
          <a:stretch>
            <a:fillRect/>
          </a:stretch>
        </p:blipFill>
        <p:spPr>
          <a:xfrm>
            <a:off x="2166601" y="2430300"/>
            <a:ext cx="1169850" cy="1169850"/>
          </a:xfrm>
          <a:prstGeom prst="rect">
            <a:avLst/>
          </a:prstGeom>
          <a:noFill/>
          <a:ln>
            <a:noFill/>
          </a:ln>
        </p:spPr>
      </p:pic>
      <p:sp>
        <p:nvSpPr>
          <p:cNvPr id="422" name="Google Shape;422;p31"/>
          <p:cNvSpPr/>
          <p:nvPr/>
        </p:nvSpPr>
        <p:spPr>
          <a:xfrm>
            <a:off x="109675" y="1671000"/>
            <a:ext cx="1675200" cy="462600"/>
          </a:xfrm>
          <a:prstGeom prst="wedgeRoundRectCallout">
            <a:avLst>
              <a:gd name="adj1" fmla="val -34576"/>
              <a:gd name="adj2" fmla="val 16270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INSERT INTO …</a:t>
            </a:r>
            <a:endParaRPr/>
          </a:p>
        </p:txBody>
      </p:sp>
      <p:cxnSp>
        <p:nvCxnSpPr>
          <p:cNvPr id="423" name="Google Shape;423;p31"/>
          <p:cNvCxnSpPr/>
          <p:nvPr/>
        </p:nvCxnSpPr>
        <p:spPr>
          <a:xfrm>
            <a:off x="1306275" y="3015225"/>
            <a:ext cx="682800" cy="0"/>
          </a:xfrm>
          <a:prstGeom prst="straightConnector1">
            <a:avLst/>
          </a:prstGeom>
          <a:noFill/>
          <a:ln w="19050" cap="flat" cmpd="sng">
            <a:solidFill>
              <a:schemeClr val="dk2"/>
            </a:solidFill>
            <a:prstDash val="solid"/>
            <a:round/>
            <a:headEnd type="none" w="med" len="med"/>
            <a:tailEnd type="triangle" w="med" len="med"/>
          </a:ln>
        </p:spPr>
      </p:cxnSp>
      <p:sp>
        <p:nvSpPr>
          <p:cNvPr id="424" name="Google Shape;424;p31"/>
          <p:cNvSpPr/>
          <p:nvPr/>
        </p:nvSpPr>
        <p:spPr>
          <a:xfrm>
            <a:off x="2166600" y="1671000"/>
            <a:ext cx="1675200" cy="462600"/>
          </a:xfrm>
          <a:prstGeom prst="wedgeRoundRectCallout">
            <a:avLst>
              <a:gd name="adj1" fmla="val -32945"/>
              <a:gd name="adj2" fmla="val 15534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write(fd, …)</a:t>
            </a:r>
            <a:endParaRPr/>
          </a:p>
        </p:txBody>
      </p:sp>
      <p:sp>
        <p:nvSpPr>
          <p:cNvPr id="425" name="Google Shape;425;p31"/>
          <p:cNvSpPr/>
          <p:nvPr/>
        </p:nvSpPr>
        <p:spPr>
          <a:xfrm>
            <a:off x="5432175" y="1671000"/>
            <a:ext cx="1675200" cy="462600"/>
          </a:xfrm>
          <a:prstGeom prst="wedgeRoundRectCallout">
            <a:avLst>
              <a:gd name="adj1" fmla="val -6075"/>
              <a:gd name="adj2" fmla="val 159068"/>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write block …</a:t>
            </a:r>
            <a:endParaRPr/>
          </a:p>
        </p:txBody>
      </p:sp>
      <p:sp>
        <p:nvSpPr>
          <p:cNvPr id="426" name="Google Shape;426;p31"/>
          <p:cNvSpPr txBox="1"/>
          <p:nvPr/>
        </p:nvSpPr>
        <p:spPr>
          <a:xfrm>
            <a:off x="2166601" y="3600150"/>
            <a:ext cx="11697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SQLite</a:t>
            </a:r>
            <a:endParaRPr sz="1800">
              <a:solidFill>
                <a:schemeClr val="dk2"/>
              </a:solidFill>
            </a:endParaRPr>
          </a:p>
        </p:txBody>
      </p:sp>
      <p:sp>
        <p:nvSpPr>
          <p:cNvPr id="427" name="Google Shape;427;p31"/>
          <p:cNvSpPr txBox="1"/>
          <p:nvPr/>
        </p:nvSpPr>
        <p:spPr>
          <a:xfrm>
            <a:off x="5577075" y="3663225"/>
            <a:ext cx="13854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File System</a:t>
            </a:r>
            <a:endParaRPr sz="1800">
              <a:solidFill>
                <a:schemeClr val="dk2"/>
              </a:solidFill>
            </a:endParaRPr>
          </a:p>
        </p:txBody>
      </p:sp>
      <p:sp>
        <p:nvSpPr>
          <p:cNvPr id="428" name="Google Shape;428;p31"/>
          <p:cNvSpPr txBox="1"/>
          <p:nvPr/>
        </p:nvSpPr>
        <p:spPr>
          <a:xfrm>
            <a:off x="7900675" y="3567825"/>
            <a:ext cx="11271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Ramdisk</a:t>
            </a:r>
            <a:endParaRPr sz="1800">
              <a:solidFill>
                <a:schemeClr val="dk2"/>
              </a:solidFill>
            </a:endParaRPr>
          </a:p>
        </p:txBody>
      </p:sp>
      <p:cxnSp>
        <p:nvCxnSpPr>
          <p:cNvPr id="429" name="Google Shape;429;p31"/>
          <p:cNvCxnSpPr/>
          <p:nvPr/>
        </p:nvCxnSpPr>
        <p:spPr>
          <a:xfrm>
            <a:off x="7233400" y="2947325"/>
            <a:ext cx="682800" cy="0"/>
          </a:xfrm>
          <a:prstGeom prst="straightConnector1">
            <a:avLst/>
          </a:prstGeom>
          <a:noFill/>
          <a:ln w="19050" cap="flat" cmpd="sng">
            <a:solidFill>
              <a:schemeClr val="dk2"/>
            </a:solidFill>
            <a:prstDash val="solid"/>
            <a:round/>
            <a:headEnd type="none" w="med" len="med"/>
            <a:tailEnd type="triangle" w="med" len="med"/>
          </a:ln>
        </p:spPr>
      </p:cxnSp>
      <p:cxnSp>
        <p:nvCxnSpPr>
          <p:cNvPr id="430" name="Google Shape;430;p31"/>
          <p:cNvCxnSpPr/>
          <p:nvPr/>
        </p:nvCxnSpPr>
        <p:spPr>
          <a:xfrm>
            <a:off x="5139350" y="1200000"/>
            <a:ext cx="0" cy="3676800"/>
          </a:xfrm>
          <a:prstGeom prst="straightConnector1">
            <a:avLst/>
          </a:prstGeom>
          <a:noFill/>
          <a:ln w="38100" cap="flat" cmpd="sng">
            <a:solidFill>
              <a:srgbClr val="B7B7B7"/>
            </a:solidFill>
            <a:prstDash val="dot"/>
            <a:round/>
            <a:headEnd type="none" w="med" len="med"/>
            <a:tailEnd type="none" w="med" len="med"/>
          </a:ln>
        </p:spPr>
      </p:cxnSp>
      <p:sp>
        <p:nvSpPr>
          <p:cNvPr id="431" name="Google Shape;431;p31"/>
          <p:cNvSpPr txBox="1"/>
          <p:nvPr/>
        </p:nvSpPr>
        <p:spPr>
          <a:xfrm>
            <a:off x="222250" y="3503250"/>
            <a:ext cx="9759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App</a:t>
            </a:r>
            <a:endParaRPr sz="1800">
              <a:solidFill>
                <a:schemeClr val="dk2"/>
              </a:solidFill>
            </a:endParaRPr>
          </a:p>
        </p:txBody>
      </p:sp>
      <p:sp>
        <p:nvSpPr>
          <p:cNvPr id="432" name="Google Shape;432;p31"/>
          <p:cNvSpPr txBox="1"/>
          <p:nvPr/>
        </p:nvSpPr>
        <p:spPr>
          <a:xfrm>
            <a:off x="228600" y="4566600"/>
            <a:ext cx="41148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E69138"/>
                </a:solidFill>
              </a:rPr>
              <a:t>User</a:t>
            </a:r>
            <a:endParaRPr sz="2000">
              <a:solidFill>
                <a:srgbClr val="E69138"/>
              </a:solidFill>
            </a:endParaRPr>
          </a:p>
        </p:txBody>
      </p:sp>
      <p:cxnSp>
        <p:nvCxnSpPr>
          <p:cNvPr id="433" name="Google Shape;433;p31"/>
          <p:cNvCxnSpPr/>
          <p:nvPr/>
        </p:nvCxnSpPr>
        <p:spPr>
          <a:xfrm>
            <a:off x="7459075" y="1174575"/>
            <a:ext cx="0" cy="3676800"/>
          </a:xfrm>
          <a:prstGeom prst="straightConnector1">
            <a:avLst/>
          </a:prstGeom>
          <a:noFill/>
          <a:ln w="38100" cap="flat" cmpd="sng">
            <a:solidFill>
              <a:srgbClr val="B7B7B7"/>
            </a:solidFill>
            <a:prstDash val="dot"/>
            <a:round/>
            <a:headEnd type="none" w="med" len="med"/>
            <a:tailEnd type="none" w="med" len="med"/>
          </a:ln>
        </p:spPr>
      </p:cxnSp>
      <p:sp>
        <p:nvSpPr>
          <p:cNvPr id="434" name="Google Shape;434;p31"/>
          <p:cNvSpPr txBox="1"/>
          <p:nvPr/>
        </p:nvSpPr>
        <p:spPr>
          <a:xfrm>
            <a:off x="5139350" y="4566600"/>
            <a:ext cx="23196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6AA84F"/>
                </a:solidFill>
              </a:rPr>
              <a:t>File Server</a:t>
            </a:r>
            <a:endParaRPr sz="2000">
              <a:solidFill>
                <a:srgbClr val="6AA84F"/>
              </a:solidFill>
            </a:endParaRPr>
          </a:p>
        </p:txBody>
      </p:sp>
      <p:sp>
        <p:nvSpPr>
          <p:cNvPr id="435" name="Google Shape;435;p31"/>
          <p:cNvSpPr/>
          <p:nvPr/>
        </p:nvSpPr>
        <p:spPr>
          <a:xfrm>
            <a:off x="3903150" y="2711700"/>
            <a:ext cx="870600" cy="653400"/>
          </a:xfrm>
          <a:prstGeom prst="rect">
            <a:avLst/>
          </a:prstGeom>
          <a:solidFill>
            <a:srgbClr val="D7E8D5"/>
          </a:solidFill>
          <a:ln w="19050" cap="flat" cmpd="sng">
            <a:solidFill>
              <a:srgbClr val="86B36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File Client</a:t>
            </a:r>
            <a:endParaRPr/>
          </a:p>
        </p:txBody>
      </p:sp>
      <p:cxnSp>
        <p:nvCxnSpPr>
          <p:cNvPr id="436" name="Google Shape;436;p31"/>
          <p:cNvCxnSpPr/>
          <p:nvPr/>
        </p:nvCxnSpPr>
        <p:spPr>
          <a:xfrm rot="10800000" flipH="1">
            <a:off x="3436950" y="3012225"/>
            <a:ext cx="365700" cy="1500"/>
          </a:xfrm>
          <a:prstGeom prst="straightConnector1">
            <a:avLst/>
          </a:prstGeom>
          <a:noFill/>
          <a:ln w="19050" cap="flat" cmpd="sng">
            <a:solidFill>
              <a:schemeClr val="dk2"/>
            </a:solidFill>
            <a:prstDash val="solid"/>
            <a:round/>
            <a:headEnd type="none" w="med" len="med"/>
            <a:tailEnd type="triangle" w="med" len="med"/>
          </a:ln>
        </p:spPr>
      </p:cxnSp>
      <p:cxnSp>
        <p:nvCxnSpPr>
          <p:cNvPr id="437" name="Google Shape;437;p31"/>
          <p:cNvCxnSpPr/>
          <p:nvPr/>
        </p:nvCxnSpPr>
        <p:spPr>
          <a:xfrm rot="10800000" flipH="1">
            <a:off x="4891725" y="3029550"/>
            <a:ext cx="579600" cy="9600"/>
          </a:xfrm>
          <a:prstGeom prst="straightConnector1">
            <a:avLst/>
          </a:prstGeom>
          <a:noFill/>
          <a:ln w="19050" cap="flat" cmpd="sng">
            <a:solidFill>
              <a:schemeClr val="dk2"/>
            </a:solidFill>
            <a:prstDash val="solid"/>
            <a:round/>
            <a:headEnd type="none" w="med" len="med"/>
            <a:tailEnd type="triangle" w="med" len="med"/>
          </a:ln>
        </p:spPr>
      </p:cxnSp>
      <p:pic>
        <p:nvPicPr>
          <p:cNvPr id="438" name="Google Shape;438;p31"/>
          <p:cNvPicPr preferRelativeResize="0"/>
          <p:nvPr/>
        </p:nvPicPr>
        <p:blipFill>
          <a:blip r:embed="rId6">
            <a:alphaModFix/>
          </a:blip>
          <a:stretch>
            <a:fillRect/>
          </a:stretch>
        </p:blipFill>
        <p:spPr>
          <a:xfrm>
            <a:off x="4916625" y="2430300"/>
            <a:ext cx="445459" cy="462600"/>
          </a:xfrm>
          <a:prstGeom prst="rect">
            <a:avLst/>
          </a:prstGeom>
          <a:noFill/>
          <a:ln>
            <a:noFill/>
          </a:ln>
        </p:spPr>
      </p:pic>
      <p:pic>
        <p:nvPicPr>
          <p:cNvPr id="439" name="Google Shape;439;p31"/>
          <p:cNvPicPr preferRelativeResize="0"/>
          <p:nvPr/>
        </p:nvPicPr>
        <p:blipFill>
          <a:blip r:embed="rId7">
            <a:alphaModFix/>
          </a:blip>
          <a:stretch>
            <a:fillRect/>
          </a:stretch>
        </p:blipFill>
        <p:spPr>
          <a:xfrm>
            <a:off x="7281100" y="2620075"/>
            <a:ext cx="459875" cy="216413"/>
          </a:xfrm>
          <a:prstGeom prst="rect">
            <a:avLst/>
          </a:prstGeom>
          <a:noFill/>
          <a:ln>
            <a:noFill/>
          </a:ln>
        </p:spPr>
      </p:pic>
      <p:sp>
        <p:nvSpPr>
          <p:cNvPr id="440" name="Google Shape;440;p31"/>
          <p:cNvSpPr txBox="1"/>
          <p:nvPr/>
        </p:nvSpPr>
        <p:spPr>
          <a:xfrm>
            <a:off x="7513000" y="4256700"/>
            <a:ext cx="1568700" cy="77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B1739C"/>
                </a:solidFill>
              </a:rPr>
              <a:t>Block Server</a:t>
            </a:r>
            <a:endParaRPr sz="2000">
              <a:solidFill>
                <a:srgbClr val="B1739C"/>
              </a:solidFill>
            </a:endParaRPr>
          </a:p>
        </p:txBody>
      </p:sp>
      <p:pic>
        <p:nvPicPr>
          <p:cNvPr id="441" name="Google Shape;441;p31"/>
          <p:cNvPicPr preferRelativeResize="0"/>
          <p:nvPr/>
        </p:nvPicPr>
        <p:blipFill>
          <a:blip r:embed="rId8">
            <a:alphaModFix/>
          </a:blip>
          <a:stretch>
            <a:fillRect/>
          </a:stretch>
        </p:blipFill>
        <p:spPr>
          <a:xfrm rot="5400000">
            <a:off x="7710425" y="2591363"/>
            <a:ext cx="1348925" cy="711925"/>
          </a:xfrm>
          <a:prstGeom prst="rect">
            <a:avLst/>
          </a:prstGeom>
          <a:noFill/>
          <a:ln>
            <a:noFill/>
          </a:ln>
        </p:spPr>
      </p:pic>
      <p:sp>
        <p:nvSpPr>
          <p:cNvPr id="442" name="Google Shape;442;p31"/>
          <p:cNvSpPr txBox="1"/>
          <p:nvPr/>
        </p:nvSpPr>
        <p:spPr>
          <a:xfrm>
            <a:off x="6068450" y="2692325"/>
            <a:ext cx="7935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86B36B"/>
                </a:solidFill>
              </a:rPr>
              <a:t>xv6</a:t>
            </a:r>
            <a:endParaRPr sz="1800">
              <a:solidFill>
                <a:srgbClr val="86B36B"/>
              </a:solidFill>
            </a:endParaRPr>
          </a:p>
        </p:txBody>
      </p:sp>
      <p:sp>
        <p:nvSpPr>
          <p:cNvPr id="443" name="Google Shape;443;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pic>
        <p:nvPicPr>
          <p:cNvPr id="448" name="Google Shape;448;p32"/>
          <p:cNvPicPr preferRelativeResize="0"/>
          <p:nvPr/>
        </p:nvPicPr>
        <p:blipFill rotWithShape="1">
          <a:blip r:embed="rId3">
            <a:alphaModFix/>
          </a:blip>
          <a:srcRect/>
          <a:stretch/>
        </p:blipFill>
        <p:spPr>
          <a:xfrm>
            <a:off x="5607776" y="2453473"/>
            <a:ext cx="1385362" cy="1169850"/>
          </a:xfrm>
          <a:prstGeom prst="rect">
            <a:avLst/>
          </a:prstGeom>
          <a:noFill/>
          <a:ln>
            <a:noFill/>
          </a:ln>
        </p:spPr>
      </p:pic>
      <p:sp>
        <p:nvSpPr>
          <p:cNvPr id="449" name="Google Shape;449;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 Useful OS Runs Programs </a:t>
            </a:r>
            <a:r>
              <a:rPr lang="en" sz="1800"/>
              <a:t>(in the microkernel way)</a:t>
            </a:r>
            <a:endParaRPr/>
          </a:p>
        </p:txBody>
      </p:sp>
      <p:pic>
        <p:nvPicPr>
          <p:cNvPr id="450" name="Google Shape;450;p32"/>
          <p:cNvPicPr preferRelativeResize="0"/>
          <p:nvPr/>
        </p:nvPicPr>
        <p:blipFill>
          <a:blip r:embed="rId4">
            <a:alphaModFix/>
          </a:blip>
          <a:stretch>
            <a:fillRect/>
          </a:stretch>
        </p:blipFill>
        <p:spPr>
          <a:xfrm>
            <a:off x="228600" y="2527213"/>
            <a:ext cx="976025" cy="976025"/>
          </a:xfrm>
          <a:prstGeom prst="rect">
            <a:avLst/>
          </a:prstGeom>
          <a:noFill/>
          <a:ln>
            <a:noFill/>
          </a:ln>
        </p:spPr>
      </p:pic>
      <p:pic>
        <p:nvPicPr>
          <p:cNvPr id="451" name="Google Shape;451;p32"/>
          <p:cNvPicPr preferRelativeResize="0"/>
          <p:nvPr/>
        </p:nvPicPr>
        <p:blipFill>
          <a:blip r:embed="rId5">
            <a:alphaModFix/>
          </a:blip>
          <a:stretch>
            <a:fillRect/>
          </a:stretch>
        </p:blipFill>
        <p:spPr>
          <a:xfrm>
            <a:off x="2166601" y="2430300"/>
            <a:ext cx="1169850" cy="1169850"/>
          </a:xfrm>
          <a:prstGeom prst="rect">
            <a:avLst/>
          </a:prstGeom>
          <a:noFill/>
          <a:ln>
            <a:noFill/>
          </a:ln>
        </p:spPr>
      </p:pic>
      <p:sp>
        <p:nvSpPr>
          <p:cNvPr id="452" name="Google Shape;452;p32"/>
          <p:cNvSpPr/>
          <p:nvPr/>
        </p:nvSpPr>
        <p:spPr>
          <a:xfrm>
            <a:off x="109675" y="1671000"/>
            <a:ext cx="1675200" cy="462600"/>
          </a:xfrm>
          <a:prstGeom prst="wedgeRoundRectCallout">
            <a:avLst>
              <a:gd name="adj1" fmla="val -34576"/>
              <a:gd name="adj2" fmla="val 16270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INSERT INTO …</a:t>
            </a:r>
            <a:endParaRPr/>
          </a:p>
        </p:txBody>
      </p:sp>
      <p:cxnSp>
        <p:nvCxnSpPr>
          <p:cNvPr id="453" name="Google Shape;453;p32"/>
          <p:cNvCxnSpPr/>
          <p:nvPr/>
        </p:nvCxnSpPr>
        <p:spPr>
          <a:xfrm>
            <a:off x="1306275" y="3015225"/>
            <a:ext cx="682800" cy="0"/>
          </a:xfrm>
          <a:prstGeom prst="straightConnector1">
            <a:avLst/>
          </a:prstGeom>
          <a:noFill/>
          <a:ln w="19050" cap="flat" cmpd="sng">
            <a:solidFill>
              <a:schemeClr val="dk2"/>
            </a:solidFill>
            <a:prstDash val="solid"/>
            <a:round/>
            <a:headEnd type="none" w="med" len="med"/>
            <a:tailEnd type="triangle" w="med" len="med"/>
          </a:ln>
        </p:spPr>
      </p:cxnSp>
      <p:sp>
        <p:nvSpPr>
          <p:cNvPr id="454" name="Google Shape;454;p32"/>
          <p:cNvSpPr/>
          <p:nvPr/>
        </p:nvSpPr>
        <p:spPr>
          <a:xfrm>
            <a:off x="2166600" y="1671000"/>
            <a:ext cx="1675200" cy="462600"/>
          </a:xfrm>
          <a:prstGeom prst="wedgeRoundRectCallout">
            <a:avLst>
              <a:gd name="adj1" fmla="val -23873"/>
              <a:gd name="adj2" fmla="val 157987"/>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write(fd, …)</a:t>
            </a:r>
            <a:endParaRPr/>
          </a:p>
        </p:txBody>
      </p:sp>
      <p:sp>
        <p:nvSpPr>
          <p:cNvPr id="455" name="Google Shape;455;p32"/>
          <p:cNvSpPr/>
          <p:nvPr/>
        </p:nvSpPr>
        <p:spPr>
          <a:xfrm>
            <a:off x="5432175" y="1671000"/>
            <a:ext cx="1675200" cy="462600"/>
          </a:xfrm>
          <a:prstGeom prst="wedgeRoundRectCallout">
            <a:avLst>
              <a:gd name="adj1" fmla="val -6075"/>
              <a:gd name="adj2" fmla="val 159068"/>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write block …</a:t>
            </a:r>
            <a:endParaRPr/>
          </a:p>
        </p:txBody>
      </p:sp>
      <p:sp>
        <p:nvSpPr>
          <p:cNvPr id="456" name="Google Shape;456;p32"/>
          <p:cNvSpPr txBox="1"/>
          <p:nvPr/>
        </p:nvSpPr>
        <p:spPr>
          <a:xfrm>
            <a:off x="2166601" y="3600150"/>
            <a:ext cx="11697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SQLite</a:t>
            </a:r>
            <a:endParaRPr sz="1800">
              <a:solidFill>
                <a:schemeClr val="dk2"/>
              </a:solidFill>
            </a:endParaRPr>
          </a:p>
        </p:txBody>
      </p:sp>
      <p:sp>
        <p:nvSpPr>
          <p:cNvPr id="457" name="Google Shape;457;p32"/>
          <p:cNvSpPr txBox="1"/>
          <p:nvPr/>
        </p:nvSpPr>
        <p:spPr>
          <a:xfrm>
            <a:off x="5577075" y="3663225"/>
            <a:ext cx="13854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File System</a:t>
            </a:r>
            <a:endParaRPr sz="1800">
              <a:solidFill>
                <a:schemeClr val="dk2"/>
              </a:solidFill>
            </a:endParaRPr>
          </a:p>
        </p:txBody>
      </p:sp>
      <p:sp>
        <p:nvSpPr>
          <p:cNvPr id="458" name="Google Shape;458;p32"/>
          <p:cNvSpPr txBox="1"/>
          <p:nvPr/>
        </p:nvSpPr>
        <p:spPr>
          <a:xfrm>
            <a:off x="7900675" y="3567825"/>
            <a:ext cx="11271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Ramdisk</a:t>
            </a:r>
            <a:endParaRPr sz="1800">
              <a:solidFill>
                <a:schemeClr val="dk2"/>
              </a:solidFill>
            </a:endParaRPr>
          </a:p>
        </p:txBody>
      </p:sp>
      <p:cxnSp>
        <p:nvCxnSpPr>
          <p:cNvPr id="459" name="Google Shape;459;p32"/>
          <p:cNvCxnSpPr/>
          <p:nvPr/>
        </p:nvCxnSpPr>
        <p:spPr>
          <a:xfrm>
            <a:off x="7233400" y="2947325"/>
            <a:ext cx="682800" cy="0"/>
          </a:xfrm>
          <a:prstGeom prst="straightConnector1">
            <a:avLst/>
          </a:prstGeom>
          <a:noFill/>
          <a:ln w="19050" cap="flat" cmpd="sng">
            <a:solidFill>
              <a:schemeClr val="dk2"/>
            </a:solidFill>
            <a:prstDash val="solid"/>
            <a:round/>
            <a:headEnd type="none" w="med" len="med"/>
            <a:tailEnd type="triangle" w="med" len="med"/>
          </a:ln>
        </p:spPr>
      </p:cxnSp>
      <p:cxnSp>
        <p:nvCxnSpPr>
          <p:cNvPr id="460" name="Google Shape;460;p32"/>
          <p:cNvCxnSpPr/>
          <p:nvPr/>
        </p:nvCxnSpPr>
        <p:spPr>
          <a:xfrm>
            <a:off x="5139350" y="1200000"/>
            <a:ext cx="0" cy="3676800"/>
          </a:xfrm>
          <a:prstGeom prst="straightConnector1">
            <a:avLst/>
          </a:prstGeom>
          <a:noFill/>
          <a:ln w="38100" cap="flat" cmpd="sng">
            <a:solidFill>
              <a:srgbClr val="B7B7B7"/>
            </a:solidFill>
            <a:prstDash val="dot"/>
            <a:round/>
            <a:headEnd type="none" w="med" len="med"/>
            <a:tailEnd type="none" w="med" len="med"/>
          </a:ln>
        </p:spPr>
      </p:cxnSp>
      <p:sp>
        <p:nvSpPr>
          <p:cNvPr id="461" name="Google Shape;461;p32"/>
          <p:cNvSpPr txBox="1"/>
          <p:nvPr/>
        </p:nvSpPr>
        <p:spPr>
          <a:xfrm>
            <a:off x="222250" y="3503250"/>
            <a:ext cx="9759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App</a:t>
            </a:r>
            <a:endParaRPr sz="1800">
              <a:solidFill>
                <a:schemeClr val="dk2"/>
              </a:solidFill>
            </a:endParaRPr>
          </a:p>
        </p:txBody>
      </p:sp>
      <p:sp>
        <p:nvSpPr>
          <p:cNvPr id="462" name="Google Shape;462;p32"/>
          <p:cNvSpPr txBox="1"/>
          <p:nvPr/>
        </p:nvSpPr>
        <p:spPr>
          <a:xfrm>
            <a:off x="228600" y="4566600"/>
            <a:ext cx="41148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E69138"/>
                </a:solidFill>
              </a:rPr>
              <a:t>User</a:t>
            </a:r>
            <a:endParaRPr sz="2000">
              <a:solidFill>
                <a:srgbClr val="E69138"/>
              </a:solidFill>
            </a:endParaRPr>
          </a:p>
        </p:txBody>
      </p:sp>
      <p:cxnSp>
        <p:nvCxnSpPr>
          <p:cNvPr id="463" name="Google Shape;463;p32"/>
          <p:cNvCxnSpPr/>
          <p:nvPr/>
        </p:nvCxnSpPr>
        <p:spPr>
          <a:xfrm>
            <a:off x="7459075" y="1174575"/>
            <a:ext cx="0" cy="3676800"/>
          </a:xfrm>
          <a:prstGeom prst="straightConnector1">
            <a:avLst/>
          </a:prstGeom>
          <a:noFill/>
          <a:ln w="38100" cap="flat" cmpd="sng">
            <a:solidFill>
              <a:srgbClr val="B7B7B7"/>
            </a:solidFill>
            <a:prstDash val="dot"/>
            <a:round/>
            <a:headEnd type="none" w="med" len="med"/>
            <a:tailEnd type="none" w="med" len="med"/>
          </a:ln>
        </p:spPr>
      </p:cxnSp>
      <p:sp>
        <p:nvSpPr>
          <p:cNvPr id="464" name="Google Shape;464;p32"/>
          <p:cNvSpPr txBox="1"/>
          <p:nvPr/>
        </p:nvSpPr>
        <p:spPr>
          <a:xfrm>
            <a:off x="5139350" y="4566600"/>
            <a:ext cx="23196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6AA84F"/>
                </a:solidFill>
              </a:rPr>
              <a:t>File Server</a:t>
            </a:r>
            <a:endParaRPr sz="2000">
              <a:solidFill>
                <a:srgbClr val="6AA84F"/>
              </a:solidFill>
            </a:endParaRPr>
          </a:p>
        </p:txBody>
      </p:sp>
      <p:sp>
        <p:nvSpPr>
          <p:cNvPr id="465" name="Google Shape;465;p32"/>
          <p:cNvSpPr/>
          <p:nvPr/>
        </p:nvSpPr>
        <p:spPr>
          <a:xfrm>
            <a:off x="3903150" y="2711700"/>
            <a:ext cx="870600" cy="653400"/>
          </a:xfrm>
          <a:prstGeom prst="rect">
            <a:avLst/>
          </a:prstGeom>
          <a:solidFill>
            <a:srgbClr val="D7E8D5"/>
          </a:solidFill>
          <a:ln w="19050" cap="flat" cmpd="sng">
            <a:solidFill>
              <a:srgbClr val="86B36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File Client</a:t>
            </a:r>
            <a:endParaRPr/>
          </a:p>
        </p:txBody>
      </p:sp>
      <p:cxnSp>
        <p:nvCxnSpPr>
          <p:cNvPr id="466" name="Google Shape;466;p32"/>
          <p:cNvCxnSpPr/>
          <p:nvPr/>
        </p:nvCxnSpPr>
        <p:spPr>
          <a:xfrm rot="10800000" flipH="1">
            <a:off x="3436950" y="3012225"/>
            <a:ext cx="365700" cy="1500"/>
          </a:xfrm>
          <a:prstGeom prst="straightConnector1">
            <a:avLst/>
          </a:prstGeom>
          <a:noFill/>
          <a:ln w="19050" cap="flat" cmpd="sng">
            <a:solidFill>
              <a:schemeClr val="dk2"/>
            </a:solidFill>
            <a:prstDash val="solid"/>
            <a:round/>
            <a:headEnd type="none" w="med" len="med"/>
            <a:tailEnd type="triangle" w="med" len="med"/>
          </a:ln>
        </p:spPr>
      </p:cxnSp>
      <p:cxnSp>
        <p:nvCxnSpPr>
          <p:cNvPr id="467" name="Google Shape;467;p32"/>
          <p:cNvCxnSpPr/>
          <p:nvPr/>
        </p:nvCxnSpPr>
        <p:spPr>
          <a:xfrm rot="10800000" flipH="1">
            <a:off x="4891725" y="3029550"/>
            <a:ext cx="579600" cy="9600"/>
          </a:xfrm>
          <a:prstGeom prst="straightConnector1">
            <a:avLst/>
          </a:prstGeom>
          <a:noFill/>
          <a:ln w="19050" cap="flat" cmpd="sng">
            <a:solidFill>
              <a:schemeClr val="dk2"/>
            </a:solidFill>
            <a:prstDash val="solid"/>
            <a:round/>
            <a:headEnd type="none" w="med" len="med"/>
            <a:tailEnd type="triangle" w="med" len="med"/>
          </a:ln>
        </p:spPr>
      </p:cxnSp>
      <p:pic>
        <p:nvPicPr>
          <p:cNvPr id="468" name="Google Shape;468;p32"/>
          <p:cNvPicPr preferRelativeResize="0"/>
          <p:nvPr/>
        </p:nvPicPr>
        <p:blipFill>
          <a:blip r:embed="rId6">
            <a:alphaModFix/>
          </a:blip>
          <a:stretch>
            <a:fillRect/>
          </a:stretch>
        </p:blipFill>
        <p:spPr>
          <a:xfrm>
            <a:off x="4916625" y="2430300"/>
            <a:ext cx="445459" cy="462600"/>
          </a:xfrm>
          <a:prstGeom prst="rect">
            <a:avLst/>
          </a:prstGeom>
          <a:noFill/>
          <a:ln>
            <a:noFill/>
          </a:ln>
        </p:spPr>
      </p:pic>
      <p:pic>
        <p:nvPicPr>
          <p:cNvPr id="469" name="Google Shape;469;p32"/>
          <p:cNvPicPr preferRelativeResize="0"/>
          <p:nvPr/>
        </p:nvPicPr>
        <p:blipFill>
          <a:blip r:embed="rId7">
            <a:alphaModFix/>
          </a:blip>
          <a:stretch>
            <a:fillRect/>
          </a:stretch>
        </p:blipFill>
        <p:spPr>
          <a:xfrm>
            <a:off x="7281100" y="2620075"/>
            <a:ext cx="459875" cy="216413"/>
          </a:xfrm>
          <a:prstGeom prst="rect">
            <a:avLst/>
          </a:prstGeom>
          <a:noFill/>
          <a:ln>
            <a:noFill/>
          </a:ln>
        </p:spPr>
      </p:pic>
      <p:sp>
        <p:nvSpPr>
          <p:cNvPr id="470" name="Google Shape;470;p32"/>
          <p:cNvSpPr txBox="1"/>
          <p:nvPr/>
        </p:nvSpPr>
        <p:spPr>
          <a:xfrm>
            <a:off x="7513000" y="4256700"/>
            <a:ext cx="1568700" cy="77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B1739C"/>
                </a:solidFill>
              </a:rPr>
              <a:t>Block Server</a:t>
            </a:r>
            <a:endParaRPr sz="2000">
              <a:solidFill>
                <a:srgbClr val="B1739C"/>
              </a:solidFill>
            </a:endParaRPr>
          </a:p>
        </p:txBody>
      </p:sp>
      <p:pic>
        <p:nvPicPr>
          <p:cNvPr id="471" name="Google Shape;471;p32"/>
          <p:cNvPicPr preferRelativeResize="0"/>
          <p:nvPr/>
        </p:nvPicPr>
        <p:blipFill>
          <a:blip r:embed="rId8">
            <a:alphaModFix/>
          </a:blip>
          <a:stretch>
            <a:fillRect/>
          </a:stretch>
        </p:blipFill>
        <p:spPr>
          <a:xfrm rot="5400000">
            <a:off x="7710425" y="2591363"/>
            <a:ext cx="1348925" cy="711925"/>
          </a:xfrm>
          <a:prstGeom prst="rect">
            <a:avLst/>
          </a:prstGeom>
          <a:noFill/>
          <a:ln>
            <a:noFill/>
          </a:ln>
        </p:spPr>
      </p:pic>
      <p:sp>
        <p:nvSpPr>
          <p:cNvPr id="472" name="Google Shape;472;p32"/>
          <p:cNvSpPr txBox="1"/>
          <p:nvPr/>
        </p:nvSpPr>
        <p:spPr>
          <a:xfrm>
            <a:off x="6068450" y="2692325"/>
            <a:ext cx="793500" cy="46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86B36B"/>
                </a:solidFill>
              </a:rPr>
              <a:t>xv6</a:t>
            </a:r>
            <a:endParaRPr sz="1800">
              <a:solidFill>
                <a:srgbClr val="86B36B"/>
              </a:solidFill>
            </a:endParaRPr>
          </a:p>
        </p:txBody>
      </p:sp>
      <p:sp>
        <p:nvSpPr>
          <p:cNvPr id="473" name="Google Shape;473;p32"/>
          <p:cNvSpPr/>
          <p:nvPr/>
        </p:nvSpPr>
        <p:spPr>
          <a:xfrm>
            <a:off x="2951625" y="1967700"/>
            <a:ext cx="1675200" cy="462600"/>
          </a:xfrm>
          <a:prstGeom prst="wedgeRoundRectCallout">
            <a:avLst>
              <a:gd name="adj1" fmla="val -57047"/>
              <a:gd name="adj2" fmla="val 116732"/>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open(...)</a:t>
            </a:r>
            <a:endParaRPr/>
          </a:p>
        </p:txBody>
      </p:sp>
      <p:sp>
        <p:nvSpPr>
          <p:cNvPr id="474" name="Google Shape;474;p32"/>
          <p:cNvSpPr/>
          <p:nvPr/>
        </p:nvSpPr>
        <p:spPr>
          <a:xfrm>
            <a:off x="3174575" y="2341613"/>
            <a:ext cx="1675200" cy="462600"/>
          </a:xfrm>
          <a:prstGeom prst="wedgeRoundRectCallout">
            <a:avLst>
              <a:gd name="adj1" fmla="val -67196"/>
              <a:gd name="adj2" fmla="val 62589"/>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read(...)</a:t>
            </a:r>
            <a:endParaRPr/>
          </a:p>
        </p:txBody>
      </p:sp>
      <p:sp>
        <p:nvSpPr>
          <p:cNvPr id="475" name="Google Shape;475;p32"/>
          <p:cNvSpPr/>
          <p:nvPr/>
        </p:nvSpPr>
        <p:spPr>
          <a:xfrm>
            <a:off x="3191150" y="2716013"/>
            <a:ext cx="1675200" cy="462600"/>
          </a:xfrm>
          <a:prstGeom prst="wedgeRoundRectCallout">
            <a:avLst>
              <a:gd name="adj1" fmla="val -66607"/>
              <a:gd name="adj2" fmla="val 1788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close(...)</a:t>
            </a:r>
            <a:endParaRPr/>
          </a:p>
        </p:txBody>
      </p:sp>
      <p:sp>
        <p:nvSpPr>
          <p:cNvPr id="476" name="Google Shape;476;p32"/>
          <p:cNvSpPr/>
          <p:nvPr/>
        </p:nvSpPr>
        <p:spPr>
          <a:xfrm>
            <a:off x="3098550" y="3075625"/>
            <a:ext cx="1675200" cy="462600"/>
          </a:xfrm>
          <a:prstGeom prst="wedgeRoundRectCallout">
            <a:avLst>
              <a:gd name="adj1" fmla="val -61079"/>
              <a:gd name="adj2" fmla="val -35073"/>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fstat(...)</a:t>
            </a:r>
            <a:endParaRPr/>
          </a:p>
        </p:txBody>
      </p:sp>
      <p:sp>
        <p:nvSpPr>
          <p:cNvPr id="477" name="Google Shape;477;p32"/>
          <p:cNvSpPr/>
          <p:nvPr/>
        </p:nvSpPr>
        <p:spPr>
          <a:xfrm>
            <a:off x="2896800" y="3454113"/>
            <a:ext cx="1675200" cy="462600"/>
          </a:xfrm>
          <a:prstGeom prst="wedgeRoundRectCallout">
            <a:avLst>
              <a:gd name="adj1" fmla="val -53247"/>
              <a:gd name="adj2" fmla="val -9782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fcntl(...)</a:t>
            </a:r>
            <a:endParaRPr/>
          </a:p>
        </p:txBody>
      </p:sp>
      <p:sp>
        <p:nvSpPr>
          <p:cNvPr id="478" name="Google Shape;478;p32"/>
          <p:cNvSpPr/>
          <p:nvPr/>
        </p:nvSpPr>
        <p:spPr>
          <a:xfrm>
            <a:off x="2550013" y="3852063"/>
            <a:ext cx="1675200" cy="462600"/>
          </a:xfrm>
          <a:prstGeom prst="wedgeRoundRectCallout">
            <a:avLst>
              <a:gd name="adj1" fmla="val -39917"/>
              <a:gd name="adj2" fmla="val -132374"/>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lseek(...)</a:t>
            </a:r>
            <a:endParaRPr/>
          </a:p>
        </p:txBody>
      </p:sp>
      <p:sp>
        <p:nvSpPr>
          <p:cNvPr id="479" name="Google Shape;479;p32"/>
          <p:cNvSpPr/>
          <p:nvPr/>
        </p:nvSpPr>
        <p:spPr>
          <a:xfrm>
            <a:off x="1306263" y="4010350"/>
            <a:ext cx="1675200" cy="462600"/>
          </a:xfrm>
          <a:prstGeom prst="wedgeRoundRectCallout">
            <a:avLst>
              <a:gd name="adj1" fmla="val 26430"/>
              <a:gd name="adj2" fmla="val -178032"/>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pread(...)</a:t>
            </a:r>
            <a:endParaRPr/>
          </a:p>
        </p:txBody>
      </p:sp>
      <p:sp>
        <p:nvSpPr>
          <p:cNvPr id="480" name="Google Shape;480;p32"/>
          <p:cNvSpPr/>
          <p:nvPr/>
        </p:nvSpPr>
        <p:spPr>
          <a:xfrm>
            <a:off x="874813" y="3684950"/>
            <a:ext cx="1675200" cy="462600"/>
          </a:xfrm>
          <a:prstGeom prst="wedgeRoundRectCallout">
            <a:avLst>
              <a:gd name="adj1" fmla="val 45342"/>
              <a:gd name="adj2" fmla="val -134376"/>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unlinkat(...)</a:t>
            </a:r>
            <a:endParaRPr/>
          </a:p>
        </p:txBody>
      </p:sp>
      <p:sp>
        <p:nvSpPr>
          <p:cNvPr id="481" name="Google Shape;481;p32"/>
          <p:cNvSpPr/>
          <p:nvPr/>
        </p:nvSpPr>
        <p:spPr>
          <a:xfrm>
            <a:off x="491388" y="3281488"/>
            <a:ext cx="1675200" cy="462600"/>
          </a:xfrm>
          <a:prstGeom prst="wedgeRoundRectCallout">
            <a:avLst>
              <a:gd name="adj1" fmla="val 66124"/>
              <a:gd name="adj2" fmla="val -64319"/>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fsync(...)</a:t>
            </a:r>
            <a:endParaRPr/>
          </a:p>
        </p:txBody>
      </p:sp>
      <p:sp>
        <p:nvSpPr>
          <p:cNvPr id="482" name="Google Shape;482;p32"/>
          <p:cNvSpPr/>
          <p:nvPr/>
        </p:nvSpPr>
        <p:spPr>
          <a:xfrm>
            <a:off x="425038" y="2840663"/>
            <a:ext cx="1675200" cy="462600"/>
          </a:xfrm>
          <a:prstGeom prst="wedgeRoundRectCallout">
            <a:avLst>
              <a:gd name="adj1" fmla="val 73244"/>
              <a:gd name="adj2" fmla="val -18599"/>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fchmod(...)</a:t>
            </a:r>
            <a:endParaRPr/>
          </a:p>
        </p:txBody>
      </p:sp>
      <p:sp>
        <p:nvSpPr>
          <p:cNvPr id="483" name="Google Shape;483;p32"/>
          <p:cNvSpPr/>
          <p:nvPr/>
        </p:nvSpPr>
        <p:spPr>
          <a:xfrm>
            <a:off x="574563" y="2430288"/>
            <a:ext cx="1675200" cy="462600"/>
          </a:xfrm>
          <a:prstGeom prst="wedgeRoundRectCallout">
            <a:avLst>
              <a:gd name="adj1" fmla="val 65371"/>
              <a:gd name="adj2" fmla="val 54861"/>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geteuid(...)</a:t>
            </a:r>
            <a:endParaRPr/>
          </a:p>
        </p:txBody>
      </p:sp>
      <p:sp>
        <p:nvSpPr>
          <p:cNvPr id="484" name="Google Shape;484;p32"/>
          <p:cNvSpPr/>
          <p:nvPr/>
        </p:nvSpPr>
        <p:spPr>
          <a:xfrm>
            <a:off x="674063" y="1996400"/>
            <a:ext cx="1675200" cy="462600"/>
          </a:xfrm>
          <a:prstGeom prst="wedgeRoundRectCallout">
            <a:avLst>
              <a:gd name="adj1" fmla="val 56272"/>
              <a:gd name="adj2" fmla="val 121963"/>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getcwd(...)</a:t>
            </a:r>
            <a:endParaRPr/>
          </a:p>
        </p:txBody>
      </p:sp>
      <p:sp>
        <p:nvSpPr>
          <p:cNvPr id="485" name="Google Shape;485;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pic>
        <p:nvPicPr>
          <p:cNvPr id="490" name="Google Shape;490;p33"/>
          <p:cNvPicPr preferRelativeResize="0"/>
          <p:nvPr/>
        </p:nvPicPr>
        <p:blipFill rotWithShape="1">
          <a:blip r:embed="rId3">
            <a:alphaModFix/>
          </a:blip>
          <a:srcRect l="17629" t="10439" r="15337" b="12286"/>
          <a:stretch/>
        </p:blipFill>
        <p:spPr>
          <a:xfrm>
            <a:off x="1501813" y="262253"/>
            <a:ext cx="5851701" cy="4778401"/>
          </a:xfrm>
          <a:prstGeom prst="rect">
            <a:avLst/>
          </a:prstGeom>
          <a:noFill/>
          <a:ln>
            <a:noFill/>
          </a:ln>
        </p:spPr>
      </p:pic>
      <p:sp>
        <p:nvSpPr>
          <p:cNvPr id="491" name="Google Shape;491;p33"/>
          <p:cNvSpPr txBox="1"/>
          <p:nvPr/>
        </p:nvSpPr>
        <p:spPr>
          <a:xfrm>
            <a:off x="7806175" y="1507125"/>
            <a:ext cx="1287600" cy="793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Block Server</a:t>
            </a:r>
            <a:endParaRPr sz="1800">
              <a:solidFill>
                <a:schemeClr val="dk2"/>
              </a:solidFill>
            </a:endParaRPr>
          </a:p>
        </p:txBody>
      </p:sp>
      <p:sp>
        <p:nvSpPr>
          <p:cNvPr id="492" name="Google Shape;492;p33"/>
          <p:cNvSpPr txBox="1"/>
          <p:nvPr/>
        </p:nvSpPr>
        <p:spPr>
          <a:xfrm>
            <a:off x="5753725" y="4569525"/>
            <a:ext cx="1640400" cy="45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Root Task</a:t>
            </a:r>
            <a:endParaRPr sz="1800">
              <a:solidFill>
                <a:schemeClr val="dk2"/>
              </a:solidFill>
            </a:endParaRPr>
          </a:p>
        </p:txBody>
      </p:sp>
      <p:cxnSp>
        <p:nvCxnSpPr>
          <p:cNvPr id="493" name="Google Shape;493;p33"/>
          <p:cNvCxnSpPr/>
          <p:nvPr/>
        </p:nvCxnSpPr>
        <p:spPr>
          <a:xfrm rot="10800000">
            <a:off x="7268125" y="1815825"/>
            <a:ext cx="793800" cy="0"/>
          </a:xfrm>
          <a:prstGeom prst="straightConnector1">
            <a:avLst/>
          </a:prstGeom>
          <a:noFill/>
          <a:ln w="19050" cap="flat" cmpd="sng">
            <a:solidFill>
              <a:srgbClr val="595959"/>
            </a:solidFill>
            <a:prstDash val="solid"/>
            <a:round/>
            <a:headEnd type="none" w="med" len="med"/>
            <a:tailEnd type="triangle" w="med" len="med"/>
          </a:ln>
        </p:spPr>
      </p:cxnSp>
      <p:cxnSp>
        <p:nvCxnSpPr>
          <p:cNvPr id="494" name="Google Shape;494;p33"/>
          <p:cNvCxnSpPr/>
          <p:nvPr/>
        </p:nvCxnSpPr>
        <p:spPr>
          <a:xfrm rot="10800000">
            <a:off x="4507700" y="4798875"/>
            <a:ext cx="1173000" cy="0"/>
          </a:xfrm>
          <a:prstGeom prst="straightConnector1">
            <a:avLst/>
          </a:prstGeom>
          <a:noFill/>
          <a:ln w="19050" cap="flat" cmpd="sng">
            <a:solidFill>
              <a:srgbClr val="595959"/>
            </a:solidFill>
            <a:prstDash val="solid"/>
            <a:round/>
            <a:headEnd type="none" w="med" len="med"/>
            <a:tailEnd type="triangle" w="med" len="med"/>
          </a:ln>
        </p:spPr>
      </p:cxnSp>
      <p:cxnSp>
        <p:nvCxnSpPr>
          <p:cNvPr id="495" name="Google Shape;495;p33"/>
          <p:cNvCxnSpPr/>
          <p:nvPr/>
        </p:nvCxnSpPr>
        <p:spPr>
          <a:xfrm flipH="1">
            <a:off x="4507650" y="469400"/>
            <a:ext cx="1058400" cy="3000"/>
          </a:xfrm>
          <a:prstGeom prst="straightConnector1">
            <a:avLst/>
          </a:prstGeom>
          <a:noFill/>
          <a:ln w="19050" cap="flat" cmpd="sng">
            <a:solidFill>
              <a:srgbClr val="595959"/>
            </a:solidFill>
            <a:prstDash val="solid"/>
            <a:round/>
            <a:headEnd type="none" w="med" len="med"/>
            <a:tailEnd type="triangle" w="med" len="med"/>
          </a:ln>
        </p:spPr>
      </p:cxnSp>
      <p:sp>
        <p:nvSpPr>
          <p:cNvPr id="496" name="Google Shape;496;p33"/>
          <p:cNvSpPr txBox="1"/>
          <p:nvPr/>
        </p:nvSpPr>
        <p:spPr>
          <a:xfrm>
            <a:off x="5495425" y="241550"/>
            <a:ext cx="1640400" cy="45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File Server</a:t>
            </a:r>
            <a:endParaRPr sz="1800">
              <a:solidFill>
                <a:schemeClr val="dk2"/>
              </a:solidFill>
            </a:endParaRPr>
          </a:p>
        </p:txBody>
      </p:sp>
      <p:sp>
        <p:nvSpPr>
          <p:cNvPr id="497" name="Google Shape;497;p33"/>
          <p:cNvSpPr txBox="1"/>
          <p:nvPr/>
        </p:nvSpPr>
        <p:spPr>
          <a:xfrm>
            <a:off x="397875" y="1586475"/>
            <a:ext cx="651300" cy="45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App</a:t>
            </a:r>
            <a:endParaRPr sz="1800">
              <a:solidFill>
                <a:schemeClr val="dk2"/>
              </a:solidFill>
            </a:endParaRPr>
          </a:p>
        </p:txBody>
      </p:sp>
      <p:cxnSp>
        <p:nvCxnSpPr>
          <p:cNvPr id="498" name="Google Shape;498;p33"/>
          <p:cNvCxnSpPr/>
          <p:nvPr/>
        </p:nvCxnSpPr>
        <p:spPr>
          <a:xfrm>
            <a:off x="1068125" y="1815350"/>
            <a:ext cx="511800" cy="0"/>
          </a:xfrm>
          <a:prstGeom prst="straightConnector1">
            <a:avLst/>
          </a:prstGeom>
          <a:noFill/>
          <a:ln w="19050" cap="flat" cmpd="sng">
            <a:solidFill>
              <a:srgbClr val="595959"/>
            </a:solidFill>
            <a:prstDash val="solid"/>
            <a:round/>
            <a:headEnd type="none" w="med" len="med"/>
            <a:tailEnd type="triangle" w="med" len="med"/>
          </a:ln>
        </p:spPr>
      </p:cxnSp>
      <p:sp>
        <p:nvSpPr>
          <p:cNvPr id="499" name="Google Shape;499;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pic>
        <p:nvPicPr>
          <p:cNvPr id="504" name="Google Shape;504;p34"/>
          <p:cNvPicPr preferRelativeResize="0"/>
          <p:nvPr/>
        </p:nvPicPr>
        <p:blipFill rotWithShape="1">
          <a:blip r:embed="rId3">
            <a:alphaModFix/>
          </a:blip>
          <a:srcRect l="17629" t="10439" r="15337" b="12286"/>
          <a:stretch/>
        </p:blipFill>
        <p:spPr>
          <a:xfrm>
            <a:off x="1501813" y="262253"/>
            <a:ext cx="5851701" cy="4778401"/>
          </a:xfrm>
          <a:prstGeom prst="rect">
            <a:avLst/>
          </a:prstGeom>
          <a:noFill/>
          <a:ln>
            <a:noFill/>
          </a:ln>
        </p:spPr>
      </p:pic>
      <p:sp>
        <p:nvSpPr>
          <p:cNvPr id="505" name="Google Shape;505;p34"/>
          <p:cNvSpPr txBox="1"/>
          <p:nvPr/>
        </p:nvSpPr>
        <p:spPr>
          <a:xfrm>
            <a:off x="7806175" y="1507125"/>
            <a:ext cx="1287600" cy="793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Block Server</a:t>
            </a:r>
            <a:endParaRPr sz="1800">
              <a:solidFill>
                <a:schemeClr val="dk2"/>
              </a:solidFill>
            </a:endParaRPr>
          </a:p>
        </p:txBody>
      </p:sp>
      <p:sp>
        <p:nvSpPr>
          <p:cNvPr id="506" name="Google Shape;506;p34"/>
          <p:cNvSpPr txBox="1"/>
          <p:nvPr/>
        </p:nvSpPr>
        <p:spPr>
          <a:xfrm>
            <a:off x="5753725" y="4569525"/>
            <a:ext cx="1640400" cy="45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Root Task</a:t>
            </a:r>
            <a:endParaRPr sz="1800">
              <a:solidFill>
                <a:schemeClr val="dk2"/>
              </a:solidFill>
            </a:endParaRPr>
          </a:p>
        </p:txBody>
      </p:sp>
      <p:cxnSp>
        <p:nvCxnSpPr>
          <p:cNvPr id="507" name="Google Shape;507;p34"/>
          <p:cNvCxnSpPr/>
          <p:nvPr/>
        </p:nvCxnSpPr>
        <p:spPr>
          <a:xfrm rot="10800000">
            <a:off x="7268125" y="1815825"/>
            <a:ext cx="793800" cy="0"/>
          </a:xfrm>
          <a:prstGeom prst="straightConnector1">
            <a:avLst/>
          </a:prstGeom>
          <a:noFill/>
          <a:ln w="19050" cap="flat" cmpd="sng">
            <a:solidFill>
              <a:srgbClr val="595959"/>
            </a:solidFill>
            <a:prstDash val="solid"/>
            <a:round/>
            <a:headEnd type="none" w="med" len="med"/>
            <a:tailEnd type="triangle" w="med" len="med"/>
          </a:ln>
        </p:spPr>
      </p:cxnSp>
      <p:cxnSp>
        <p:nvCxnSpPr>
          <p:cNvPr id="508" name="Google Shape;508;p34"/>
          <p:cNvCxnSpPr/>
          <p:nvPr/>
        </p:nvCxnSpPr>
        <p:spPr>
          <a:xfrm rot="10800000">
            <a:off x="4507700" y="4798875"/>
            <a:ext cx="1173000" cy="0"/>
          </a:xfrm>
          <a:prstGeom prst="straightConnector1">
            <a:avLst/>
          </a:prstGeom>
          <a:noFill/>
          <a:ln w="19050" cap="flat" cmpd="sng">
            <a:solidFill>
              <a:srgbClr val="595959"/>
            </a:solidFill>
            <a:prstDash val="solid"/>
            <a:round/>
            <a:headEnd type="none" w="med" len="med"/>
            <a:tailEnd type="triangle" w="med" len="med"/>
          </a:ln>
        </p:spPr>
      </p:cxnSp>
      <p:cxnSp>
        <p:nvCxnSpPr>
          <p:cNvPr id="509" name="Google Shape;509;p34"/>
          <p:cNvCxnSpPr/>
          <p:nvPr/>
        </p:nvCxnSpPr>
        <p:spPr>
          <a:xfrm flipH="1">
            <a:off x="4507650" y="469400"/>
            <a:ext cx="1058400" cy="3000"/>
          </a:xfrm>
          <a:prstGeom prst="straightConnector1">
            <a:avLst/>
          </a:prstGeom>
          <a:noFill/>
          <a:ln w="19050" cap="flat" cmpd="sng">
            <a:solidFill>
              <a:srgbClr val="595959"/>
            </a:solidFill>
            <a:prstDash val="solid"/>
            <a:round/>
            <a:headEnd type="none" w="med" len="med"/>
            <a:tailEnd type="triangle" w="med" len="med"/>
          </a:ln>
        </p:spPr>
      </p:cxnSp>
      <p:sp>
        <p:nvSpPr>
          <p:cNvPr id="510" name="Google Shape;510;p34"/>
          <p:cNvSpPr txBox="1"/>
          <p:nvPr/>
        </p:nvSpPr>
        <p:spPr>
          <a:xfrm>
            <a:off x="397875" y="1586475"/>
            <a:ext cx="651300" cy="45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App</a:t>
            </a:r>
            <a:endParaRPr sz="1800">
              <a:solidFill>
                <a:schemeClr val="dk2"/>
              </a:solidFill>
            </a:endParaRPr>
          </a:p>
        </p:txBody>
      </p:sp>
      <p:cxnSp>
        <p:nvCxnSpPr>
          <p:cNvPr id="511" name="Google Shape;511;p34"/>
          <p:cNvCxnSpPr/>
          <p:nvPr/>
        </p:nvCxnSpPr>
        <p:spPr>
          <a:xfrm>
            <a:off x="1068125" y="1815350"/>
            <a:ext cx="511800" cy="0"/>
          </a:xfrm>
          <a:prstGeom prst="straightConnector1">
            <a:avLst/>
          </a:prstGeom>
          <a:noFill/>
          <a:ln w="19050" cap="flat" cmpd="sng">
            <a:solidFill>
              <a:srgbClr val="595959"/>
            </a:solidFill>
            <a:prstDash val="solid"/>
            <a:round/>
            <a:headEnd type="none" w="med" len="med"/>
            <a:tailEnd type="triangle" w="med" len="med"/>
          </a:ln>
        </p:spPr>
      </p:cxnSp>
      <p:grpSp>
        <p:nvGrpSpPr>
          <p:cNvPr id="512" name="Google Shape;512;p34"/>
          <p:cNvGrpSpPr/>
          <p:nvPr/>
        </p:nvGrpSpPr>
        <p:grpSpPr>
          <a:xfrm>
            <a:off x="2240500" y="568875"/>
            <a:ext cx="1533875" cy="1064550"/>
            <a:chOff x="2240500" y="568875"/>
            <a:chExt cx="1533875" cy="1064550"/>
          </a:xfrm>
        </p:grpSpPr>
        <p:sp>
          <p:nvSpPr>
            <p:cNvPr id="513" name="Google Shape;513;p34"/>
            <p:cNvSpPr/>
            <p:nvPr/>
          </p:nvSpPr>
          <p:spPr>
            <a:xfrm>
              <a:off x="3123075" y="936825"/>
              <a:ext cx="651300" cy="696600"/>
            </a:xfrm>
            <a:prstGeom prst="ellipse">
              <a:avLst/>
            </a:prstGeom>
            <a:noFill/>
            <a:ln w="28575" cap="flat" cmpd="sng">
              <a:solidFill>
                <a:srgbClr val="7CBEC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4" name="Google Shape;514;p34"/>
            <p:cNvSpPr txBox="1"/>
            <p:nvPr/>
          </p:nvSpPr>
          <p:spPr>
            <a:xfrm>
              <a:off x="2240500" y="568875"/>
              <a:ext cx="846600" cy="45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595959"/>
                  </a:solidFill>
                </a:rPr>
                <a:t>Files</a:t>
              </a:r>
              <a:endParaRPr sz="1800">
                <a:solidFill>
                  <a:srgbClr val="595959"/>
                </a:solidFill>
              </a:endParaRPr>
            </a:p>
          </p:txBody>
        </p:sp>
        <p:cxnSp>
          <p:nvCxnSpPr>
            <p:cNvPr id="515" name="Google Shape;515;p34"/>
            <p:cNvCxnSpPr/>
            <p:nvPr/>
          </p:nvCxnSpPr>
          <p:spPr>
            <a:xfrm rot="10800000">
              <a:off x="2399756" y="1038840"/>
              <a:ext cx="818700" cy="0"/>
            </a:xfrm>
            <a:prstGeom prst="straightConnector1">
              <a:avLst/>
            </a:prstGeom>
            <a:noFill/>
            <a:ln w="28575" cap="flat" cmpd="sng">
              <a:solidFill>
                <a:srgbClr val="7CBEC5"/>
              </a:solidFill>
              <a:prstDash val="solid"/>
              <a:round/>
              <a:headEnd type="none" w="med" len="med"/>
              <a:tailEnd type="none" w="med" len="med"/>
            </a:ln>
          </p:spPr>
        </p:cxnSp>
      </p:grpSp>
      <p:grpSp>
        <p:nvGrpSpPr>
          <p:cNvPr id="516" name="Google Shape;516;p34"/>
          <p:cNvGrpSpPr/>
          <p:nvPr/>
        </p:nvGrpSpPr>
        <p:grpSpPr>
          <a:xfrm>
            <a:off x="4463625" y="568875"/>
            <a:ext cx="2930375" cy="1389900"/>
            <a:chOff x="4463625" y="568875"/>
            <a:chExt cx="2930375" cy="1389900"/>
          </a:xfrm>
        </p:grpSpPr>
        <p:sp>
          <p:nvSpPr>
            <p:cNvPr id="517" name="Google Shape;517;p34"/>
            <p:cNvSpPr/>
            <p:nvPr/>
          </p:nvSpPr>
          <p:spPr>
            <a:xfrm>
              <a:off x="4463625" y="568875"/>
              <a:ext cx="1331700" cy="1389900"/>
            </a:xfrm>
            <a:prstGeom prst="ellipse">
              <a:avLst/>
            </a:prstGeom>
            <a:noFill/>
            <a:ln w="28575" cap="flat" cmpd="sng">
              <a:solidFill>
                <a:srgbClr val="D3D42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1C232"/>
                </a:solidFill>
              </a:endParaRPr>
            </a:p>
          </p:txBody>
        </p:sp>
        <p:sp>
          <p:nvSpPr>
            <p:cNvPr id="518" name="Google Shape;518;p34"/>
            <p:cNvSpPr txBox="1"/>
            <p:nvPr/>
          </p:nvSpPr>
          <p:spPr>
            <a:xfrm>
              <a:off x="6416300" y="1028688"/>
              <a:ext cx="977700" cy="45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595959"/>
                  </a:solidFill>
                </a:rPr>
                <a:t>Blocks</a:t>
              </a:r>
              <a:endParaRPr sz="1800">
                <a:solidFill>
                  <a:srgbClr val="595959"/>
                </a:solidFill>
              </a:endParaRPr>
            </a:p>
          </p:txBody>
        </p:sp>
        <p:cxnSp>
          <p:nvCxnSpPr>
            <p:cNvPr id="519" name="Google Shape;519;p34"/>
            <p:cNvCxnSpPr/>
            <p:nvPr/>
          </p:nvCxnSpPr>
          <p:spPr>
            <a:xfrm flipH="1">
              <a:off x="5753850" y="1485575"/>
              <a:ext cx="1540800" cy="1800"/>
            </a:xfrm>
            <a:prstGeom prst="straightConnector1">
              <a:avLst/>
            </a:prstGeom>
            <a:noFill/>
            <a:ln w="28575" cap="flat" cmpd="sng">
              <a:solidFill>
                <a:srgbClr val="D3D42E"/>
              </a:solidFill>
              <a:prstDash val="solid"/>
              <a:round/>
              <a:headEnd type="none" w="med" len="med"/>
              <a:tailEnd type="none" w="med" len="med"/>
            </a:ln>
          </p:spPr>
        </p:cxnSp>
      </p:grpSp>
      <p:sp>
        <p:nvSpPr>
          <p:cNvPr id="520" name="Google Shape;520;p34"/>
          <p:cNvSpPr txBox="1"/>
          <p:nvPr/>
        </p:nvSpPr>
        <p:spPr>
          <a:xfrm>
            <a:off x="5495425" y="241550"/>
            <a:ext cx="1640400" cy="45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File Server</a:t>
            </a:r>
            <a:endParaRPr sz="1800">
              <a:solidFill>
                <a:schemeClr val="dk2"/>
              </a:solidFill>
            </a:endParaRPr>
          </a:p>
        </p:txBody>
      </p:sp>
      <p:grpSp>
        <p:nvGrpSpPr>
          <p:cNvPr id="521" name="Google Shape;521;p34"/>
          <p:cNvGrpSpPr/>
          <p:nvPr/>
        </p:nvGrpSpPr>
        <p:grpSpPr>
          <a:xfrm>
            <a:off x="5649775" y="2272700"/>
            <a:ext cx="3250075" cy="1036500"/>
            <a:chOff x="5649775" y="2272700"/>
            <a:chExt cx="3250075" cy="1036500"/>
          </a:xfrm>
        </p:grpSpPr>
        <p:sp>
          <p:nvSpPr>
            <p:cNvPr id="522" name="Google Shape;522;p34"/>
            <p:cNvSpPr/>
            <p:nvPr/>
          </p:nvSpPr>
          <p:spPr>
            <a:xfrm>
              <a:off x="5649775" y="2272700"/>
              <a:ext cx="1331700" cy="1036500"/>
            </a:xfrm>
            <a:prstGeom prst="ellipse">
              <a:avLst/>
            </a:prstGeom>
            <a:noFill/>
            <a:ln w="2857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1C232"/>
                </a:solidFill>
              </a:endParaRPr>
            </a:p>
          </p:txBody>
        </p:sp>
        <p:sp>
          <p:nvSpPr>
            <p:cNvPr id="523" name="Google Shape;523;p34"/>
            <p:cNvSpPr txBox="1"/>
            <p:nvPr/>
          </p:nvSpPr>
          <p:spPr>
            <a:xfrm>
              <a:off x="6941750" y="2561600"/>
              <a:ext cx="1958100" cy="45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595959"/>
                  </a:solidFill>
                </a:rPr>
                <a:t>Virtual Memory</a:t>
              </a:r>
              <a:endParaRPr sz="1800">
                <a:solidFill>
                  <a:srgbClr val="595959"/>
                </a:solidFill>
              </a:endParaRPr>
            </a:p>
          </p:txBody>
        </p:sp>
        <p:cxnSp>
          <p:nvCxnSpPr>
            <p:cNvPr id="524" name="Google Shape;524;p34"/>
            <p:cNvCxnSpPr/>
            <p:nvPr/>
          </p:nvCxnSpPr>
          <p:spPr>
            <a:xfrm>
              <a:off x="6924250" y="3030950"/>
              <a:ext cx="1825500" cy="0"/>
            </a:xfrm>
            <a:prstGeom prst="straightConnector1">
              <a:avLst/>
            </a:prstGeom>
            <a:noFill/>
            <a:ln w="28575" cap="flat" cmpd="sng">
              <a:solidFill>
                <a:srgbClr val="ECC146"/>
              </a:solidFill>
              <a:prstDash val="solid"/>
              <a:round/>
              <a:headEnd type="none" w="med" len="med"/>
              <a:tailEnd type="none" w="med" len="med"/>
            </a:ln>
          </p:spPr>
        </p:cxnSp>
      </p:grpSp>
      <p:grpSp>
        <p:nvGrpSpPr>
          <p:cNvPr id="525" name="Google Shape;525;p34"/>
          <p:cNvGrpSpPr/>
          <p:nvPr/>
        </p:nvGrpSpPr>
        <p:grpSpPr>
          <a:xfrm>
            <a:off x="4622325" y="3535788"/>
            <a:ext cx="3183850" cy="1036500"/>
            <a:chOff x="4622325" y="3535788"/>
            <a:chExt cx="3183850" cy="1036500"/>
          </a:xfrm>
        </p:grpSpPr>
        <p:sp>
          <p:nvSpPr>
            <p:cNvPr id="526" name="Google Shape;526;p34"/>
            <p:cNvSpPr/>
            <p:nvPr/>
          </p:nvSpPr>
          <p:spPr>
            <a:xfrm>
              <a:off x="4622325" y="3535788"/>
              <a:ext cx="1173000" cy="1036500"/>
            </a:xfrm>
            <a:prstGeom prst="ellipse">
              <a:avLst/>
            </a:prstGeom>
            <a:noFill/>
            <a:ln w="2857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1C232"/>
                </a:solidFill>
              </a:endParaRPr>
            </a:p>
          </p:txBody>
        </p:sp>
        <p:cxnSp>
          <p:nvCxnSpPr>
            <p:cNvPr id="527" name="Google Shape;527;p34"/>
            <p:cNvCxnSpPr/>
            <p:nvPr/>
          </p:nvCxnSpPr>
          <p:spPr>
            <a:xfrm rot="10800000" flipH="1">
              <a:off x="5753725" y="4278300"/>
              <a:ext cx="1981800" cy="6900"/>
            </a:xfrm>
            <a:prstGeom prst="straightConnector1">
              <a:avLst/>
            </a:prstGeom>
            <a:noFill/>
            <a:ln w="28575" cap="flat" cmpd="sng">
              <a:solidFill>
                <a:srgbClr val="E69138"/>
              </a:solidFill>
              <a:prstDash val="solid"/>
              <a:round/>
              <a:headEnd type="none" w="med" len="med"/>
              <a:tailEnd type="none" w="med" len="med"/>
            </a:ln>
          </p:spPr>
        </p:cxnSp>
        <p:sp>
          <p:nvSpPr>
            <p:cNvPr id="528" name="Google Shape;528;p34"/>
            <p:cNvSpPr txBox="1"/>
            <p:nvPr/>
          </p:nvSpPr>
          <p:spPr>
            <a:xfrm>
              <a:off x="5848075" y="3824700"/>
              <a:ext cx="1958100" cy="45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595959"/>
                  </a:solidFill>
                </a:rPr>
                <a:t>Physical Memory</a:t>
              </a:r>
              <a:endParaRPr sz="1800">
                <a:solidFill>
                  <a:srgbClr val="595959"/>
                </a:solidFill>
              </a:endParaRPr>
            </a:p>
          </p:txBody>
        </p:sp>
      </p:grpSp>
      <p:sp>
        <p:nvSpPr>
          <p:cNvPr id="529" name="Google Shape;529;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pic>
        <p:nvPicPr>
          <p:cNvPr id="534" name="Google Shape;534;p35"/>
          <p:cNvPicPr preferRelativeResize="0"/>
          <p:nvPr/>
        </p:nvPicPr>
        <p:blipFill rotWithShape="1">
          <a:blip r:embed="rId3">
            <a:alphaModFix/>
          </a:blip>
          <a:srcRect l="17629" t="10439" r="15337" b="12286"/>
          <a:stretch/>
        </p:blipFill>
        <p:spPr>
          <a:xfrm>
            <a:off x="1501813" y="262253"/>
            <a:ext cx="5851701" cy="4778401"/>
          </a:xfrm>
          <a:prstGeom prst="rect">
            <a:avLst/>
          </a:prstGeom>
          <a:noFill/>
          <a:ln>
            <a:noFill/>
          </a:ln>
        </p:spPr>
      </p:pic>
      <p:sp>
        <p:nvSpPr>
          <p:cNvPr id="535" name="Google Shape;535;p35"/>
          <p:cNvSpPr txBox="1"/>
          <p:nvPr/>
        </p:nvSpPr>
        <p:spPr>
          <a:xfrm>
            <a:off x="7806175" y="1507125"/>
            <a:ext cx="1287600" cy="793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Block Server</a:t>
            </a:r>
            <a:endParaRPr sz="1800">
              <a:solidFill>
                <a:schemeClr val="dk2"/>
              </a:solidFill>
            </a:endParaRPr>
          </a:p>
        </p:txBody>
      </p:sp>
      <p:sp>
        <p:nvSpPr>
          <p:cNvPr id="536" name="Google Shape;536;p35"/>
          <p:cNvSpPr txBox="1"/>
          <p:nvPr/>
        </p:nvSpPr>
        <p:spPr>
          <a:xfrm>
            <a:off x="5753725" y="4569525"/>
            <a:ext cx="1640400" cy="45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Root Task</a:t>
            </a:r>
            <a:endParaRPr sz="1800">
              <a:solidFill>
                <a:schemeClr val="dk2"/>
              </a:solidFill>
            </a:endParaRPr>
          </a:p>
        </p:txBody>
      </p:sp>
      <p:cxnSp>
        <p:nvCxnSpPr>
          <p:cNvPr id="537" name="Google Shape;537;p35"/>
          <p:cNvCxnSpPr/>
          <p:nvPr/>
        </p:nvCxnSpPr>
        <p:spPr>
          <a:xfrm rot="10800000">
            <a:off x="7268125" y="1815825"/>
            <a:ext cx="793800" cy="0"/>
          </a:xfrm>
          <a:prstGeom prst="straightConnector1">
            <a:avLst/>
          </a:prstGeom>
          <a:noFill/>
          <a:ln w="19050" cap="flat" cmpd="sng">
            <a:solidFill>
              <a:srgbClr val="595959"/>
            </a:solidFill>
            <a:prstDash val="solid"/>
            <a:round/>
            <a:headEnd type="none" w="med" len="med"/>
            <a:tailEnd type="triangle" w="med" len="med"/>
          </a:ln>
        </p:spPr>
      </p:cxnSp>
      <p:cxnSp>
        <p:nvCxnSpPr>
          <p:cNvPr id="538" name="Google Shape;538;p35"/>
          <p:cNvCxnSpPr/>
          <p:nvPr/>
        </p:nvCxnSpPr>
        <p:spPr>
          <a:xfrm rot="10800000">
            <a:off x="4507700" y="4798875"/>
            <a:ext cx="1173000" cy="0"/>
          </a:xfrm>
          <a:prstGeom prst="straightConnector1">
            <a:avLst/>
          </a:prstGeom>
          <a:noFill/>
          <a:ln w="19050" cap="flat" cmpd="sng">
            <a:solidFill>
              <a:srgbClr val="595959"/>
            </a:solidFill>
            <a:prstDash val="solid"/>
            <a:round/>
            <a:headEnd type="none" w="med" len="med"/>
            <a:tailEnd type="triangle" w="med" len="med"/>
          </a:ln>
        </p:spPr>
      </p:cxnSp>
      <p:cxnSp>
        <p:nvCxnSpPr>
          <p:cNvPr id="539" name="Google Shape;539;p35"/>
          <p:cNvCxnSpPr/>
          <p:nvPr/>
        </p:nvCxnSpPr>
        <p:spPr>
          <a:xfrm flipH="1">
            <a:off x="4507650" y="469400"/>
            <a:ext cx="1058400" cy="3000"/>
          </a:xfrm>
          <a:prstGeom prst="straightConnector1">
            <a:avLst/>
          </a:prstGeom>
          <a:noFill/>
          <a:ln w="19050" cap="flat" cmpd="sng">
            <a:solidFill>
              <a:srgbClr val="595959"/>
            </a:solidFill>
            <a:prstDash val="solid"/>
            <a:round/>
            <a:headEnd type="none" w="med" len="med"/>
            <a:tailEnd type="triangle" w="med" len="med"/>
          </a:ln>
        </p:spPr>
      </p:cxnSp>
      <p:sp>
        <p:nvSpPr>
          <p:cNvPr id="540" name="Google Shape;540;p35"/>
          <p:cNvSpPr txBox="1"/>
          <p:nvPr/>
        </p:nvSpPr>
        <p:spPr>
          <a:xfrm>
            <a:off x="5495425" y="241550"/>
            <a:ext cx="1640400" cy="45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File Server</a:t>
            </a:r>
            <a:endParaRPr sz="1800">
              <a:solidFill>
                <a:schemeClr val="dk2"/>
              </a:solidFill>
            </a:endParaRPr>
          </a:p>
        </p:txBody>
      </p:sp>
      <p:sp>
        <p:nvSpPr>
          <p:cNvPr id="541" name="Google Shape;541;p35"/>
          <p:cNvSpPr txBox="1"/>
          <p:nvPr/>
        </p:nvSpPr>
        <p:spPr>
          <a:xfrm>
            <a:off x="397875" y="1586475"/>
            <a:ext cx="651300" cy="45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App</a:t>
            </a:r>
            <a:endParaRPr sz="1800">
              <a:solidFill>
                <a:schemeClr val="dk2"/>
              </a:solidFill>
            </a:endParaRPr>
          </a:p>
        </p:txBody>
      </p:sp>
      <p:cxnSp>
        <p:nvCxnSpPr>
          <p:cNvPr id="542" name="Google Shape;542;p35"/>
          <p:cNvCxnSpPr/>
          <p:nvPr/>
        </p:nvCxnSpPr>
        <p:spPr>
          <a:xfrm>
            <a:off x="1068125" y="1815350"/>
            <a:ext cx="511800" cy="0"/>
          </a:xfrm>
          <a:prstGeom prst="straightConnector1">
            <a:avLst/>
          </a:prstGeom>
          <a:noFill/>
          <a:ln w="19050" cap="flat" cmpd="sng">
            <a:solidFill>
              <a:srgbClr val="595959"/>
            </a:solidFill>
            <a:prstDash val="solid"/>
            <a:round/>
            <a:headEnd type="none" w="med" len="med"/>
            <a:tailEnd type="triangle" w="med" len="med"/>
          </a:ln>
        </p:spPr>
      </p:cxnSp>
      <p:sp>
        <p:nvSpPr>
          <p:cNvPr id="543" name="Google Shape;543;p35"/>
          <p:cNvSpPr/>
          <p:nvPr/>
        </p:nvSpPr>
        <p:spPr>
          <a:xfrm>
            <a:off x="4906373" y="2111250"/>
            <a:ext cx="511800" cy="460500"/>
          </a:xfrm>
          <a:prstGeom prst="ellipse">
            <a:avLst/>
          </a:prstGeom>
          <a:noFill/>
          <a:ln w="2857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4" name="Google Shape;544;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23</a:t>
            </a:fld>
            <a:endParaRPr/>
          </a:p>
        </p:txBody>
      </p:sp>
      <p:cxnSp>
        <p:nvCxnSpPr>
          <p:cNvPr id="545" name="Google Shape;545;p35"/>
          <p:cNvCxnSpPr/>
          <p:nvPr/>
        </p:nvCxnSpPr>
        <p:spPr>
          <a:xfrm>
            <a:off x="4308750" y="638925"/>
            <a:ext cx="238200" cy="1154100"/>
          </a:xfrm>
          <a:prstGeom prst="straightConnector1">
            <a:avLst/>
          </a:prstGeom>
          <a:noFill/>
          <a:ln w="19050" cap="flat" cmpd="sng">
            <a:solidFill>
              <a:schemeClr val="dk2"/>
            </a:solidFill>
            <a:prstDash val="solid"/>
            <a:round/>
            <a:headEnd type="none" w="med" len="med"/>
            <a:tailEnd type="triangle" w="med" len="med"/>
          </a:ln>
        </p:spPr>
      </p:cxnSp>
      <p:cxnSp>
        <p:nvCxnSpPr>
          <p:cNvPr id="546" name="Google Shape;546;p35"/>
          <p:cNvCxnSpPr>
            <a:endCxn id="543" idx="1"/>
          </p:cNvCxnSpPr>
          <p:nvPr/>
        </p:nvCxnSpPr>
        <p:spPr>
          <a:xfrm>
            <a:off x="4640525" y="1959089"/>
            <a:ext cx="340800" cy="219600"/>
          </a:xfrm>
          <a:prstGeom prst="straightConnector1">
            <a:avLst/>
          </a:prstGeom>
          <a:noFill/>
          <a:ln w="19050" cap="flat" cmpd="sng">
            <a:solidFill>
              <a:schemeClr val="dk2"/>
            </a:solidFill>
            <a:prstDash val="solid"/>
            <a:round/>
            <a:headEnd type="none" w="med" len="med"/>
            <a:tailEnd type="triangle" w="med" len="med"/>
          </a:ln>
        </p:spPr>
      </p:cxnSp>
      <p:cxnSp>
        <p:nvCxnSpPr>
          <p:cNvPr id="547" name="Google Shape;547;p35"/>
          <p:cNvCxnSpPr/>
          <p:nvPr/>
        </p:nvCxnSpPr>
        <p:spPr>
          <a:xfrm flipH="1">
            <a:off x="6314075" y="1865275"/>
            <a:ext cx="707100" cy="173100"/>
          </a:xfrm>
          <a:prstGeom prst="straightConnector1">
            <a:avLst/>
          </a:prstGeom>
          <a:noFill/>
          <a:ln w="19050" cap="flat" cmpd="sng">
            <a:solidFill>
              <a:schemeClr val="dk2"/>
            </a:solidFill>
            <a:prstDash val="solid"/>
            <a:round/>
            <a:headEnd type="none" w="med" len="med"/>
            <a:tailEnd type="triangle" w="med" len="med"/>
          </a:ln>
        </p:spPr>
      </p:cxnSp>
      <p:cxnSp>
        <p:nvCxnSpPr>
          <p:cNvPr id="548" name="Google Shape;548;p35"/>
          <p:cNvCxnSpPr/>
          <p:nvPr/>
        </p:nvCxnSpPr>
        <p:spPr>
          <a:xfrm flipH="1">
            <a:off x="5418050" y="2096125"/>
            <a:ext cx="708600" cy="144900"/>
          </a:xfrm>
          <a:prstGeom prst="straightConnector1">
            <a:avLst/>
          </a:prstGeom>
          <a:noFill/>
          <a:ln w="19050" cap="flat" cmpd="sng">
            <a:solidFill>
              <a:schemeClr val="dk2"/>
            </a:solidFill>
            <a:prstDash val="solid"/>
            <a:round/>
            <a:headEnd type="none" w="med" len="med"/>
            <a:tailEnd type="triangle" w="med" len="me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36"/>
          <p:cNvSpPr/>
          <p:nvPr/>
        </p:nvSpPr>
        <p:spPr>
          <a:xfrm rot="5400000">
            <a:off x="3569850" y="2355850"/>
            <a:ext cx="1783200" cy="12792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4" name="Google Shape;554;p36"/>
          <p:cNvSpPr/>
          <p:nvPr/>
        </p:nvSpPr>
        <p:spPr>
          <a:xfrm>
            <a:off x="3647325" y="1691125"/>
            <a:ext cx="1877100" cy="854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5" name="Google Shape;555;p36"/>
          <p:cNvSpPr/>
          <p:nvPr/>
        </p:nvSpPr>
        <p:spPr>
          <a:xfrm>
            <a:off x="3593275" y="3551450"/>
            <a:ext cx="1877100" cy="880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6" name="Google Shape;556;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 Interesting Challenge: Communication &amp; Deadlock</a:t>
            </a:r>
            <a:endParaRPr/>
          </a:p>
        </p:txBody>
      </p:sp>
      <p:pic>
        <p:nvPicPr>
          <p:cNvPr id="557" name="Google Shape;557;p36"/>
          <p:cNvPicPr preferRelativeResize="0"/>
          <p:nvPr/>
        </p:nvPicPr>
        <p:blipFill>
          <a:blip r:embed="rId3">
            <a:alphaModFix/>
          </a:blip>
          <a:stretch>
            <a:fillRect/>
          </a:stretch>
        </p:blipFill>
        <p:spPr>
          <a:xfrm>
            <a:off x="897325" y="1393863"/>
            <a:ext cx="976025" cy="976025"/>
          </a:xfrm>
          <a:prstGeom prst="rect">
            <a:avLst/>
          </a:prstGeom>
          <a:noFill/>
          <a:ln>
            <a:noFill/>
          </a:ln>
        </p:spPr>
      </p:pic>
      <p:pic>
        <p:nvPicPr>
          <p:cNvPr id="558" name="Google Shape;558;p36"/>
          <p:cNvPicPr preferRelativeResize="0"/>
          <p:nvPr/>
        </p:nvPicPr>
        <p:blipFill rotWithShape="1">
          <a:blip r:embed="rId4">
            <a:alphaModFix/>
          </a:blip>
          <a:srcRect/>
          <a:stretch/>
        </p:blipFill>
        <p:spPr>
          <a:xfrm>
            <a:off x="3879313" y="1296973"/>
            <a:ext cx="1385362" cy="1169850"/>
          </a:xfrm>
          <a:prstGeom prst="rect">
            <a:avLst/>
          </a:prstGeom>
          <a:noFill/>
          <a:ln>
            <a:noFill/>
          </a:ln>
        </p:spPr>
      </p:pic>
      <p:cxnSp>
        <p:nvCxnSpPr>
          <p:cNvPr id="559" name="Google Shape;559;p36"/>
          <p:cNvCxnSpPr/>
          <p:nvPr/>
        </p:nvCxnSpPr>
        <p:spPr>
          <a:xfrm rot="10800000" flipH="1">
            <a:off x="2042188" y="1873950"/>
            <a:ext cx="1668300" cy="15900"/>
          </a:xfrm>
          <a:prstGeom prst="straightConnector1">
            <a:avLst/>
          </a:prstGeom>
          <a:noFill/>
          <a:ln w="19050" cap="flat" cmpd="sng">
            <a:solidFill>
              <a:srgbClr val="595959"/>
            </a:solidFill>
            <a:prstDash val="solid"/>
            <a:round/>
            <a:headEnd type="none" w="med" len="med"/>
            <a:tailEnd type="triangle" w="med" len="med"/>
          </a:ln>
        </p:spPr>
      </p:cxnSp>
      <p:sp>
        <p:nvSpPr>
          <p:cNvPr id="560" name="Google Shape;560;p36"/>
          <p:cNvSpPr txBox="1"/>
          <p:nvPr/>
        </p:nvSpPr>
        <p:spPr>
          <a:xfrm>
            <a:off x="2048625" y="1398450"/>
            <a:ext cx="1626000" cy="379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open(“foo”)</a:t>
            </a:r>
            <a:endParaRPr sz="1800">
              <a:solidFill>
                <a:schemeClr val="dk2"/>
              </a:solidFill>
            </a:endParaRPr>
          </a:p>
        </p:txBody>
      </p:sp>
      <p:pic>
        <p:nvPicPr>
          <p:cNvPr id="561" name="Google Shape;561;p36"/>
          <p:cNvPicPr preferRelativeResize="0"/>
          <p:nvPr/>
        </p:nvPicPr>
        <p:blipFill>
          <a:blip r:embed="rId3">
            <a:alphaModFix/>
          </a:blip>
          <a:stretch>
            <a:fillRect/>
          </a:stretch>
        </p:blipFill>
        <p:spPr>
          <a:xfrm>
            <a:off x="7708400" y="3759938"/>
            <a:ext cx="976025" cy="976025"/>
          </a:xfrm>
          <a:prstGeom prst="rect">
            <a:avLst/>
          </a:prstGeom>
          <a:noFill/>
          <a:ln>
            <a:noFill/>
          </a:ln>
        </p:spPr>
      </p:pic>
      <p:cxnSp>
        <p:nvCxnSpPr>
          <p:cNvPr id="562" name="Google Shape;562;p36"/>
          <p:cNvCxnSpPr/>
          <p:nvPr/>
        </p:nvCxnSpPr>
        <p:spPr>
          <a:xfrm rot="10800000">
            <a:off x="5858700" y="4255925"/>
            <a:ext cx="1710900" cy="0"/>
          </a:xfrm>
          <a:prstGeom prst="straightConnector1">
            <a:avLst/>
          </a:prstGeom>
          <a:noFill/>
          <a:ln w="19050" cap="flat" cmpd="sng">
            <a:solidFill>
              <a:srgbClr val="595959"/>
            </a:solidFill>
            <a:prstDash val="solid"/>
            <a:round/>
            <a:headEnd type="none" w="med" len="med"/>
            <a:tailEnd type="triangle" w="med" len="med"/>
          </a:ln>
        </p:spPr>
      </p:cxnSp>
      <p:sp>
        <p:nvSpPr>
          <p:cNvPr id="563" name="Google Shape;563;p36"/>
          <p:cNvSpPr txBox="1"/>
          <p:nvPr/>
        </p:nvSpPr>
        <p:spPr>
          <a:xfrm>
            <a:off x="5943600" y="3759950"/>
            <a:ext cx="1626000" cy="379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extract state</a:t>
            </a:r>
            <a:endParaRPr sz="1800">
              <a:solidFill>
                <a:schemeClr val="dk2"/>
              </a:solidFill>
            </a:endParaRPr>
          </a:p>
        </p:txBody>
      </p:sp>
      <p:pic>
        <p:nvPicPr>
          <p:cNvPr id="564" name="Google Shape;564;p36"/>
          <p:cNvPicPr preferRelativeResize="0"/>
          <p:nvPr/>
        </p:nvPicPr>
        <p:blipFill>
          <a:blip r:embed="rId5">
            <a:alphaModFix/>
          </a:blip>
          <a:stretch>
            <a:fillRect/>
          </a:stretch>
        </p:blipFill>
        <p:spPr>
          <a:xfrm>
            <a:off x="3482300" y="3637274"/>
            <a:ext cx="2179400" cy="1098700"/>
          </a:xfrm>
          <a:prstGeom prst="rect">
            <a:avLst/>
          </a:prstGeom>
          <a:noFill/>
          <a:ln>
            <a:noFill/>
          </a:ln>
        </p:spPr>
      </p:pic>
      <p:cxnSp>
        <p:nvCxnSpPr>
          <p:cNvPr id="565" name="Google Shape;565;p36"/>
          <p:cNvCxnSpPr/>
          <p:nvPr/>
        </p:nvCxnSpPr>
        <p:spPr>
          <a:xfrm flipH="1">
            <a:off x="4942750" y="3439675"/>
            <a:ext cx="72000" cy="147300"/>
          </a:xfrm>
          <a:prstGeom prst="straightConnector1">
            <a:avLst/>
          </a:prstGeom>
          <a:noFill/>
          <a:ln w="19050" cap="flat" cmpd="sng">
            <a:solidFill>
              <a:schemeClr val="dk2"/>
            </a:solidFill>
            <a:prstDash val="solid"/>
            <a:round/>
            <a:headEnd type="none" w="med" len="med"/>
            <a:tailEnd type="triangle" w="med" len="med"/>
          </a:ln>
        </p:spPr>
      </p:cxnSp>
      <p:cxnSp>
        <p:nvCxnSpPr>
          <p:cNvPr id="566" name="Google Shape;566;p36"/>
          <p:cNvCxnSpPr/>
          <p:nvPr/>
        </p:nvCxnSpPr>
        <p:spPr>
          <a:xfrm rot="10800000" flipH="1">
            <a:off x="3872400" y="2494625"/>
            <a:ext cx="53700" cy="155400"/>
          </a:xfrm>
          <a:prstGeom prst="straightConnector1">
            <a:avLst/>
          </a:prstGeom>
          <a:noFill/>
          <a:ln w="19050" cap="flat" cmpd="sng">
            <a:solidFill>
              <a:schemeClr val="dk2"/>
            </a:solidFill>
            <a:prstDash val="solid"/>
            <a:round/>
            <a:headEnd type="none" w="med" len="med"/>
            <a:tailEnd type="triangle" w="med" len="med"/>
          </a:ln>
        </p:spPr>
      </p:cxnSp>
      <p:sp>
        <p:nvSpPr>
          <p:cNvPr id="567" name="Google Shape;567;p36"/>
          <p:cNvSpPr txBox="1"/>
          <p:nvPr/>
        </p:nvSpPr>
        <p:spPr>
          <a:xfrm>
            <a:off x="5185175" y="2805850"/>
            <a:ext cx="1592400" cy="379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give resource</a:t>
            </a:r>
            <a:endParaRPr sz="1800">
              <a:solidFill>
                <a:schemeClr val="dk2"/>
              </a:solidFill>
            </a:endParaRPr>
          </a:p>
        </p:txBody>
      </p:sp>
      <p:sp>
        <p:nvSpPr>
          <p:cNvPr id="568" name="Google Shape;568;p36"/>
          <p:cNvSpPr txBox="1"/>
          <p:nvPr/>
        </p:nvSpPr>
        <p:spPr>
          <a:xfrm>
            <a:off x="2332825" y="2805850"/>
            <a:ext cx="1409400" cy="379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fetch state</a:t>
            </a:r>
            <a:endParaRPr sz="1800">
              <a:solidFill>
                <a:schemeClr val="dk2"/>
              </a:solidFill>
            </a:endParaRPr>
          </a:p>
        </p:txBody>
      </p:sp>
      <p:sp>
        <p:nvSpPr>
          <p:cNvPr id="569" name="Google Shape;569;p36"/>
          <p:cNvSpPr/>
          <p:nvPr/>
        </p:nvSpPr>
        <p:spPr>
          <a:xfrm>
            <a:off x="2404875" y="2494625"/>
            <a:ext cx="1710900" cy="1117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0" name="Google Shape;570;p36"/>
          <p:cNvSpPr/>
          <p:nvPr/>
        </p:nvSpPr>
        <p:spPr>
          <a:xfrm>
            <a:off x="4843275" y="2493450"/>
            <a:ext cx="1934400" cy="1117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1" name="Google Shape;571;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70"/>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6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37"/>
          <p:cNvSpPr/>
          <p:nvPr/>
        </p:nvSpPr>
        <p:spPr>
          <a:xfrm rot="5400000">
            <a:off x="3569850" y="2355850"/>
            <a:ext cx="1783200" cy="12792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7" name="Google Shape;577;p37"/>
          <p:cNvSpPr/>
          <p:nvPr/>
        </p:nvSpPr>
        <p:spPr>
          <a:xfrm>
            <a:off x="3647325" y="1691125"/>
            <a:ext cx="1877100" cy="854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8" name="Google Shape;578;p37"/>
          <p:cNvSpPr/>
          <p:nvPr/>
        </p:nvSpPr>
        <p:spPr>
          <a:xfrm>
            <a:off x="3593275" y="3551450"/>
            <a:ext cx="1877100" cy="880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9" name="Google Shape;579;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 Interesting Challenge: Communication &amp; Deadlock</a:t>
            </a:r>
            <a:endParaRPr/>
          </a:p>
        </p:txBody>
      </p:sp>
      <p:pic>
        <p:nvPicPr>
          <p:cNvPr id="580" name="Google Shape;580;p37"/>
          <p:cNvPicPr preferRelativeResize="0"/>
          <p:nvPr/>
        </p:nvPicPr>
        <p:blipFill>
          <a:blip r:embed="rId3">
            <a:alphaModFix/>
          </a:blip>
          <a:stretch>
            <a:fillRect/>
          </a:stretch>
        </p:blipFill>
        <p:spPr>
          <a:xfrm>
            <a:off x="897325" y="1393863"/>
            <a:ext cx="976025" cy="976025"/>
          </a:xfrm>
          <a:prstGeom prst="rect">
            <a:avLst/>
          </a:prstGeom>
          <a:noFill/>
          <a:ln>
            <a:noFill/>
          </a:ln>
        </p:spPr>
      </p:pic>
      <p:pic>
        <p:nvPicPr>
          <p:cNvPr id="581" name="Google Shape;581;p37"/>
          <p:cNvPicPr preferRelativeResize="0"/>
          <p:nvPr/>
        </p:nvPicPr>
        <p:blipFill rotWithShape="1">
          <a:blip r:embed="rId4">
            <a:alphaModFix/>
          </a:blip>
          <a:srcRect/>
          <a:stretch/>
        </p:blipFill>
        <p:spPr>
          <a:xfrm>
            <a:off x="3879313" y="1296973"/>
            <a:ext cx="1385362" cy="1169850"/>
          </a:xfrm>
          <a:prstGeom prst="rect">
            <a:avLst/>
          </a:prstGeom>
          <a:noFill/>
          <a:ln>
            <a:noFill/>
          </a:ln>
        </p:spPr>
      </p:pic>
      <p:cxnSp>
        <p:nvCxnSpPr>
          <p:cNvPr id="582" name="Google Shape;582;p37"/>
          <p:cNvCxnSpPr/>
          <p:nvPr/>
        </p:nvCxnSpPr>
        <p:spPr>
          <a:xfrm rot="10800000" flipH="1">
            <a:off x="2042188" y="1873950"/>
            <a:ext cx="1668300" cy="15900"/>
          </a:xfrm>
          <a:prstGeom prst="straightConnector1">
            <a:avLst/>
          </a:prstGeom>
          <a:noFill/>
          <a:ln w="19050" cap="flat" cmpd="sng">
            <a:solidFill>
              <a:srgbClr val="595959"/>
            </a:solidFill>
            <a:prstDash val="solid"/>
            <a:round/>
            <a:headEnd type="none" w="med" len="med"/>
            <a:tailEnd type="triangle" w="med" len="med"/>
          </a:ln>
        </p:spPr>
      </p:cxnSp>
      <p:sp>
        <p:nvSpPr>
          <p:cNvPr id="583" name="Google Shape;583;p37"/>
          <p:cNvSpPr txBox="1"/>
          <p:nvPr/>
        </p:nvSpPr>
        <p:spPr>
          <a:xfrm>
            <a:off x="2048625" y="1398450"/>
            <a:ext cx="1626000" cy="379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open(“foo”)</a:t>
            </a:r>
            <a:endParaRPr sz="1800">
              <a:solidFill>
                <a:schemeClr val="dk2"/>
              </a:solidFill>
            </a:endParaRPr>
          </a:p>
        </p:txBody>
      </p:sp>
      <p:pic>
        <p:nvPicPr>
          <p:cNvPr id="584" name="Google Shape;584;p37"/>
          <p:cNvPicPr preferRelativeResize="0"/>
          <p:nvPr/>
        </p:nvPicPr>
        <p:blipFill>
          <a:blip r:embed="rId3">
            <a:alphaModFix/>
          </a:blip>
          <a:stretch>
            <a:fillRect/>
          </a:stretch>
        </p:blipFill>
        <p:spPr>
          <a:xfrm>
            <a:off x="7708400" y="3759938"/>
            <a:ext cx="976025" cy="976025"/>
          </a:xfrm>
          <a:prstGeom prst="rect">
            <a:avLst/>
          </a:prstGeom>
          <a:noFill/>
          <a:ln>
            <a:noFill/>
          </a:ln>
        </p:spPr>
      </p:pic>
      <p:cxnSp>
        <p:nvCxnSpPr>
          <p:cNvPr id="585" name="Google Shape;585;p37"/>
          <p:cNvCxnSpPr/>
          <p:nvPr/>
        </p:nvCxnSpPr>
        <p:spPr>
          <a:xfrm rot="10800000">
            <a:off x="5858700" y="4255925"/>
            <a:ext cx="1710900" cy="0"/>
          </a:xfrm>
          <a:prstGeom prst="straightConnector1">
            <a:avLst/>
          </a:prstGeom>
          <a:noFill/>
          <a:ln w="19050" cap="flat" cmpd="sng">
            <a:solidFill>
              <a:srgbClr val="595959"/>
            </a:solidFill>
            <a:prstDash val="solid"/>
            <a:round/>
            <a:headEnd type="none" w="med" len="med"/>
            <a:tailEnd type="triangle" w="med" len="med"/>
          </a:ln>
        </p:spPr>
      </p:cxnSp>
      <p:sp>
        <p:nvSpPr>
          <p:cNvPr id="586" name="Google Shape;586;p37"/>
          <p:cNvSpPr txBox="1"/>
          <p:nvPr/>
        </p:nvSpPr>
        <p:spPr>
          <a:xfrm>
            <a:off x="5943600" y="3759950"/>
            <a:ext cx="1626000" cy="379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extract state</a:t>
            </a:r>
            <a:endParaRPr sz="1800">
              <a:solidFill>
                <a:schemeClr val="dk2"/>
              </a:solidFill>
            </a:endParaRPr>
          </a:p>
        </p:txBody>
      </p:sp>
      <p:pic>
        <p:nvPicPr>
          <p:cNvPr id="587" name="Google Shape;587;p37"/>
          <p:cNvPicPr preferRelativeResize="0"/>
          <p:nvPr/>
        </p:nvPicPr>
        <p:blipFill>
          <a:blip r:embed="rId5">
            <a:alphaModFix/>
          </a:blip>
          <a:stretch>
            <a:fillRect/>
          </a:stretch>
        </p:blipFill>
        <p:spPr>
          <a:xfrm>
            <a:off x="3482300" y="3637274"/>
            <a:ext cx="2179400" cy="1098700"/>
          </a:xfrm>
          <a:prstGeom prst="rect">
            <a:avLst/>
          </a:prstGeom>
          <a:noFill/>
          <a:ln>
            <a:noFill/>
          </a:ln>
        </p:spPr>
      </p:pic>
      <p:sp>
        <p:nvSpPr>
          <p:cNvPr id="588" name="Google Shape;588;p37"/>
          <p:cNvSpPr txBox="1"/>
          <p:nvPr/>
        </p:nvSpPr>
        <p:spPr>
          <a:xfrm>
            <a:off x="5185175" y="2805850"/>
            <a:ext cx="1592400" cy="379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give resource</a:t>
            </a:r>
            <a:endParaRPr sz="1800">
              <a:solidFill>
                <a:schemeClr val="dk2"/>
              </a:solidFill>
            </a:endParaRPr>
          </a:p>
        </p:txBody>
      </p:sp>
      <p:sp>
        <p:nvSpPr>
          <p:cNvPr id="589" name="Google Shape;589;p37"/>
          <p:cNvSpPr txBox="1"/>
          <p:nvPr/>
        </p:nvSpPr>
        <p:spPr>
          <a:xfrm>
            <a:off x="2332825" y="2805850"/>
            <a:ext cx="1409400" cy="379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fetch state</a:t>
            </a:r>
            <a:endParaRPr sz="1800">
              <a:solidFill>
                <a:schemeClr val="dk2"/>
              </a:solidFill>
            </a:endParaRPr>
          </a:p>
        </p:txBody>
      </p:sp>
      <p:sp>
        <p:nvSpPr>
          <p:cNvPr id="590" name="Google Shape;590;p37"/>
          <p:cNvSpPr/>
          <p:nvPr/>
        </p:nvSpPr>
        <p:spPr>
          <a:xfrm>
            <a:off x="3710500" y="2466825"/>
            <a:ext cx="299400" cy="295800"/>
          </a:xfrm>
          <a:prstGeom prst="mathMultiply">
            <a:avLst>
              <a:gd name="adj1" fmla="val 23520"/>
            </a:avLst>
          </a:prstGeom>
          <a:solidFill>
            <a:srgbClr val="CC4125"/>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1" name="Google Shape;591;p37"/>
          <p:cNvSpPr/>
          <p:nvPr/>
        </p:nvSpPr>
        <p:spPr>
          <a:xfrm>
            <a:off x="4865050" y="3356825"/>
            <a:ext cx="299400" cy="295800"/>
          </a:xfrm>
          <a:prstGeom prst="mathMultiply">
            <a:avLst>
              <a:gd name="adj1" fmla="val 23520"/>
            </a:avLst>
          </a:prstGeom>
          <a:solidFill>
            <a:srgbClr val="CC4125"/>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2" name="Google Shape;592;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38"/>
          <p:cNvSpPr/>
          <p:nvPr/>
        </p:nvSpPr>
        <p:spPr>
          <a:xfrm rot="5400000">
            <a:off x="3569850" y="2355850"/>
            <a:ext cx="1783200" cy="12792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8" name="Google Shape;598;p38"/>
          <p:cNvSpPr/>
          <p:nvPr/>
        </p:nvSpPr>
        <p:spPr>
          <a:xfrm>
            <a:off x="3647325" y="1691125"/>
            <a:ext cx="1877100" cy="854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9" name="Google Shape;599;p38"/>
          <p:cNvSpPr/>
          <p:nvPr/>
        </p:nvSpPr>
        <p:spPr>
          <a:xfrm>
            <a:off x="3593275" y="3551450"/>
            <a:ext cx="1877100" cy="880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0" name="Google Shape;600;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 Interesting Challenge: Communication &amp; Deadlock</a:t>
            </a:r>
            <a:endParaRPr/>
          </a:p>
        </p:txBody>
      </p:sp>
      <p:pic>
        <p:nvPicPr>
          <p:cNvPr id="601" name="Google Shape;601;p38"/>
          <p:cNvPicPr preferRelativeResize="0"/>
          <p:nvPr/>
        </p:nvPicPr>
        <p:blipFill>
          <a:blip r:embed="rId3">
            <a:alphaModFix/>
          </a:blip>
          <a:stretch>
            <a:fillRect/>
          </a:stretch>
        </p:blipFill>
        <p:spPr>
          <a:xfrm>
            <a:off x="897325" y="1393863"/>
            <a:ext cx="976025" cy="976025"/>
          </a:xfrm>
          <a:prstGeom prst="rect">
            <a:avLst/>
          </a:prstGeom>
          <a:noFill/>
          <a:ln>
            <a:noFill/>
          </a:ln>
        </p:spPr>
      </p:pic>
      <p:pic>
        <p:nvPicPr>
          <p:cNvPr id="602" name="Google Shape;602;p38"/>
          <p:cNvPicPr preferRelativeResize="0"/>
          <p:nvPr/>
        </p:nvPicPr>
        <p:blipFill rotWithShape="1">
          <a:blip r:embed="rId4">
            <a:alphaModFix/>
          </a:blip>
          <a:srcRect/>
          <a:stretch/>
        </p:blipFill>
        <p:spPr>
          <a:xfrm>
            <a:off x="3879313" y="1296973"/>
            <a:ext cx="1385362" cy="1169850"/>
          </a:xfrm>
          <a:prstGeom prst="rect">
            <a:avLst/>
          </a:prstGeom>
          <a:noFill/>
          <a:ln>
            <a:noFill/>
          </a:ln>
        </p:spPr>
      </p:pic>
      <p:cxnSp>
        <p:nvCxnSpPr>
          <p:cNvPr id="603" name="Google Shape;603;p38"/>
          <p:cNvCxnSpPr/>
          <p:nvPr/>
        </p:nvCxnSpPr>
        <p:spPr>
          <a:xfrm rot="10800000" flipH="1">
            <a:off x="2042188" y="1873950"/>
            <a:ext cx="1668300" cy="15900"/>
          </a:xfrm>
          <a:prstGeom prst="straightConnector1">
            <a:avLst/>
          </a:prstGeom>
          <a:noFill/>
          <a:ln w="19050" cap="flat" cmpd="sng">
            <a:solidFill>
              <a:srgbClr val="595959"/>
            </a:solidFill>
            <a:prstDash val="solid"/>
            <a:round/>
            <a:headEnd type="none" w="med" len="med"/>
            <a:tailEnd type="triangle" w="med" len="med"/>
          </a:ln>
        </p:spPr>
      </p:cxnSp>
      <p:sp>
        <p:nvSpPr>
          <p:cNvPr id="604" name="Google Shape;604;p38"/>
          <p:cNvSpPr txBox="1"/>
          <p:nvPr/>
        </p:nvSpPr>
        <p:spPr>
          <a:xfrm>
            <a:off x="2048625" y="1398450"/>
            <a:ext cx="1626000" cy="379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open(“foo”)</a:t>
            </a:r>
            <a:endParaRPr sz="1800">
              <a:solidFill>
                <a:schemeClr val="dk2"/>
              </a:solidFill>
            </a:endParaRPr>
          </a:p>
        </p:txBody>
      </p:sp>
      <p:pic>
        <p:nvPicPr>
          <p:cNvPr id="605" name="Google Shape;605;p38"/>
          <p:cNvPicPr preferRelativeResize="0"/>
          <p:nvPr/>
        </p:nvPicPr>
        <p:blipFill>
          <a:blip r:embed="rId3">
            <a:alphaModFix/>
          </a:blip>
          <a:stretch>
            <a:fillRect/>
          </a:stretch>
        </p:blipFill>
        <p:spPr>
          <a:xfrm>
            <a:off x="7708400" y="3759938"/>
            <a:ext cx="976025" cy="976025"/>
          </a:xfrm>
          <a:prstGeom prst="rect">
            <a:avLst/>
          </a:prstGeom>
          <a:noFill/>
          <a:ln>
            <a:noFill/>
          </a:ln>
        </p:spPr>
      </p:pic>
      <p:cxnSp>
        <p:nvCxnSpPr>
          <p:cNvPr id="606" name="Google Shape;606;p38"/>
          <p:cNvCxnSpPr/>
          <p:nvPr/>
        </p:nvCxnSpPr>
        <p:spPr>
          <a:xfrm rot="10800000">
            <a:off x="5858700" y="4255925"/>
            <a:ext cx="1710900" cy="0"/>
          </a:xfrm>
          <a:prstGeom prst="straightConnector1">
            <a:avLst/>
          </a:prstGeom>
          <a:noFill/>
          <a:ln w="19050" cap="flat" cmpd="sng">
            <a:solidFill>
              <a:srgbClr val="595959"/>
            </a:solidFill>
            <a:prstDash val="solid"/>
            <a:round/>
            <a:headEnd type="none" w="med" len="med"/>
            <a:tailEnd type="triangle" w="med" len="med"/>
          </a:ln>
        </p:spPr>
      </p:cxnSp>
      <p:sp>
        <p:nvSpPr>
          <p:cNvPr id="607" name="Google Shape;607;p38"/>
          <p:cNvSpPr txBox="1"/>
          <p:nvPr/>
        </p:nvSpPr>
        <p:spPr>
          <a:xfrm>
            <a:off x="5943600" y="3759950"/>
            <a:ext cx="1626000" cy="379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extract state</a:t>
            </a:r>
            <a:endParaRPr sz="1800">
              <a:solidFill>
                <a:schemeClr val="dk2"/>
              </a:solidFill>
            </a:endParaRPr>
          </a:p>
        </p:txBody>
      </p:sp>
      <p:pic>
        <p:nvPicPr>
          <p:cNvPr id="608" name="Google Shape;608;p38"/>
          <p:cNvPicPr preferRelativeResize="0"/>
          <p:nvPr/>
        </p:nvPicPr>
        <p:blipFill>
          <a:blip r:embed="rId5">
            <a:alphaModFix/>
          </a:blip>
          <a:stretch>
            <a:fillRect/>
          </a:stretch>
        </p:blipFill>
        <p:spPr>
          <a:xfrm>
            <a:off x="3482300" y="3637274"/>
            <a:ext cx="2179400" cy="1098700"/>
          </a:xfrm>
          <a:prstGeom prst="rect">
            <a:avLst/>
          </a:prstGeom>
          <a:noFill/>
          <a:ln>
            <a:noFill/>
          </a:ln>
        </p:spPr>
      </p:pic>
      <p:sp>
        <p:nvSpPr>
          <p:cNvPr id="609" name="Google Shape;609;p38"/>
          <p:cNvSpPr txBox="1"/>
          <p:nvPr/>
        </p:nvSpPr>
        <p:spPr>
          <a:xfrm>
            <a:off x="5185175" y="2805850"/>
            <a:ext cx="1592400" cy="379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give resource</a:t>
            </a:r>
            <a:endParaRPr sz="1800">
              <a:solidFill>
                <a:schemeClr val="dk2"/>
              </a:solidFill>
            </a:endParaRPr>
          </a:p>
        </p:txBody>
      </p:sp>
      <p:sp>
        <p:nvSpPr>
          <p:cNvPr id="610" name="Google Shape;610;p38"/>
          <p:cNvSpPr txBox="1"/>
          <p:nvPr/>
        </p:nvSpPr>
        <p:spPr>
          <a:xfrm>
            <a:off x="2849375" y="2805850"/>
            <a:ext cx="892800" cy="379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signal</a:t>
            </a:r>
            <a:endParaRPr sz="1800">
              <a:solidFill>
                <a:schemeClr val="dk2"/>
              </a:solidFill>
            </a:endParaRPr>
          </a:p>
        </p:txBody>
      </p:sp>
      <p:cxnSp>
        <p:nvCxnSpPr>
          <p:cNvPr id="611" name="Google Shape;611;p38"/>
          <p:cNvCxnSpPr/>
          <p:nvPr/>
        </p:nvCxnSpPr>
        <p:spPr>
          <a:xfrm flipH="1">
            <a:off x="4942750" y="3439675"/>
            <a:ext cx="72000" cy="147300"/>
          </a:xfrm>
          <a:prstGeom prst="straightConnector1">
            <a:avLst/>
          </a:prstGeom>
          <a:noFill/>
          <a:ln w="19050" cap="flat" cmpd="sng">
            <a:solidFill>
              <a:schemeClr val="dk2"/>
            </a:solidFill>
            <a:prstDash val="solid"/>
            <a:round/>
            <a:headEnd type="none" w="med" len="med"/>
            <a:tailEnd type="triangle" w="med" len="med"/>
          </a:ln>
        </p:spPr>
      </p:cxnSp>
      <p:cxnSp>
        <p:nvCxnSpPr>
          <p:cNvPr id="612" name="Google Shape;612;p38"/>
          <p:cNvCxnSpPr/>
          <p:nvPr/>
        </p:nvCxnSpPr>
        <p:spPr>
          <a:xfrm rot="10800000" flipH="1">
            <a:off x="3872400" y="2494625"/>
            <a:ext cx="53700" cy="155400"/>
          </a:xfrm>
          <a:prstGeom prst="straightConnector1">
            <a:avLst/>
          </a:prstGeom>
          <a:noFill/>
          <a:ln w="19050" cap="flat" cmpd="sng">
            <a:solidFill>
              <a:schemeClr val="dk2"/>
            </a:solidFill>
            <a:prstDash val="solid"/>
            <a:round/>
            <a:headEnd type="none" w="med" len="med"/>
            <a:tailEnd type="triangle" w="med" len="med"/>
          </a:ln>
        </p:spPr>
      </p:cxnSp>
      <p:cxnSp>
        <p:nvCxnSpPr>
          <p:cNvPr id="613" name="Google Shape;613;p38"/>
          <p:cNvCxnSpPr/>
          <p:nvPr/>
        </p:nvCxnSpPr>
        <p:spPr>
          <a:xfrm>
            <a:off x="3804000" y="2629600"/>
            <a:ext cx="151200" cy="56100"/>
          </a:xfrm>
          <a:prstGeom prst="straightConnector1">
            <a:avLst/>
          </a:prstGeom>
          <a:noFill/>
          <a:ln w="38100" cap="flat" cmpd="sng">
            <a:solidFill>
              <a:schemeClr val="lt1"/>
            </a:solidFill>
            <a:prstDash val="solid"/>
            <a:round/>
            <a:headEnd type="none" w="med" len="med"/>
            <a:tailEnd type="none" w="med" len="med"/>
          </a:ln>
        </p:spPr>
      </p:cxnSp>
      <p:cxnSp>
        <p:nvCxnSpPr>
          <p:cNvPr id="614" name="Google Shape;614;p38"/>
          <p:cNvCxnSpPr/>
          <p:nvPr/>
        </p:nvCxnSpPr>
        <p:spPr>
          <a:xfrm>
            <a:off x="3766200" y="2777775"/>
            <a:ext cx="166200" cy="24300"/>
          </a:xfrm>
          <a:prstGeom prst="straightConnector1">
            <a:avLst/>
          </a:prstGeom>
          <a:noFill/>
          <a:ln w="38100" cap="flat" cmpd="sng">
            <a:solidFill>
              <a:schemeClr val="lt1"/>
            </a:solidFill>
            <a:prstDash val="solid"/>
            <a:round/>
            <a:headEnd type="none" w="med" len="med"/>
            <a:tailEnd type="none" w="med" len="med"/>
          </a:ln>
        </p:spPr>
      </p:cxnSp>
      <p:cxnSp>
        <p:nvCxnSpPr>
          <p:cNvPr id="615" name="Google Shape;615;p38"/>
          <p:cNvCxnSpPr/>
          <p:nvPr/>
        </p:nvCxnSpPr>
        <p:spPr>
          <a:xfrm>
            <a:off x="3749575" y="2916875"/>
            <a:ext cx="175200" cy="0"/>
          </a:xfrm>
          <a:prstGeom prst="straightConnector1">
            <a:avLst/>
          </a:prstGeom>
          <a:noFill/>
          <a:ln w="38100" cap="flat" cmpd="sng">
            <a:solidFill>
              <a:schemeClr val="lt1"/>
            </a:solidFill>
            <a:prstDash val="solid"/>
            <a:round/>
            <a:headEnd type="none" w="med" len="med"/>
            <a:tailEnd type="none" w="med" len="med"/>
          </a:ln>
        </p:spPr>
      </p:cxnSp>
      <p:cxnSp>
        <p:nvCxnSpPr>
          <p:cNvPr id="616" name="Google Shape;616;p38"/>
          <p:cNvCxnSpPr/>
          <p:nvPr/>
        </p:nvCxnSpPr>
        <p:spPr>
          <a:xfrm rot="10800000" flipH="1">
            <a:off x="3742225" y="3049975"/>
            <a:ext cx="173700" cy="7200"/>
          </a:xfrm>
          <a:prstGeom prst="straightConnector1">
            <a:avLst/>
          </a:prstGeom>
          <a:noFill/>
          <a:ln w="38100" cap="flat" cmpd="sng">
            <a:solidFill>
              <a:schemeClr val="lt1"/>
            </a:solidFill>
            <a:prstDash val="solid"/>
            <a:round/>
            <a:headEnd type="none" w="med" len="med"/>
            <a:tailEnd type="none" w="med" len="med"/>
          </a:ln>
        </p:spPr>
      </p:cxnSp>
      <p:cxnSp>
        <p:nvCxnSpPr>
          <p:cNvPr id="617" name="Google Shape;617;p38"/>
          <p:cNvCxnSpPr/>
          <p:nvPr/>
        </p:nvCxnSpPr>
        <p:spPr>
          <a:xfrm rot="10800000" flipH="1">
            <a:off x="3748075" y="3173225"/>
            <a:ext cx="162000" cy="29400"/>
          </a:xfrm>
          <a:prstGeom prst="straightConnector1">
            <a:avLst/>
          </a:prstGeom>
          <a:noFill/>
          <a:ln w="38100" cap="flat" cmpd="sng">
            <a:solidFill>
              <a:schemeClr val="lt1"/>
            </a:solidFill>
            <a:prstDash val="solid"/>
            <a:round/>
            <a:headEnd type="none" w="med" len="med"/>
            <a:tailEnd type="none" w="med" len="med"/>
          </a:ln>
        </p:spPr>
      </p:cxnSp>
      <p:cxnSp>
        <p:nvCxnSpPr>
          <p:cNvPr id="618" name="Google Shape;618;p38"/>
          <p:cNvCxnSpPr/>
          <p:nvPr/>
        </p:nvCxnSpPr>
        <p:spPr>
          <a:xfrm rot="10800000" flipH="1">
            <a:off x="3802500" y="3297000"/>
            <a:ext cx="158100" cy="43200"/>
          </a:xfrm>
          <a:prstGeom prst="straightConnector1">
            <a:avLst/>
          </a:prstGeom>
          <a:noFill/>
          <a:ln w="38100" cap="flat" cmpd="sng">
            <a:solidFill>
              <a:schemeClr val="lt1"/>
            </a:solidFill>
            <a:prstDash val="solid"/>
            <a:round/>
            <a:headEnd type="none" w="med" len="med"/>
            <a:tailEnd type="none" w="med" len="med"/>
          </a:ln>
        </p:spPr>
      </p:cxnSp>
      <p:cxnSp>
        <p:nvCxnSpPr>
          <p:cNvPr id="619" name="Google Shape;619;p38"/>
          <p:cNvCxnSpPr/>
          <p:nvPr/>
        </p:nvCxnSpPr>
        <p:spPr>
          <a:xfrm rot="10800000" flipH="1">
            <a:off x="3821850" y="3419875"/>
            <a:ext cx="154800" cy="51900"/>
          </a:xfrm>
          <a:prstGeom prst="straightConnector1">
            <a:avLst/>
          </a:prstGeom>
          <a:noFill/>
          <a:ln w="38100" cap="flat" cmpd="sng">
            <a:solidFill>
              <a:schemeClr val="lt1"/>
            </a:solidFill>
            <a:prstDash val="solid"/>
            <a:round/>
            <a:headEnd type="none" w="med" len="med"/>
            <a:tailEnd type="none" w="med" len="med"/>
          </a:ln>
        </p:spPr>
      </p:cxnSp>
      <p:pic>
        <p:nvPicPr>
          <p:cNvPr id="620" name="Google Shape;620;p38"/>
          <p:cNvPicPr preferRelativeResize="0"/>
          <p:nvPr/>
        </p:nvPicPr>
        <p:blipFill>
          <a:blip r:embed="rId6">
            <a:alphaModFix/>
          </a:blip>
          <a:stretch>
            <a:fillRect/>
          </a:stretch>
        </p:blipFill>
        <p:spPr>
          <a:xfrm>
            <a:off x="1037275" y="3651534"/>
            <a:ext cx="1049644" cy="680325"/>
          </a:xfrm>
          <a:prstGeom prst="rect">
            <a:avLst/>
          </a:prstGeom>
          <a:noFill/>
          <a:ln>
            <a:noFill/>
          </a:ln>
        </p:spPr>
      </p:pic>
      <p:sp>
        <p:nvSpPr>
          <p:cNvPr id="621" name="Google Shape;621;p38"/>
          <p:cNvSpPr txBox="1"/>
          <p:nvPr/>
        </p:nvSpPr>
        <p:spPr>
          <a:xfrm>
            <a:off x="796800" y="4331850"/>
            <a:ext cx="1530600" cy="379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7590BB"/>
                </a:solidFill>
              </a:rPr>
              <a:t>work queue</a:t>
            </a:r>
            <a:endParaRPr sz="1800">
              <a:solidFill>
                <a:srgbClr val="7590BB"/>
              </a:solidFill>
            </a:endParaRPr>
          </a:p>
        </p:txBody>
      </p:sp>
      <p:cxnSp>
        <p:nvCxnSpPr>
          <p:cNvPr id="622" name="Google Shape;622;p38"/>
          <p:cNvCxnSpPr/>
          <p:nvPr/>
        </p:nvCxnSpPr>
        <p:spPr>
          <a:xfrm rot="10800000">
            <a:off x="2212513" y="4255925"/>
            <a:ext cx="1144200" cy="0"/>
          </a:xfrm>
          <a:prstGeom prst="straightConnector1">
            <a:avLst/>
          </a:prstGeom>
          <a:noFill/>
          <a:ln w="19050" cap="flat" cmpd="sng">
            <a:solidFill>
              <a:srgbClr val="595959"/>
            </a:solidFill>
            <a:prstDash val="solid"/>
            <a:round/>
            <a:headEnd type="none" w="med" len="med"/>
            <a:tailEnd type="triangle" w="med" len="med"/>
          </a:ln>
        </p:spPr>
      </p:cxnSp>
      <p:sp>
        <p:nvSpPr>
          <p:cNvPr id="623" name="Google Shape;623;p38"/>
          <p:cNvSpPr txBox="1"/>
          <p:nvPr/>
        </p:nvSpPr>
        <p:spPr>
          <a:xfrm>
            <a:off x="2097050" y="3499800"/>
            <a:ext cx="1385400" cy="680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800">
                <a:solidFill>
                  <a:schemeClr val="dk2"/>
                </a:solidFill>
              </a:rPr>
              <a:t>queue </a:t>
            </a:r>
            <a:endParaRPr sz="1800">
              <a:solidFill>
                <a:schemeClr val="dk2"/>
              </a:solidFill>
            </a:endParaRPr>
          </a:p>
          <a:p>
            <a:pPr marL="0" lvl="0" indent="0" algn="ctr" rtl="0">
              <a:lnSpc>
                <a:spcPct val="100000"/>
              </a:lnSpc>
              <a:spcBef>
                <a:spcPts val="0"/>
              </a:spcBef>
              <a:spcAft>
                <a:spcPts val="0"/>
              </a:spcAft>
              <a:buNone/>
            </a:pPr>
            <a:r>
              <a:rPr lang="en" sz="1800">
                <a:solidFill>
                  <a:schemeClr val="dk2"/>
                </a:solidFill>
              </a:rPr>
              <a:t>‘fetch state’</a:t>
            </a:r>
            <a:endParaRPr sz="1800">
              <a:solidFill>
                <a:schemeClr val="dk2"/>
              </a:solidFill>
            </a:endParaRPr>
          </a:p>
        </p:txBody>
      </p:sp>
      <p:sp>
        <p:nvSpPr>
          <p:cNvPr id="624" name="Google Shape;624;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 Interesting Challenge: VMM</a:t>
            </a:r>
            <a:endParaRPr/>
          </a:p>
        </p:txBody>
      </p:sp>
      <p:pic>
        <p:nvPicPr>
          <p:cNvPr id="630" name="Google Shape;630;p39"/>
          <p:cNvPicPr preferRelativeResize="0"/>
          <p:nvPr/>
        </p:nvPicPr>
        <p:blipFill>
          <a:blip r:embed="rId3">
            <a:alphaModFix/>
          </a:blip>
          <a:stretch>
            <a:fillRect/>
          </a:stretch>
        </p:blipFill>
        <p:spPr>
          <a:xfrm>
            <a:off x="228600" y="2527213"/>
            <a:ext cx="976025" cy="976025"/>
          </a:xfrm>
          <a:prstGeom prst="rect">
            <a:avLst/>
          </a:prstGeom>
          <a:noFill/>
          <a:ln>
            <a:noFill/>
          </a:ln>
        </p:spPr>
      </p:pic>
      <p:cxnSp>
        <p:nvCxnSpPr>
          <p:cNvPr id="631" name="Google Shape;631;p39"/>
          <p:cNvCxnSpPr/>
          <p:nvPr/>
        </p:nvCxnSpPr>
        <p:spPr>
          <a:xfrm>
            <a:off x="1573125" y="3015238"/>
            <a:ext cx="1731300" cy="0"/>
          </a:xfrm>
          <a:prstGeom prst="straightConnector1">
            <a:avLst/>
          </a:prstGeom>
          <a:noFill/>
          <a:ln w="19050" cap="flat" cmpd="sng">
            <a:solidFill>
              <a:schemeClr val="dk2"/>
            </a:solidFill>
            <a:prstDash val="solid"/>
            <a:round/>
            <a:headEnd type="none" w="med" len="med"/>
            <a:tailEnd type="triangle" w="med" len="med"/>
          </a:ln>
        </p:spPr>
      </p:cxnSp>
      <p:sp>
        <p:nvSpPr>
          <p:cNvPr id="632" name="Google Shape;632;p39"/>
          <p:cNvSpPr txBox="1"/>
          <p:nvPr/>
        </p:nvSpPr>
        <p:spPr>
          <a:xfrm>
            <a:off x="71163" y="3503250"/>
            <a:ext cx="1290900" cy="72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App</a:t>
            </a:r>
            <a:endParaRPr sz="1800">
              <a:solidFill>
                <a:schemeClr val="dk2"/>
              </a:solidFill>
            </a:endParaRPr>
          </a:p>
        </p:txBody>
      </p:sp>
      <p:sp>
        <p:nvSpPr>
          <p:cNvPr id="633" name="Google Shape;633;p39"/>
          <p:cNvSpPr/>
          <p:nvPr/>
        </p:nvSpPr>
        <p:spPr>
          <a:xfrm>
            <a:off x="395300" y="1872525"/>
            <a:ext cx="1675200" cy="462600"/>
          </a:xfrm>
          <a:prstGeom prst="wedgeRoundRectCallout">
            <a:avLst>
              <a:gd name="adj1" fmla="val -51101"/>
              <a:gd name="adj2" fmla="val 112246"/>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Create PD</a:t>
            </a:r>
            <a:endParaRPr/>
          </a:p>
        </p:txBody>
      </p:sp>
      <p:sp>
        <p:nvSpPr>
          <p:cNvPr id="634" name="Google Shape;634;p39"/>
          <p:cNvSpPr txBox="1"/>
          <p:nvPr/>
        </p:nvSpPr>
        <p:spPr>
          <a:xfrm>
            <a:off x="2028538" y="4077288"/>
            <a:ext cx="827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config</a:t>
            </a:r>
            <a:endParaRPr sz="1800">
              <a:solidFill>
                <a:schemeClr val="dk2"/>
              </a:solidFill>
            </a:endParaRPr>
          </a:p>
        </p:txBody>
      </p:sp>
      <p:pic>
        <p:nvPicPr>
          <p:cNvPr id="635" name="Google Shape;635;p39"/>
          <p:cNvPicPr preferRelativeResize="0"/>
          <p:nvPr/>
        </p:nvPicPr>
        <p:blipFill>
          <a:blip r:embed="rId4">
            <a:alphaModFix/>
          </a:blip>
          <a:stretch>
            <a:fillRect/>
          </a:stretch>
        </p:blipFill>
        <p:spPr>
          <a:xfrm>
            <a:off x="2030425" y="3189918"/>
            <a:ext cx="976026" cy="975991"/>
          </a:xfrm>
          <a:prstGeom prst="rect">
            <a:avLst/>
          </a:prstGeom>
          <a:noFill/>
          <a:ln>
            <a:noFill/>
          </a:ln>
        </p:spPr>
      </p:pic>
      <p:pic>
        <p:nvPicPr>
          <p:cNvPr id="636" name="Google Shape;636;p39"/>
          <p:cNvPicPr preferRelativeResize="0"/>
          <p:nvPr/>
        </p:nvPicPr>
        <p:blipFill>
          <a:blip r:embed="rId5">
            <a:alphaModFix/>
          </a:blip>
          <a:stretch>
            <a:fillRect/>
          </a:stretch>
        </p:blipFill>
        <p:spPr>
          <a:xfrm>
            <a:off x="3672925" y="2225415"/>
            <a:ext cx="1538550" cy="1538525"/>
          </a:xfrm>
          <a:prstGeom prst="rect">
            <a:avLst/>
          </a:prstGeom>
          <a:noFill/>
          <a:ln>
            <a:noFill/>
          </a:ln>
        </p:spPr>
      </p:pic>
      <p:sp>
        <p:nvSpPr>
          <p:cNvPr id="637" name="Google Shape;637;p39"/>
          <p:cNvSpPr/>
          <p:nvPr/>
        </p:nvSpPr>
        <p:spPr>
          <a:xfrm>
            <a:off x="4640775" y="1092150"/>
            <a:ext cx="1970100" cy="1038300"/>
          </a:xfrm>
          <a:prstGeom prst="cloudCallout">
            <a:avLst>
              <a:gd name="adj1" fmla="val -67097"/>
              <a:gd name="adj2" fmla="val 64309"/>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Hmm… This looks like a VM</a:t>
            </a:r>
            <a:endParaRPr/>
          </a:p>
        </p:txBody>
      </p:sp>
      <p:cxnSp>
        <p:nvCxnSpPr>
          <p:cNvPr id="638" name="Google Shape;638;p39"/>
          <p:cNvCxnSpPr/>
          <p:nvPr/>
        </p:nvCxnSpPr>
        <p:spPr>
          <a:xfrm>
            <a:off x="5462238" y="3015238"/>
            <a:ext cx="1731300" cy="0"/>
          </a:xfrm>
          <a:prstGeom prst="straightConnector1">
            <a:avLst/>
          </a:prstGeom>
          <a:noFill/>
          <a:ln w="19050" cap="flat" cmpd="sng">
            <a:solidFill>
              <a:schemeClr val="dk2"/>
            </a:solidFill>
            <a:prstDash val="solid"/>
            <a:round/>
            <a:headEnd type="none" w="med" len="med"/>
            <a:tailEnd type="triangle" w="med" len="med"/>
          </a:ln>
        </p:spPr>
      </p:cxnSp>
      <p:pic>
        <p:nvPicPr>
          <p:cNvPr id="639" name="Google Shape;639;p39"/>
          <p:cNvPicPr preferRelativeResize="0"/>
          <p:nvPr/>
        </p:nvPicPr>
        <p:blipFill>
          <a:blip r:embed="rId3">
            <a:alphaModFix/>
          </a:blip>
          <a:stretch>
            <a:fillRect/>
          </a:stretch>
        </p:blipFill>
        <p:spPr>
          <a:xfrm>
            <a:off x="7444300" y="2527213"/>
            <a:ext cx="976025" cy="976025"/>
          </a:xfrm>
          <a:prstGeom prst="rect">
            <a:avLst/>
          </a:prstGeom>
          <a:noFill/>
          <a:ln>
            <a:noFill/>
          </a:ln>
        </p:spPr>
      </p:pic>
      <p:sp>
        <p:nvSpPr>
          <p:cNvPr id="640" name="Google Shape;640;p39"/>
          <p:cNvSpPr txBox="1"/>
          <p:nvPr/>
        </p:nvSpPr>
        <p:spPr>
          <a:xfrm>
            <a:off x="7101000" y="3633150"/>
            <a:ext cx="1731300" cy="673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PD with a Guest OS</a:t>
            </a:r>
            <a:endParaRPr sz="1800">
              <a:solidFill>
                <a:schemeClr val="dk2"/>
              </a:solidFill>
            </a:endParaRPr>
          </a:p>
        </p:txBody>
      </p:sp>
      <p:sp>
        <p:nvSpPr>
          <p:cNvPr id="641" name="Google Shape;641;p39"/>
          <p:cNvSpPr txBox="1"/>
          <p:nvPr/>
        </p:nvSpPr>
        <p:spPr>
          <a:xfrm>
            <a:off x="3672925" y="3763950"/>
            <a:ext cx="17313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PD Creation</a:t>
            </a:r>
            <a:endParaRPr sz="180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3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 Interesting Challenge: VMM</a:t>
            </a:r>
            <a:endParaRPr/>
          </a:p>
        </p:txBody>
      </p:sp>
      <p:pic>
        <p:nvPicPr>
          <p:cNvPr id="630" name="Google Shape;630;p39"/>
          <p:cNvPicPr preferRelativeResize="0"/>
          <p:nvPr/>
        </p:nvPicPr>
        <p:blipFill>
          <a:blip r:embed="rId3">
            <a:alphaModFix/>
          </a:blip>
          <a:stretch>
            <a:fillRect/>
          </a:stretch>
        </p:blipFill>
        <p:spPr>
          <a:xfrm>
            <a:off x="1395434" y="2581153"/>
            <a:ext cx="976025" cy="976025"/>
          </a:xfrm>
          <a:prstGeom prst="rect">
            <a:avLst/>
          </a:prstGeom>
          <a:noFill/>
          <a:ln>
            <a:noFill/>
          </a:ln>
        </p:spPr>
      </p:pic>
      <p:cxnSp>
        <p:nvCxnSpPr>
          <p:cNvPr id="631" name="Google Shape;631;p39"/>
          <p:cNvCxnSpPr>
            <a:cxnSpLocks/>
          </p:cNvCxnSpPr>
          <p:nvPr/>
        </p:nvCxnSpPr>
        <p:spPr>
          <a:xfrm>
            <a:off x="2417197" y="3015238"/>
            <a:ext cx="887228" cy="0"/>
          </a:xfrm>
          <a:prstGeom prst="straightConnector1">
            <a:avLst/>
          </a:prstGeom>
          <a:noFill/>
          <a:ln w="19050" cap="flat" cmpd="sng">
            <a:solidFill>
              <a:schemeClr val="dk2"/>
            </a:solidFill>
            <a:prstDash val="solid"/>
            <a:round/>
            <a:headEnd type="none" w="med" len="med"/>
            <a:tailEnd type="triangle" w="med" len="med"/>
          </a:ln>
        </p:spPr>
      </p:cxnSp>
      <p:sp>
        <p:nvSpPr>
          <p:cNvPr id="632" name="Google Shape;632;p39"/>
          <p:cNvSpPr txBox="1"/>
          <p:nvPr/>
        </p:nvSpPr>
        <p:spPr>
          <a:xfrm>
            <a:off x="1237997" y="3557190"/>
            <a:ext cx="1290900" cy="72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App</a:t>
            </a:r>
            <a:endParaRPr sz="1800">
              <a:solidFill>
                <a:schemeClr val="dk2"/>
              </a:solidFill>
            </a:endParaRPr>
          </a:p>
        </p:txBody>
      </p:sp>
      <p:sp>
        <p:nvSpPr>
          <p:cNvPr id="633" name="Google Shape;633;p39"/>
          <p:cNvSpPr/>
          <p:nvPr/>
        </p:nvSpPr>
        <p:spPr>
          <a:xfrm>
            <a:off x="1883446" y="1631537"/>
            <a:ext cx="1675200" cy="462600"/>
          </a:xfrm>
          <a:prstGeom prst="wedgeRoundRectCallout">
            <a:avLst>
              <a:gd name="adj1" fmla="val -51101"/>
              <a:gd name="adj2" fmla="val 112246"/>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Create PD</a:t>
            </a:r>
            <a:endParaRPr/>
          </a:p>
        </p:txBody>
      </p:sp>
      <p:sp>
        <p:nvSpPr>
          <p:cNvPr id="634" name="Google Shape;634;p39"/>
          <p:cNvSpPr txBox="1"/>
          <p:nvPr/>
        </p:nvSpPr>
        <p:spPr>
          <a:xfrm>
            <a:off x="2487462" y="4183347"/>
            <a:ext cx="827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2"/>
                </a:solidFill>
              </a:rPr>
              <a:t>config</a:t>
            </a:r>
            <a:endParaRPr sz="1800" dirty="0">
              <a:solidFill>
                <a:schemeClr val="dk2"/>
              </a:solidFill>
            </a:endParaRPr>
          </a:p>
        </p:txBody>
      </p:sp>
      <p:pic>
        <p:nvPicPr>
          <p:cNvPr id="635" name="Google Shape;635;p39"/>
          <p:cNvPicPr preferRelativeResize="0"/>
          <p:nvPr/>
        </p:nvPicPr>
        <p:blipFill>
          <a:blip r:embed="rId4">
            <a:alphaModFix/>
          </a:blip>
          <a:stretch>
            <a:fillRect/>
          </a:stretch>
        </p:blipFill>
        <p:spPr>
          <a:xfrm>
            <a:off x="2512649" y="3207356"/>
            <a:ext cx="976026" cy="975991"/>
          </a:xfrm>
          <a:prstGeom prst="rect">
            <a:avLst/>
          </a:prstGeom>
          <a:noFill/>
          <a:ln>
            <a:noFill/>
          </a:ln>
        </p:spPr>
      </p:pic>
      <p:pic>
        <p:nvPicPr>
          <p:cNvPr id="636" name="Google Shape;636;p39"/>
          <p:cNvPicPr preferRelativeResize="0"/>
          <p:nvPr/>
        </p:nvPicPr>
        <p:blipFill>
          <a:blip r:embed="rId5">
            <a:alphaModFix/>
          </a:blip>
          <a:stretch>
            <a:fillRect/>
          </a:stretch>
        </p:blipFill>
        <p:spPr>
          <a:xfrm>
            <a:off x="3672925" y="2225415"/>
            <a:ext cx="1538550" cy="1538525"/>
          </a:xfrm>
          <a:prstGeom prst="rect">
            <a:avLst/>
          </a:prstGeom>
          <a:noFill/>
          <a:ln>
            <a:noFill/>
          </a:ln>
        </p:spPr>
      </p:pic>
      <p:sp>
        <p:nvSpPr>
          <p:cNvPr id="637" name="Google Shape;637;p39"/>
          <p:cNvSpPr/>
          <p:nvPr/>
        </p:nvSpPr>
        <p:spPr>
          <a:xfrm flipH="1">
            <a:off x="4009826" y="1112387"/>
            <a:ext cx="1675201" cy="1038300"/>
          </a:xfrm>
          <a:prstGeom prst="cloudCallout">
            <a:avLst>
              <a:gd name="adj1" fmla="val -67097"/>
              <a:gd name="adj2" fmla="val 64309"/>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Hmm… This looks like a process</a:t>
            </a:r>
            <a:endParaRPr dirty="0"/>
          </a:p>
        </p:txBody>
      </p:sp>
      <p:cxnSp>
        <p:nvCxnSpPr>
          <p:cNvPr id="638" name="Google Shape;638;p39"/>
          <p:cNvCxnSpPr>
            <a:cxnSpLocks/>
          </p:cNvCxnSpPr>
          <p:nvPr/>
        </p:nvCxnSpPr>
        <p:spPr>
          <a:xfrm flipV="1">
            <a:off x="5462238" y="1989281"/>
            <a:ext cx="822291" cy="1025957"/>
          </a:xfrm>
          <a:prstGeom prst="straightConnector1">
            <a:avLst/>
          </a:prstGeom>
          <a:noFill/>
          <a:ln w="19050" cap="flat" cmpd="sng">
            <a:solidFill>
              <a:schemeClr val="dk2"/>
            </a:solidFill>
            <a:prstDash val="solid"/>
            <a:round/>
            <a:headEnd type="none" w="med" len="med"/>
            <a:tailEnd type="triangle" w="med" len="med"/>
          </a:ln>
        </p:spPr>
      </p:cxnSp>
      <p:pic>
        <p:nvPicPr>
          <p:cNvPr id="639" name="Google Shape;639;p39"/>
          <p:cNvPicPr preferRelativeResize="0"/>
          <p:nvPr/>
        </p:nvPicPr>
        <p:blipFill>
          <a:blip r:embed="rId3">
            <a:alphaModFix/>
          </a:blip>
          <a:stretch>
            <a:fillRect/>
          </a:stretch>
        </p:blipFill>
        <p:spPr>
          <a:xfrm>
            <a:off x="6284529" y="1013256"/>
            <a:ext cx="976025" cy="976025"/>
          </a:xfrm>
          <a:prstGeom prst="rect">
            <a:avLst/>
          </a:prstGeom>
          <a:noFill/>
          <a:ln>
            <a:noFill/>
          </a:ln>
        </p:spPr>
      </p:pic>
      <p:sp>
        <p:nvSpPr>
          <p:cNvPr id="640" name="Google Shape;640;p39"/>
          <p:cNvSpPr txBox="1"/>
          <p:nvPr/>
        </p:nvSpPr>
        <p:spPr>
          <a:xfrm>
            <a:off x="5941229" y="2119193"/>
            <a:ext cx="1731300" cy="673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dk2"/>
                </a:solidFill>
              </a:rPr>
              <a:t>PD with a Guest OS</a:t>
            </a:r>
            <a:endParaRPr sz="1800" dirty="0">
              <a:solidFill>
                <a:schemeClr val="dk2"/>
              </a:solidFill>
            </a:endParaRPr>
          </a:p>
        </p:txBody>
      </p:sp>
      <p:sp>
        <p:nvSpPr>
          <p:cNvPr id="641" name="Google Shape;641;p39"/>
          <p:cNvSpPr txBox="1"/>
          <p:nvPr/>
        </p:nvSpPr>
        <p:spPr>
          <a:xfrm>
            <a:off x="3672925" y="3763950"/>
            <a:ext cx="17313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PD Creation</a:t>
            </a:r>
            <a:endParaRPr sz="1800">
              <a:solidFill>
                <a:schemeClr val="dk2"/>
              </a:solidFill>
            </a:endParaRPr>
          </a:p>
        </p:txBody>
      </p:sp>
      <p:cxnSp>
        <p:nvCxnSpPr>
          <p:cNvPr id="5" name="Google Shape;638;p39">
            <a:extLst>
              <a:ext uri="{FF2B5EF4-FFF2-40B4-BE49-F238E27FC236}">
                <a16:creationId xmlns:a16="http://schemas.microsoft.com/office/drawing/2014/main" id="{04CF9866-D645-A3E0-6A7A-02DF0B9E536D}"/>
              </a:ext>
            </a:extLst>
          </p:cNvPr>
          <p:cNvCxnSpPr>
            <a:cxnSpLocks/>
          </p:cNvCxnSpPr>
          <p:nvPr/>
        </p:nvCxnSpPr>
        <p:spPr>
          <a:xfrm>
            <a:off x="5462238" y="3207356"/>
            <a:ext cx="1200955" cy="779438"/>
          </a:xfrm>
          <a:prstGeom prst="straightConnector1">
            <a:avLst/>
          </a:prstGeom>
          <a:noFill/>
          <a:ln w="19050" cap="flat" cmpd="sng">
            <a:solidFill>
              <a:schemeClr val="dk2"/>
            </a:solidFill>
            <a:prstDash val="solid"/>
            <a:round/>
            <a:headEnd type="none" w="med" len="med"/>
            <a:tailEnd type="triangle" w="med" len="med"/>
          </a:ln>
        </p:spPr>
      </p:cxnSp>
    </p:spTree>
    <p:extLst>
      <p:ext uri="{BB962C8B-B14F-4D97-AF65-F5344CB8AC3E}">
        <p14:creationId xmlns:p14="http://schemas.microsoft.com/office/powerpoint/2010/main" val="1860244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3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An Frustrating Challenge: VMM</a:t>
            </a:r>
            <a:endParaRPr/>
          </a:p>
        </p:txBody>
      </p:sp>
      <p:sp>
        <p:nvSpPr>
          <p:cNvPr id="647" name="Google Shape;647;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29</a:t>
            </a:fld>
            <a:endParaRPr/>
          </a:p>
        </p:txBody>
      </p:sp>
      <p:pic>
        <p:nvPicPr>
          <p:cNvPr id="648" name="Google Shape;648;p40"/>
          <p:cNvPicPr preferRelativeResize="0"/>
          <p:nvPr/>
        </p:nvPicPr>
        <p:blipFill>
          <a:blip r:embed="rId3">
            <a:alphaModFix/>
          </a:blip>
          <a:stretch>
            <a:fillRect/>
          </a:stretch>
        </p:blipFill>
        <p:spPr>
          <a:xfrm>
            <a:off x="989175" y="2558825"/>
            <a:ext cx="1328325" cy="1328325"/>
          </a:xfrm>
          <a:prstGeom prst="rect">
            <a:avLst/>
          </a:prstGeom>
          <a:noFill/>
          <a:ln>
            <a:noFill/>
          </a:ln>
        </p:spPr>
      </p:pic>
      <p:sp>
        <p:nvSpPr>
          <p:cNvPr id="649" name="Google Shape;649;p40"/>
          <p:cNvSpPr/>
          <p:nvPr/>
        </p:nvSpPr>
        <p:spPr>
          <a:xfrm>
            <a:off x="1845650" y="3246225"/>
            <a:ext cx="925800" cy="925800"/>
          </a:xfrm>
          <a:prstGeom prst="mathMultiply">
            <a:avLst>
              <a:gd name="adj1" fmla="val 23520"/>
            </a:avLst>
          </a:prstGeom>
          <a:solidFill>
            <a:srgbClr val="CC412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650" name="Google Shape;650;p40"/>
          <p:cNvGrpSpPr/>
          <p:nvPr/>
        </p:nvGrpSpPr>
        <p:grpSpPr>
          <a:xfrm>
            <a:off x="3402575" y="2485525"/>
            <a:ext cx="1809050" cy="1686500"/>
            <a:chOff x="3402575" y="2485525"/>
            <a:chExt cx="1809050" cy="1686500"/>
          </a:xfrm>
        </p:grpSpPr>
        <p:pic>
          <p:nvPicPr>
            <p:cNvPr id="651" name="Google Shape;651;p40"/>
            <p:cNvPicPr preferRelativeResize="0"/>
            <p:nvPr/>
          </p:nvPicPr>
          <p:blipFill>
            <a:blip r:embed="rId4">
              <a:alphaModFix/>
            </a:blip>
            <a:stretch>
              <a:fillRect/>
            </a:stretch>
          </p:blipFill>
          <p:spPr>
            <a:xfrm>
              <a:off x="3402575" y="2485525"/>
              <a:ext cx="1401626" cy="1401626"/>
            </a:xfrm>
            <a:prstGeom prst="rect">
              <a:avLst/>
            </a:prstGeom>
            <a:noFill/>
            <a:ln>
              <a:noFill/>
            </a:ln>
          </p:spPr>
        </p:pic>
        <p:sp>
          <p:nvSpPr>
            <p:cNvPr id="652" name="Google Shape;652;p40"/>
            <p:cNvSpPr/>
            <p:nvPr/>
          </p:nvSpPr>
          <p:spPr>
            <a:xfrm>
              <a:off x="4285825" y="3246225"/>
              <a:ext cx="925800" cy="925800"/>
            </a:xfrm>
            <a:prstGeom prst="mathMultiply">
              <a:avLst>
                <a:gd name="adj1" fmla="val 23520"/>
              </a:avLst>
            </a:prstGeom>
            <a:solidFill>
              <a:srgbClr val="CC412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pic>
        <p:nvPicPr>
          <p:cNvPr id="653" name="Google Shape;653;p40"/>
          <p:cNvPicPr preferRelativeResize="0"/>
          <p:nvPr/>
        </p:nvPicPr>
        <p:blipFill>
          <a:blip r:embed="rId5">
            <a:alphaModFix/>
          </a:blip>
          <a:stretch>
            <a:fillRect/>
          </a:stretch>
        </p:blipFill>
        <p:spPr>
          <a:xfrm>
            <a:off x="6225970" y="2485525"/>
            <a:ext cx="1401626" cy="1401626"/>
          </a:xfrm>
          <a:prstGeom prst="rect">
            <a:avLst/>
          </a:prstGeom>
          <a:noFill/>
          <a:ln>
            <a:noFill/>
          </a:ln>
        </p:spPr>
      </p:pic>
      <p:sp>
        <p:nvSpPr>
          <p:cNvPr id="654" name="Google Shape;654;p40"/>
          <p:cNvSpPr/>
          <p:nvPr/>
        </p:nvSpPr>
        <p:spPr>
          <a:xfrm>
            <a:off x="7055375" y="3246225"/>
            <a:ext cx="925800" cy="925800"/>
          </a:xfrm>
          <a:prstGeom prst="mathMultiply">
            <a:avLst>
              <a:gd name="adj1" fmla="val 23520"/>
            </a:avLst>
          </a:prstGeom>
          <a:solidFill>
            <a:srgbClr val="CC412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5" name="Google Shape;655;p40"/>
          <p:cNvPicPr preferRelativeResize="0"/>
          <p:nvPr/>
        </p:nvPicPr>
        <p:blipFill>
          <a:blip r:embed="rId6">
            <a:alphaModFix/>
          </a:blip>
          <a:stretch>
            <a:fillRect/>
          </a:stretch>
        </p:blipFill>
        <p:spPr>
          <a:xfrm>
            <a:off x="6029525" y="638650"/>
            <a:ext cx="1227775" cy="1227775"/>
          </a:xfrm>
          <a:prstGeom prst="rect">
            <a:avLst/>
          </a:prstGeom>
          <a:noFill/>
          <a:ln>
            <a:noFill/>
          </a:ln>
        </p:spPr>
      </p:pic>
      <p:sp>
        <p:nvSpPr>
          <p:cNvPr id="656" name="Google Shape;656;p40"/>
          <p:cNvSpPr/>
          <p:nvPr/>
        </p:nvSpPr>
        <p:spPr>
          <a:xfrm>
            <a:off x="1893500" y="3256800"/>
            <a:ext cx="830400" cy="830400"/>
          </a:xfrm>
          <a:prstGeom prst="donut">
            <a:avLst>
              <a:gd name="adj" fmla="val 25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7" name="Google Shape;657;p40"/>
          <p:cNvSpPr/>
          <p:nvPr/>
        </p:nvSpPr>
        <p:spPr>
          <a:xfrm>
            <a:off x="7097150" y="3256800"/>
            <a:ext cx="830400" cy="830400"/>
          </a:xfrm>
          <a:prstGeom prst="donut">
            <a:avLst>
              <a:gd name="adj" fmla="val 25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658" name="Google Shape;658;p40"/>
          <p:cNvGrpSpPr/>
          <p:nvPr/>
        </p:nvGrpSpPr>
        <p:grpSpPr>
          <a:xfrm>
            <a:off x="1284428" y="1220627"/>
            <a:ext cx="6426722" cy="3059300"/>
            <a:chOff x="1284428" y="1220627"/>
            <a:chExt cx="6426722" cy="3059300"/>
          </a:xfrm>
        </p:grpSpPr>
        <p:pic>
          <p:nvPicPr>
            <p:cNvPr id="659" name="Google Shape;659;p40"/>
            <p:cNvPicPr preferRelativeResize="0"/>
            <p:nvPr/>
          </p:nvPicPr>
          <p:blipFill>
            <a:blip r:embed="rId7">
              <a:alphaModFix/>
            </a:blip>
            <a:stretch>
              <a:fillRect/>
            </a:stretch>
          </p:blipFill>
          <p:spPr>
            <a:xfrm>
              <a:off x="1284428" y="1220627"/>
              <a:ext cx="6426722" cy="3059300"/>
            </a:xfrm>
            <a:prstGeom prst="rect">
              <a:avLst/>
            </a:prstGeom>
            <a:noFill/>
            <a:ln>
              <a:noFill/>
            </a:ln>
          </p:spPr>
        </p:pic>
        <p:sp>
          <p:nvSpPr>
            <p:cNvPr id="660" name="Google Shape;660;p40"/>
            <p:cNvSpPr/>
            <p:nvPr/>
          </p:nvSpPr>
          <p:spPr>
            <a:xfrm>
              <a:off x="1340075" y="3706550"/>
              <a:ext cx="3397500" cy="300000"/>
            </a:xfrm>
            <a:prstGeom prst="frame">
              <a:avLst>
                <a:gd name="adj1" fmla="val 125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56"/>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64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5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5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57"/>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654"/>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pic>
        <p:nvPicPr>
          <p:cNvPr id="665" name="Google Shape;665;p41"/>
          <p:cNvPicPr preferRelativeResize="0"/>
          <p:nvPr/>
        </p:nvPicPr>
        <p:blipFill rotWithShape="1">
          <a:blip r:embed="rId3">
            <a:alphaModFix/>
          </a:blip>
          <a:srcRect l="24964" r="24263"/>
          <a:stretch/>
        </p:blipFill>
        <p:spPr>
          <a:xfrm>
            <a:off x="6431725" y="207638"/>
            <a:ext cx="2400575" cy="4728225"/>
          </a:xfrm>
          <a:prstGeom prst="rect">
            <a:avLst/>
          </a:prstGeom>
          <a:noFill/>
          <a:ln>
            <a:noFill/>
          </a:ln>
        </p:spPr>
      </p:pic>
      <p:sp>
        <p:nvSpPr>
          <p:cNvPr id="666" name="Google Shape;666;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Other Things We Did</a:t>
            </a:r>
            <a:endParaRPr/>
          </a:p>
        </p:txBody>
      </p:sp>
      <p:sp>
        <p:nvSpPr>
          <p:cNvPr id="667" name="Google Shape;667;p41"/>
          <p:cNvSpPr txBox="1">
            <a:spLocks noGrp="1"/>
          </p:cNvSpPr>
          <p:nvPr>
            <p:ph type="body" idx="1"/>
          </p:nvPr>
        </p:nvSpPr>
        <p:spPr>
          <a:xfrm>
            <a:off x="311700" y="1152475"/>
            <a:ext cx="8112300" cy="36981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Implementing the Root Task</a:t>
            </a:r>
            <a:endParaRPr/>
          </a:p>
          <a:p>
            <a:pPr marL="457200" lvl="0" indent="-342900" algn="l" rtl="0">
              <a:spcBef>
                <a:spcPts val="0"/>
              </a:spcBef>
              <a:spcAft>
                <a:spcPts val="0"/>
              </a:spcAft>
              <a:buSzPts val="1800"/>
              <a:buChar char="●"/>
            </a:pPr>
            <a:r>
              <a:rPr lang="en"/>
              <a:t>RPC mechanism</a:t>
            </a:r>
            <a:endParaRPr/>
          </a:p>
          <a:p>
            <a:pPr marL="457200" lvl="0" indent="-342900" algn="l" rtl="0">
              <a:spcBef>
                <a:spcPts val="0"/>
              </a:spcBef>
              <a:spcAft>
                <a:spcPts val="0"/>
              </a:spcAft>
              <a:buSzPts val="1800"/>
              <a:buChar char="●"/>
            </a:pPr>
            <a:r>
              <a:rPr lang="en"/>
              <a:t>Resource cleanup</a:t>
            </a:r>
            <a:endParaRPr/>
          </a:p>
          <a:p>
            <a:pPr marL="914400" lvl="1" indent="-317500" algn="l" rtl="0">
              <a:spcBef>
                <a:spcPts val="0"/>
              </a:spcBef>
              <a:spcAft>
                <a:spcPts val="0"/>
              </a:spcAft>
              <a:buSzPts val="1400"/>
              <a:buChar char="○"/>
            </a:pPr>
            <a:r>
              <a:rPr lang="en"/>
              <a:t>Flexible cleanup policies</a:t>
            </a:r>
            <a:endParaRPr/>
          </a:p>
          <a:p>
            <a:pPr marL="457200" lvl="0" indent="-342900" algn="l" rtl="0">
              <a:spcBef>
                <a:spcPts val="0"/>
              </a:spcBef>
              <a:spcAft>
                <a:spcPts val="0"/>
              </a:spcAft>
              <a:buSzPts val="1800"/>
              <a:buChar char="●"/>
            </a:pPr>
            <a:r>
              <a:rPr lang="en"/>
              <a:t>CellulOS model state workflow</a:t>
            </a:r>
            <a:endParaRPr/>
          </a:p>
          <a:p>
            <a:pPr marL="914400" lvl="1" indent="-317500" algn="l" rtl="0">
              <a:spcBef>
                <a:spcPts val="0"/>
              </a:spcBef>
              <a:spcAft>
                <a:spcPts val="0"/>
              </a:spcAft>
              <a:buSzPts val="1400"/>
              <a:buChar char="○"/>
            </a:pPr>
            <a:r>
              <a:rPr lang="en"/>
              <a:t>Neo4j scripts &amp; docker container</a:t>
            </a:r>
            <a:endParaRPr/>
          </a:p>
          <a:p>
            <a:pPr marL="914400" lvl="1" indent="-317500" algn="l" rtl="0">
              <a:spcBef>
                <a:spcPts val="0"/>
              </a:spcBef>
              <a:spcAft>
                <a:spcPts val="0"/>
              </a:spcAft>
              <a:buSzPts val="1400"/>
              <a:buChar char="○"/>
            </a:pPr>
            <a:r>
              <a:rPr lang="en"/>
              <a:t>Metrics calculations</a:t>
            </a:r>
            <a:endParaRPr/>
          </a:p>
          <a:p>
            <a:pPr marL="457200" lvl="0" indent="-342900" algn="l" rtl="0">
              <a:spcBef>
                <a:spcPts val="0"/>
              </a:spcBef>
              <a:spcAft>
                <a:spcPts val="0"/>
              </a:spcAft>
              <a:buSzPts val="1800"/>
              <a:buChar char="●"/>
            </a:pPr>
            <a:r>
              <a:rPr lang="en"/>
              <a:t>Model state extraction from Linux /proc</a:t>
            </a:r>
            <a:endParaRPr/>
          </a:p>
          <a:p>
            <a:pPr marL="457200" lvl="0" indent="-342900" algn="l" rtl="0">
              <a:spcBef>
                <a:spcPts val="0"/>
              </a:spcBef>
              <a:spcAft>
                <a:spcPts val="0"/>
              </a:spcAft>
              <a:buSzPts val="1800"/>
              <a:buChar char="●"/>
            </a:pPr>
            <a:r>
              <a:rPr lang="en"/>
              <a:t>Wiki</a:t>
            </a:r>
            <a:endParaRPr/>
          </a:p>
          <a:p>
            <a:pPr marL="457200" lvl="0" indent="-342900" algn="l" rtl="0">
              <a:spcBef>
                <a:spcPts val="0"/>
              </a:spcBef>
              <a:spcAft>
                <a:spcPts val="0"/>
              </a:spcAft>
              <a:buSzPts val="1800"/>
              <a:buChar char="●"/>
            </a:pPr>
            <a:r>
              <a:rPr lang="en"/>
              <a:t>Lines of code:</a:t>
            </a:r>
            <a:endParaRPr/>
          </a:p>
          <a:p>
            <a:pPr marL="914400" lvl="1" indent="-317500" algn="l" rtl="0">
              <a:spcBef>
                <a:spcPts val="0"/>
              </a:spcBef>
              <a:spcAft>
                <a:spcPts val="0"/>
              </a:spcAft>
              <a:buSzPts val="1400"/>
              <a:buChar char="○"/>
            </a:pPr>
            <a:r>
              <a:rPr lang="en"/>
              <a:t>C: 58k</a:t>
            </a:r>
            <a:endParaRPr/>
          </a:p>
          <a:p>
            <a:pPr marL="914400" lvl="1" indent="-317500" algn="l" rtl="0">
              <a:spcBef>
                <a:spcPts val="0"/>
              </a:spcBef>
              <a:spcAft>
                <a:spcPts val="0"/>
              </a:spcAft>
              <a:buSzPts val="1400"/>
              <a:buChar char="○"/>
            </a:pPr>
            <a:r>
              <a:rPr lang="en"/>
              <a:t>Python: 2k</a:t>
            </a:r>
            <a:endParaRPr/>
          </a:p>
        </p:txBody>
      </p:sp>
      <p:sp>
        <p:nvSpPr>
          <p:cNvPr id="668" name="Google Shape;668;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30</a:t>
            </a:fld>
            <a:endParaRPr/>
          </a:p>
        </p:txBody>
      </p:sp>
      <p:grpSp>
        <p:nvGrpSpPr>
          <p:cNvPr id="669" name="Google Shape;669;p41"/>
          <p:cNvGrpSpPr/>
          <p:nvPr/>
        </p:nvGrpSpPr>
        <p:grpSpPr>
          <a:xfrm>
            <a:off x="4323175" y="249375"/>
            <a:ext cx="2214625" cy="4601150"/>
            <a:chOff x="4323175" y="249375"/>
            <a:chExt cx="2214625" cy="4601150"/>
          </a:xfrm>
        </p:grpSpPr>
        <p:sp>
          <p:nvSpPr>
            <p:cNvPr id="670" name="Google Shape;670;p41"/>
            <p:cNvSpPr txBox="1"/>
            <p:nvPr/>
          </p:nvSpPr>
          <p:spPr>
            <a:xfrm>
              <a:off x="4456675" y="3853625"/>
              <a:ext cx="1774500" cy="8973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4A86E8"/>
                  </a:solidFill>
                </a:rPr>
                <a:t>Programming for Linux</a:t>
              </a:r>
              <a:endParaRPr sz="1800">
                <a:solidFill>
                  <a:srgbClr val="4A86E8"/>
                </a:solidFill>
              </a:endParaRPr>
            </a:p>
          </p:txBody>
        </p:sp>
        <p:sp>
          <p:nvSpPr>
            <p:cNvPr id="671" name="Google Shape;671;p41"/>
            <p:cNvSpPr txBox="1"/>
            <p:nvPr/>
          </p:nvSpPr>
          <p:spPr>
            <a:xfrm>
              <a:off x="4323175" y="391025"/>
              <a:ext cx="1908000" cy="6807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4A86E8"/>
                  </a:solidFill>
                </a:rPr>
                <a:t>Programming for a Microkernel</a:t>
              </a:r>
              <a:endParaRPr sz="1800">
                <a:solidFill>
                  <a:srgbClr val="4A86E8"/>
                </a:solidFill>
              </a:endParaRPr>
            </a:p>
          </p:txBody>
        </p:sp>
        <p:sp>
          <p:nvSpPr>
            <p:cNvPr id="672" name="Google Shape;672;p41"/>
            <p:cNvSpPr/>
            <p:nvPr/>
          </p:nvSpPr>
          <p:spPr>
            <a:xfrm>
              <a:off x="6206000" y="249375"/>
              <a:ext cx="331800" cy="1096500"/>
            </a:xfrm>
            <a:prstGeom prst="leftBrace">
              <a:avLst>
                <a:gd name="adj1" fmla="val 50000"/>
                <a:gd name="adj2" fmla="val 50000"/>
              </a:avLst>
            </a:prstGeom>
            <a:no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3" name="Google Shape;673;p41"/>
            <p:cNvSpPr/>
            <p:nvPr/>
          </p:nvSpPr>
          <p:spPr>
            <a:xfrm>
              <a:off x="6206000" y="3754025"/>
              <a:ext cx="331800" cy="1096500"/>
            </a:xfrm>
            <a:prstGeom prst="leftBrace">
              <a:avLst>
                <a:gd name="adj1" fmla="val 50000"/>
                <a:gd name="adj2" fmla="val 50000"/>
              </a:avLst>
            </a:prstGeom>
            <a:no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pic>
        <p:nvPicPr>
          <p:cNvPr id="678" name="Google Shape;678;p42"/>
          <p:cNvPicPr preferRelativeResize="0"/>
          <p:nvPr/>
        </p:nvPicPr>
        <p:blipFill>
          <a:blip r:embed="rId3">
            <a:alphaModFix amt="32000"/>
          </a:blip>
          <a:stretch>
            <a:fillRect/>
          </a:stretch>
        </p:blipFill>
        <p:spPr>
          <a:xfrm>
            <a:off x="151850" y="141675"/>
            <a:ext cx="8840302" cy="3992376"/>
          </a:xfrm>
          <a:prstGeom prst="rect">
            <a:avLst/>
          </a:prstGeom>
          <a:noFill/>
          <a:ln>
            <a:noFill/>
          </a:ln>
        </p:spPr>
      </p:pic>
      <p:sp>
        <p:nvSpPr>
          <p:cNvPr id="679" name="Google Shape;679;p4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Thank You</a:t>
            </a:r>
            <a:endParaRPr/>
          </a:p>
        </p:txBody>
      </p:sp>
      <p:sp>
        <p:nvSpPr>
          <p:cNvPr id="680" name="Google Shape;680;p42"/>
          <p:cNvSpPr txBox="1">
            <a:spLocks noGrp="1"/>
          </p:cNvSpPr>
          <p:nvPr>
            <p:ph type="subTitle" idx="1"/>
          </p:nvPr>
        </p:nvSpPr>
        <p:spPr>
          <a:xfrm>
            <a:off x="311700" y="3137188"/>
            <a:ext cx="8520600" cy="1149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a:p>
            <a:pPr marL="0" lvl="0" indent="0" algn="ctr" rtl="0">
              <a:spcBef>
                <a:spcPts val="0"/>
              </a:spcBef>
              <a:spcAft>
                <a:spcPts val="0"/>
              </a:spcAft>
              <a:buNone/>
            </a:pPr>
            <a:r>
              <a:rPr lang="en"/>
              <a:t>We’ve had a fantastic time at Systopia!</a:t>
            </a:r>
            <a:endParaRPr/>
          </a:p>
          <a:p>
            <a:pPr marL="0" lvl="0" indent="0" algn="l" rtl="0">
              <a:spcBef>
                <a:spcPts val="0"/>
              </a:spcBef>
              <a:spcAft>
                <a:spcPts val="0"/>
              </a:spcAft>
              <a:buNone/>
            </a:pPr>
            <a:endParaRPr/>
          </a:p>
        </p:txBody>
      </p:sp>
      <p:sp>
        <p:nvSpPr>
          <p:cNvPr id="681" name="Google Shape;681;p42"/>
          <p:cNvSpPr txBox="1">
            <a:spLocks noGrp="1"/>
          </p:cNvSpPr>
          <p:nvPr>
            <p:ph type="subTitle" idx="1"/>
          </p:nvPr>
        </p:nvSpPr>
        <p:spPr>
          <a:xfrm>
            <a:off x="311700" y="3865000"/>
            <a:ext cx="8520600" cy="10740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endParaRPr/>
          </a:p>
          <a:p>
            <a:pPr marL="0" lvl="0" indent="0" algn="ctr" rtl="0">
              <a:spcBef>
                <a:spcPts val="0"/>
              </a:spcBef>
              <a:spcAft>
                <a:spcPts val="0"/>
              </a:spcAft>
              <a:buNone/>
            </a:pPr>
            <a:endParaRPr/>
          </a:p>
          <a:p>
            <a:pPr marL="0" lvl="0" indent="0" algn="ctr" rtl="0">
              <a:spcBef>
                <a:spcPts val="0"/>
              </a:spcBef>
              <a:spcAft>
                <a:spcPts val="0"/>
              </a:spcAft>
              <a:buNone/>
            </a:pPr>
            <a:r>
              <a:rPr lang="en"/>
              <a:t>Wiki: </a:t>
            </a:r>
            <a:r>
              <a:rPr lang="en" u="sng">
                <a:solidFill>
                  <a:schemeClr val="hlink"/>
                </a:solidFill>
                <a:hlinkClick r:id="rId4"/>
              </a:rPr>
              <a:t>https://cellulosdocs.readthedocs.io/en/cellulos/</a:t>
            </a:r>
            <a:endParaRPr/>
          </a:p>
        </p:txBody>
      </p:sp>
      <p:sp>
        <p:nvSpPr>
          <p:cNvPr id="682" name="Google Shape;682;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31</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2406</Words>
  <Application>Microsoft Macintosh PowerPoint</Application>
  <PresentationFormat>On-screen Show (16:9)</PresentationFormat>
  <Paragraphs>323</Paragraphs>
  <Slides>31</Slides>
  <Notes>31</Notes>
  <HiddenSlides>5</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Roboto</vt:lpstr>
      <vt:lpstr>Simple Light</vt:lpstr>
      <vt:lpstr>CellulOS: Building an OS on seL4</vt:lpstr>
      <vt:lpstr>The Big Picture</vt:lpstr>
      <vt:lpstr>Why OSmosis?</vt:lpstr>
      <vt:lpstr>What do we need from a custom OS?</vt:lpstr>
      <vt:lpstr>What do we need from a custom OS?</vt:lpstr>
      <vt:lpstr>What is OSmosis?</vt:lpstr>
      <vt:lpstr>Why do we need a custom OS?</vt:lpstr>
      <vt:lpstr>What do we need from a custom OS?</vt:lpstr>
      <vt:lpstr>Minimum specification of a Configuration</vt:lpstr>
      <vt:lpstr>PDs for specialized use-cases</vt:lpstr>
      <vt:lpstr>Special configs for special PDs</vt:lpstr>
      <vt:lpstr>Special configs for special PDs</vt:lpstr>
      <vt:lpstr>Setting up PDs based on Configuration </vt:lpstr>
      <vt:lpstr>Setting up PDs based on Configuration </vt:lpstr>
      <vt:lpstr>Specialized PD in action</vt:lpstr>
      <vt:lpstr>A Useful OS Runs Programs (it’s kind of the point)</vt:lpstr>
      <vt:lpstr>A Useful OS Runs Programs (but seL4 doesn’t do much for us)</vt:lpstr>
      <vt:lpstr>A Useful OS Runs Programs (in the microkernel way)</vt:lpstr>
      <vt:lpstr>A Useful OS Runs Programs (in the microkernel way)</vt:lpstr>
      <vt:lpstr>A Useful OS Runs Programs (in the microkernel way)</vt:lpstr>
      <vt:lpstr>PowerPoint Presentation</vt:lpstr>
      <vt:lpstr>PowerPoint Presentation</vt:lpstr>
      <vt:lpstr>PowerPoint Presentation</vt:lpstr>
      <vt:lpstr>An Interesting Challenge: Communication &amp; Deadlock</vt:lpstr>
      <vt:lpstr>An Interesting Challenge: Communication &amp; Deadlock</vt:lpstr>
      <vt:lpstr>An Interesting Challenge: Communication &amp; Deadlock</vt:lpstr>
      <vt:lpstr>An Interesting Challenge: VMM</vt:lpstr>
      <vt:lpstr>An Interesting Challenge: VMM</vt:lpstr>
      <vt:lpstr>An Frustrating Challenge: VMM</vt:lpstr>
      <vt:lpstr>Other Things We Did</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CellulOS: Building an OS on seL4</dc:title>
  <cp:lastModifiedBy>siagraw@student.ubc.ca</cp:lastModifiedBy>
  <cp:revision>2</cp:revision>
  <dcterms:modified xsi:type="dcterms:W3CDTF">2024-12-19T06:20:13Z</dcterms:modified>
</cp:coreProperties>
</file>